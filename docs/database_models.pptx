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演出门票销售系统数据库模型。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本页图形可直接在 PowerPoint 中编辑。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本页图形可直接在 PowerPoint 中编辑。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本页图形可直接在 PowerPoint 中编辑。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本页图形可直接在 PowerPoint 中编辑。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主外键映射：VENUE.city_id → CITY.city_id；SHOW.category_id → CATEGORY.category_id；SHOW.city_id → CITY.city_id；SHOW.admin_id → ADMIN.admin_id；SHOW_SESSION.show_id → SHOW.show_id；SHOW_SESSION.venue_id → VENUE.venue_id；TICKET_TIER.session_id → SHOW_SESSION.session_id。本页图形可直接在 PowerPoint 中编辑。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主外键映射：SHIPPING_ADDRESS.user_id → APP_USER.user_id；ATTENDEE.user_id → APP_USER.user_id。本页图形可直接在 PowerPoint 中编辑。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主外键映射：TICKET_ORDER.user_id → APP_USER.user_id；TICKET_ORDER.session_id → SHOW_SESSION.session_id；TICKET_ORDER.tier_id → TICKET_TIER.tier_id；TICKET_ORDER.address_id → SHIPPING_ADDRESS.address_id；ORDER_ITEM.order_id → TICKET_ORDER.order_id；ORDER_ITEM.attendee_id → ATTENDEE.attendee_id。组合一致性约束：TICKET_ORDER(session_id, tier_id) 与 TICKET_TIER(session_id, tier_id) 成对对应。本页图形可直接在 PowerPoint 中编辑。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说明：PURCHASE_REQUEST.user_id、session_id、tier_id 是请求上下文记录，当前基础 DDL 未声明为物理外键；SALES_DAILY 是由订单汇总得到的派生表。本页图形可直接在 PowerPoint 中编辑。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本页图形可直接在 PowerPoint 中编辑。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932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1325880"/>
            <a:ext cx="10789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演出门票销售系统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685800" y="2057400"/>
            <a:ext cx="10789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400" dirty="0">
                <a:solidFill>
                  <a:srgbClr val="C9DDF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数据库概念模型与逻辑模型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2880360" y="2926080"/>
            <a:ext cx="6446520" cy="1051560"/>
          </a:xfrm>
          <a:prstGeom prst="roundRect">
            <a:avLst>
              <a:gd name="adj" fmla="val 6957"/>
            </a:avLst>
          </a:prstGeom>
          <a:solidFill>
            <a:srgbClr val="244866"/>
          </a:solidFill>
          <a:ln w="13970">
            <a:solidFill>
              <a:srgbClr val="5C9BD5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063240" y="3182112"/>
            <a:ext cx="6080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 张概念模型图  ·  4 张逻辑模型图  ·  主外键映射总表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685800" y="6080760"/>
            <a:ext cx="10789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dirty="0">
                <a:solidFill>
                  <a:srgbClr val="A9C2D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所有图形均为可编辑的 PowerPoint 形状</a:t>
            </a:r>
            <a:endParaRPr lang="en-US" sz="10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28600"/>
            <a:ext cx="11338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1932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1. 演出基础信息：概念模型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411480" y="640080"/>
            <a:ext cx="113385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63758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城市、场馆、类型、管理员、演出、场次和票档。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10058400" y="283464"/>
            <a:ext cx="1691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000" dirty="0">
                <a:solidFill>
                  <a:srgbClr val="2F75B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概念模型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1236882" y="3002539"/>
            <a:ext cx="1511678" cy="583076"/>
          </a:xfrm>
          <a:prstGeom prst="rect">
            <a:avLst/>
          </a:prstGeom>
          <a:solidFill>
            <a:srgbClr val="5C9BD5"/>
          </a:solidFill>
          <a:ln w="12700">
            <a:solidFill>
              <a:srgbClr val="2F75B5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236882" y="3002539"/>
            <a:ext cx="1511678" cy="5830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城市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152261" y="3002539"/>
            <a:ext cx="1511678" cy="583076"/>
          </a:xfrm>
          <a:prstGeom prst="rect">
            <a:avLst/>
          </a:prstGeom>
          <a:solidFill>
            <a:srgbClr val="5C9BD5"/>
          </a:solidFill>
          <a:ln w="12700">
            <a:solidFill>
              <a:srgbClr val="2F75B5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152261" y="3002539"/>
            <a:ext cx="1511678" cy="5830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场馆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1236882" y="4730172"/>
            <a:ext cx="1511678" cy="583076"/>
          </a:xfrm>
          <a:prstGeom prst="rect">
            <a:avLst/>
          </a:prstGeom>
          <a:solidFill>
            <a:srgbClr val="5C9BD5"/>
          </a:solidFill>
          <a:ln w="12700">
            <a:solidFill>
              <a:srgbClr val="2F75B5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236882" y="4730172"/>
            <a:ext cx="1511678" cy="5830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演出类型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4152261" y="4730172"/>
            <a:ext cx="1511678" cy="583076"/>
          </a:xfrm>
          <a:prstGeom prst="rect">
            <a:avLst/>
          </a:prstGeom>
          <a:solidFill>
            <a:srgbClr val="5C9BD5"/>
          </a:solidFill>
          <a:ln w="12700">
            <a:solidFill>
              <a:srgbClr val="2F75B5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152261" y="4730172"/>
            <a:ext cx="1511678" cy="5830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演出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7067641" y="4730172"/>
            <a:ext cx="1511678" cy="583076"/>
          </a:xfrm>
          <a:prstGeom prst="rect">
            <a:avLst/>
          </a:prstGeom>
          <a:solidFill>
            <a:srgbClr val="5C9BD5"/>
          </a:solidFill>
          <a:ln w="12700">
            <a:solidFill>
              <a:srgbClr val="2F75B5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067641" y="4730172"/>
            <a:ext cx="1511678" cy="5830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管理员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7067641" y="3002539"/>
            <a:ext cx="1511678" cy="583076"/>
          </a:xfrm>
          <a:prstGeom prst="rect">
            <a:avLst/>
          </a:prstGeom>
          <a:solidFill>
            <a:srgbClr val="5C9BD5"/>
          </a:solidFill>
          <a:ln w="12700">
            <a:solidFill>
              <a:srgbClr val="2F75B5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067641" y="3002539"/>
            <a:ext cx="1511678" cy="5830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演出场次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9983020" y="3002539"/>
            <a:ext cx="1511678" cy="583076"/>
          </a:xfrm>
          <a:prstGeom prst="rect">
            <a:avLst/>
          </a:prstGeom>
          <a:solidFill>
            <a:srgbClr val="5C9BD5"/>
          </a:solidFill>
          <a:ln w="12700">
            <a:solidFill>
              <a:srgbClr val="2F75B5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9983020" y="3002539"/>
            <a:ext cx="1511678" cy="5830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票档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2748560" y="3618008"/>
            <a:ext cx="907007" cy="914"/>
          </a:xfrm>
          <a:prstGeom prst="line">
            <a:avLst/>
          </a:prstGeom>
          <a:noFill/>
          <a:ln w="13335">
            <a:solidFill>
              <a:srgbClr val="6F8DA7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3655567" y="3294077"/>
            <a:ext cx="914" cy="323931"/>
          </a:xfrm>
          <a:prstGeom prst="line">
            <a:avLst/>
          </a:prstGeom>
          <a:noFill/>
          <a:ln w="13335">
            <a:solidFill>
              <a:srgbClr val="6F8DA7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3655567" y="3294077"/>
            <a:ext cx="496694" cy="914"/>
          </a:xfrm>
          <a:prstGeom prst="line">
            <a:avLst/>
          </a:prstGeom>
          <a:noFill/>
          <a:ln w="13335">
            <a:solidFill>
              <a:srgbClr val="6F8DA7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2791751" y="3534059"/>
            <a:ext cx="20116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1932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</a:t>
            </a:r>
            <a:endParaRPr lang="en-US" sz="850" dirty="0"/>
          </a:p>
        </p:txBody>
      </p:sp>
      <p:sp>
        <p:nvSpPr>
          <p:cNvPr id="23" name="Text 21"/>
          <p:cNvSpPr/>
          <p:nvPr/>
        </p:nvSpPr>
        <p:spPr>
          <a:xfrm>
            <a:off x="3979498" y="3210128"/>
            <a:ext cx="20116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1932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N</a:t>
            </a:r>
            <a:endParaRPr lang="en-US" sz="850" dirty="0"/>
          </a:p>
        </p:txBody>
      </p:sp>
      <p:sp>
        <p:nvSpPr>
          <p:cNvPr id="24" name="Shape 22"/>
          <p:cNvSpPr/>
          <p:nvPr/>
        </p:nvSpPr>
        <p:spPr>
          <a:xfrm>
            <a:off x="3158873" y="2883765"/>
            <a:ext cx="993389" cy="410313"/>
          </a:xfrm>
          <a:prstGeom prst="diamond">
            <a:avLst/>
          </a:prstGeom>
          <a:solidFill>
            <a:srgbClr val="FFF4D8"/>
          </a:solidFill>
          <a:ln w="12700">
            <a:solidFill>
              <a:srgbClr val="D49B26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158873" y="2883765"/>
            <a:ext cx="993389" cy="410313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50" dirty="0">
                <a:solidFill>
                  <a:srgbClr val="6B4B0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位于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1992721" y="3909546"/>
            <a:ext cx="914" cy="442706"/>
          </a:xfrm>
          <a:prstGeom prst="line">
            <a:avLst/>
          </a:prstGeom>
          <a:noFill/>
          <a:ln w="13335">
            <a:solidFill>
              <a:srgbClr val="6F8DA7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1992721" y="4352252"/>
            <a:ext cx="1727632" cy="914"/>
          </a:xfrm>
          <a:prstGeom prst="line">
            <a:avLst/>
          </a:prstGeom>
          <a:noFill/>
          <a:ln w="13335">
            <a:solidFill>
              <a:srgbClr val="6F8DA7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3720353" y="4352252"/>
            <a:ext cx="914" cy="669458"/>
          </a:xfrm>
          <a:prstGeom prst="line">
            <a:avLst/>
          </a:prstGeom>
          <a:noFill/>
          <a:ln w="13335">
            <a:solidFill>
              <a:srgbClr val="6F8DA7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3720353" y="5021710"/>
            <a:ext cx="431908" cy="914"/>
          </a:xfrm>
          <a:prstGeom prst="line">
            <a:avLst/>
          </a:prstGeom>
          <a:noFill/>
          <a:ln w="13335">
            <a:solidFill>
              <a:srgbClr val="6F8DA7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2035912" y="3825597"/>
            <a:ext cx="20116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1932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</a:t>
            </a:r>
            <a:endParaRPr lang="en-US" sz="850" dirty="0"/>
          </a:p>
        </p:txBody>
      </p:sp>
      <p:sp>
        <p:nvSpPr>
          <p:cNvPr id="31" name="Text 29"/>
          <p:cNvSpPr/>
          <p:nvPr/>
        </p:nvSpPr>
        <p:spPr>
          <a:xfrm>
            <a:off x="3979498" y="4937760"/>
            <a:ext cx="20116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1932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N</a:t>
            </a:r>
            <a:endParaRPr lang="en-US" sz="850" dirty="0"/>
          </a:p>
        </p:txBody>
      </p:sp>
      <p:sp>
        <p:nvSpPr>
          <p:cNvPr id="32" name="Shape 30"/>
          <p:cNvSpPr/>
          <p:nvPr/>
        </p:nvSpPr>
        <p:spPr>
          <a:xfrm>
            <a:off x="3223659" y="3941939"/>
            <a:ext cx="993389" cy="410313"/>
          </a:xfrm>
          <a:prstGeom prst="diamond">
            <a:avLst/>
          </a:prstGeom>
          <a:solidFill>
            <a:srgbClr val="FFF4D8"/>
          </a:solidFill>
          <a:ln w="12700">
            <a:solidFill>
              <a:srgbClr val="D49B26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3223659" y="3941939"/>
            <a:ext cx="993389" cy="410313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50" dirty="0">
                <a:solidFill>
                  <a:srgbClr val="6B4B0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举办</a:t>
            </a:r>
            <a:endParaRPr lang="en-US" sz="950" dirty="0"/>
          </a:p>
        </p:txBody>
      </p:sp>
      <p:sp>
        <p:nvSpPr>
          <p:cNvPr id="34" name="Shape 32"/>
          <p:cNvSpPr/>
          <p:nvPr/>
        </p:nvSpPr>
        <p:spPr>
          <a:xfrm>
            <a:off x="2748560" y="5021710"/>
            <a:ext cx="907007" cy="914"/>
          </a:xfrm>
          <a:prstGeom prst="line">
            <a:avLst/>
          </a:prstGeom>
          <a:noFill/>
          <a:ln w="13335">
            <a:solidFill>
              <a:srgbClr val="6F8DA7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3655567" y="5021710"/>
            <a:ext cx="914" cy="914"/>
          </a:xfrm>
          <a:prstGeom prst="line">
            <a:avLst/>
          </a:prstGeom>
          <a:noFill/>
          <a:ln w="13335">
            <a:solidFill>
              <a:srgbClr val="6F8DA7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3655567" y="5021710"/>
            <a:ext cx="496694" cy="914"/>
          </a:xfrm>
          <a:prstGeom prst="line">
            <a:avLst/>
          </a:prstGeom>
          <a:noFill/>
          <a:ln w="13335">
            <a:solidFill>
              <a:srgbClr val="6F8DA7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2791751" y="4937760"/>
            <a:ext cx="20116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1932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</a:t>
            </a:r>
            <a:endParaRPr lang="en-US" sz="850" dirty="0"/>
          </a:p>
        </p:txBody>
      </p:sp>
      <p:sp>
        <p:nvSpPr>
          <p:cNvPr id="38" name="Text 36"/>
          <p:cNvSpPr/>
          <p:nvPr/>
        </p:nvSpPr>
        <p:spPr>
          <a:xfrm>
            <a:off x="3979498" y="4937760"/>
            <a:ext cx="20116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1932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N</a:t>
            </a:r>
            <a:endParaRPr lang="en-US" sz="850" dirty="0"/>
          </a:p>
        </p:txBody>
      </p:sp>
      <p:sp>
        <p:nvSpPr>
          <p:cNvPr id="39" name="Shape 37"/>
          <p:cNvSpPr/>
          <p:nvPr/>
        </p:nvSpPr>
        <p:spPr>
          <a:xfrm>
            <a:off x="3158873" y="4611397"/>
            <a:ext cx="993389" cy="410313"/>
          </a:xfrm>
          <a:prstGeom prst="diamond">
            <a:avLst/>
          </a:prstGeom>
          <a:solidFill>
            <a:srgbClr val="FFF4D8"/>
          </a:solidFill>
          <a:ln w="12700">
            <a:solidFill>
              <a:srgbClr val="D49B26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3158873" y="4611397"/>
            <a:ext cx="993389" cy="410313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50" dirty="0">
                <a:solidFill>
                  <a:srgbClr val="6B4B0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分类</a:t>
            </a:r>
            <a:endParaRPr lang="en-US" sz="950" dirty="0"/>
          </a:p>
        </p:txBody>
      </p:sp>
      <p:sp>
        <p:nvSpPr>
          <p:cNvPr id="41" name="Shape 39"/>
          <p:cNvSpPr/>
          <p:nvPr/>
        </p:nvSpPr>
        <p:spPr>
          <a:xfrm>
            <a:off x="5663940" y="5021710"/>
            <a:ext cx="755839" cy="914"/>
          </a:xfrm>
          <a:prstGeom prst="line">
            <a:avLst/>
          </a:prstGeom>
          <a:noFill/>
          <a:ln w="13335">
            <a:solidFill>
              <a:srgbClr val="6F8DA7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6419779" y="3294077"/>
            <a:ext cx="914" cy="1727632"/>
          </a:xfrm>
          <a:prstGeom prst="line">
            <a:avLst/>
          </a:prstGeom>
          <a:noFill/>
          <a:ln w="13335">
            <a:solidFill>
              <a:srgbClr val="6F8DA7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6419779" y="3294077"/>
            <a:ext cx="647862" cy="914"/>
          </a:xfrm>
          <a:prstGeom prst="line">
            <a:avLst/>
          </a:prstGeom>
          <a:noFill/>
          <a:ln w="13335">
            <a:solidFill>
              <a:srgbClr val="6F8DA7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5707130" y="4937760"/>
            <a:ext cx="20116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1932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</a:t>
            </a:r>
            <a:endParaRPr lang="en-US" sz="850" dirty="0"/>
          </a:p>
        </p:txBody>
      </p:sp>
      <p:sp>
        <p:nvSpPr>
          <p:cNvPr id="45" name="Text 43"/>
          <p:cNvSpPr/>
          <p:nvPr/>
        </p:nvSpPr>
        <p:spPr>
          <a:xfrm>
            <a:off x="6894878" y="3210128"/>
            <a:ext cx="20116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1932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N</a:t>
            </a:r>
            <a:endParaRPr lang="en-US" sz="850" dirty="0"/>
          </a:p>
        </p:txBody>
      </p:sp>
      <p:sp>
        <p:nvSpPr>
          <p:cNvPr id="46" name="Shape 44"/>
          <p:cNvSpPr/>
          <p:nvPr/>
        </p:nvSpPr>
        <p:spPr>
          <a:xfrm>
            <a:off x="5923084" y="2883765"/>
            <a:ext cx="993389" cy="410313"/>
          </a:xfrm>
          <a:prstGeom prst="diamond">
            <a:avLst/>
          </a:prstGeom>
          <a:solidFill>
            <a:srgbClr val="FFF4D8"/>
          </a:solidFill>
          <a:ln w="12700">
            <a:solidFill>
              <a:srgbClr val="D49B26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5923084" y="2883765"/>
            <a:ext cx="993389" cy="410313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50" dirty="0">
                <a:solidFill>
                  <a:srgbClr val="6B4B0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安排</a:t>
            </a:r>
            <a:endParaRPr lang="en-US" sz="950" dirty="0"/>
          </a:p>
        </p:txBody>
      </p:sp>
      <p:sp>
        <p:nvSpPr>
          <p:cNvPr id="48" name="Shape 46"/>
          <p:cNvSpPr/>
          <p:nvPr/>
        </p:nvSpPr>
        <p:spPr>
          <a:xfrm>
            <a:off x="8579319" y="3294077"/>
            <a:ext cx="701851" cy="914"/>
          </a:xfrm>
          <a:prstGeom prst="line">
            <a:avLst/>
          </a:prstGeom>
          <a:noFill/>
          <a:ln w="13335">
            <a:solidFill>
              <a:srgbClr val="6F8DA7"/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9281170" y="3294077"/>
            <a:ext cx="914" cy="914"/>
          </a:xfrm>
          <a:prstGeom prst="line">
            <a:avLst/>
          </a:prstGeom>
          <a:noFill/>
          <a:ln w="13335">
            <a:solidFill>
              <a:srgbClr val="6F8DA7"/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9281170" y="3294077"/>
            <a:ext cx="701851" cy="914"/>
          </a:xfrm>
          <a:prstGeom prst="line">
            <a:avLst/>
          </a:prstGeom>
          <a:noFill/>
          <a:ln w="13335">
            <a:solidFill>
              <a:srgbClr val="6F8DA7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8622510" y="3210128"/>
            <a:ext cx="20116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1932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</a:t>
            </a:r>
            <a:endParaRPr lang="en-US" sz="850" dirty="0"/>
          </a:p>
        </p:txBody>
      </p:sp>
      <p:sp>
        <p:nvSpPr>
          <p:cNvPr id="52" name="Text 50"/>
          <p:cNvSpPr/>
          <p:nvPr/>
        </p:nvSpPr>
        <p:spPr>
          <a:xfrm>
            <a:off x="9810257" y="3210128"/>
            <a:ext cx="20116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1932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N</a:t>
            </a:r>
            <a:endParaRPr lang="en-US" sz="850" dirty="0"/>
          </a:p>
        </p:txBody>
      </p:sp>
      <p:sp>
        <p:nvSpPr>
          <p:cNvPr id="53" name="Shape 51"/>
          <p:cNvSpPr/>
          <p:nvPr/>
        </p:nvSpPr>
        <p:spPr>
          <a:xfrm>
            <a:off x="8784475" y="2883765"/>
            <a:ext cx="993389" cy="410313"/>
          </a:xfrm>
          <a:prstGeom prst="diamond">
            <a:avLst/>
          </a:prstGeom>
          <a:solidFill>
            <a:srgbClr val="FFF4D8"/>
          </a:solidFill>
          <a:ln w="12700">
            <a:solidFill>
              <a:srgbClr val="D49B26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8784475" y="2883765"/>
            <a:ext cx="993389" cy="410313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50" dirty="0">
                <a:solidFill>
                  <a:srgbClr val="6B4B0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设置</a:t>
            </a:r>
            <a:endParaRPr lang="en-US" sz="950" dirty="0"/>
          </a:p>
        </p:txBody>
      </p:sp>
      <p:sp>
        <p:nvSpPr>
          <p:cNvPr id="55" name="Shape 53"/>
          <p:cNvSpPr/>
          <p:nvPr/>
        </p:nvSpPr>
        <p:spPr>
          <a:xfrm>
            <a:off x="6635733" y="5021710"/>
            <a:ext cx="431908" cy="914"/>
          </a:xfrm>
          <a:prstGeom prst="line">
            <a:avLst/>
          </a:prstGeom>
          <a:noFill/>
          <a:ln w="13335">
            <a:solidFill>
              <a:srgbClr val="6F8DA7"/>
            </a:solidFill>
            <a:prstDash val="solid"/>
          </a:ln>
        </p:spPr>
      </p:sp>
      <p:sp>
        <p:nvSpPr>
          <p:cNvPr id="56" name="Shape 54"/>
          <p:cNvSpPr/>
          <p:nvPr/>
        </p:nvSpPr>
        <p:spPr>
          <a:xfrm>
            <a:off x="6635733" y="5021710"/>
            <a:ext cx="914" cy="788232"/>
          </a:xfrm>
          <a:prstGeom prst="line">
            <a:avLst/>
          </a:prstGeom>
          <a:noFill/>
          <a:ln w="13335">
            <a:solidFill>
              <a:srgbClr val="6F8DA7"/>
            </a:solidFill>
            <a:prstDash val="solid"/>
          </a:ln>
        </p:spPr>
      </p:sp>
      <p:sp>
        <p:nvSpPr>
          <p:cNvPr id="57" name="Shape 55"/>
          <p:cNvSpPr/>
          <p:nvPr/>
        </p:nvSpPr>
        <p:spPr>
          <a:xfrm>
            <a:off x="5879894" y="5809942"/>
            <a:ext cx="755839" cy="914"/>
          </a:xfrm>
          <a:prstGeom prst="line">
            <a:avLst/>
          </a:prstGeom>
          <a:noFill/>
          <a:ln w="13335">
            <a:solidFill>
              <a:srgbClr val="6F8DA7"/>
            </a:solidFill>
            <a:prstDash val="solid"/>
          </a:ln>
        </p:spPr>
      </p:sp>
      <p:sp>
        <p:nvSpPr>
          <p:cNvPr id="58" name="Shape 56"/>
          <p:cNvSpPr/>
          <p:nvPr/>
        </p:nvSpPr>
        <p:spPr>
          <a:xfrm>
            <a:off x="5879894" y="5313248"/>
            <a:ext cx="914" cy="496694"/>
          </a:xfrm>
          <a:prstGeom prst="line">
            <a:avLst/>
          </a:prstGeom>
          <a:noFill/>
          <a:ln w="13335">
            <a:solidFill>
              <a:srgbClr val="6F8DA7"/>
            </a:solidFill>
            <a:prstDash val="solid"/>
          </a:ln>
        </p:spPr>
      </p:sp>
      <p:sp>
        <p:nvSpPr>
          <p:cNvPr id="59" name="Shape 57"/>
          <p:cNvSpPr/>
          <p:nvPr/>
        </p:nvSpPr>
        <p:spPr>
          <a:xfrm>
            <a:off x="5663940" y="5313248"/>
            <a:ext cx="215954" cy="914"/>
          </a:xfrm>
          <a:prstGeom prst="line">
            <a:avLst/>
          </a:prstGeom>
          <a:noFill/>
          <a:ln w="13335">
            <a:solidFill>
              <a:srgbClr val="6F8DA7"/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7110832" y="4937760"/>
            <a:ext cx="20116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1932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</a:t>
            </a:r>
            <a:endParaRPr lang="en-US" sz="850" dirty="0"/>
          </a:p>
        </p:txBody>
      </p:sp>
      <p:sp>
        <p:nvSpPr>
          <p:cNvPr id="61" name="Text 59"/>
          <p:cNvSpPr/>
          <p:nvPr/>
        </p:nvSpPr>
        <p:spPr>
          <a:xfrm>
            <a:off x="5491176" y="5229298"/>
            <a:ext cx="20116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1932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N</a:t>
            </a:r>
            <a:endParaRPr lang="en-US" sz="850" dirty="0"/>
          </a:p>
        </p:txBody>
      </p:sp>
      <p:sp>
        <p:nvSpPr>
          <p:cNvPr id="62" name="Shape 60"/>
          <p:cNvSpPr/>
          <p:nvPr/>
        </p:nvSpPr>
        <p:spPr>
          <a:xfrm>
            <a:off x="5383199" y="5399629"/>
            <a:ext cx="993389" cy="410313"/>
          </a:xfrm>
          <a:prstGeom prst="diamond">
            <a:avLst/>
          </a:prstGeom>
          <a:solidFill>
            <a:srgbClr val="FFF4D8"/>
          </a:solidFill>
          <a:ln w="12700">
            <a:solidFill>
              <a:srgbClr val="D49B26"/>
            </a:solidFill>
            <a:prstDash val="solid"/>
          </a:ln>
        </p:spPr>
      </p:sp>
      <p:sp>
        <p:nvSpPr>
          <p:cNvPr id="63" name="Text 61"/>
          <p:cNvSpPr/>
          <p:nvPr/>
        </p:nvSpPr>
        <p:spPr>
          <a:xfrm>
            <a:off x="5383199" y="5399629"/>
            <a:ext cx="993389" cy="410313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50" dirty="0">
                <a:solidFill>
                  <a:srgbClr val="6B4B0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创建</a:t>
            </a:r>
            <a:endParaRPr lang="en-US" sz="950" dirty="0"/>
          </a:p>
        </p:txBody>
      </p:sp>
      <p:sp>
        <p:nvSpPr>
          <p:cNvPr id="64" name="Shape 62"/>
          <p:cNvSpPr/>
          <p:nvPr/>
        </p:nvSpPr>
        <p:spPr>
          <a:xfrm>
            <a:off x="1366454" y="2084735"/>
            <a:ext cx="1252533" cy="367122"/>
          </a:xfrm>
          <a:prstGeom prst="ellipse">
            <a:avLst/>
          </a:prstGeom>
          <a:solidFill>
            <a:srgbClr val="EAF3FB"/>
          </a:solidFill>
          <a:ln w="12700">
            <a:solidFill>
              <a:srgbClr val="76A7D1"/>
            </a:solidFill>
            <a:prstDash val="solid"/>
          </a:ln>
        </p:spPr>
      </p:sp>
      <p:sp>
        <p:nvSpPr>
          <p:cNvPr id="65" name="Text 63"/>
          <p:cNvSpPr/>
          <p:nvPr/>
        </p:nvSpPr>
        <p:spPr>
          <a:xfrm>
            <a:off x="1384742" y="2084735"/>
            <a:ext cx="1215957" cy="36712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50" dirty="0">
                <a:solidFill>
                  <a:srgbClr val="1932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城市ID</a:t>
            </a:r>
            <a:endParaRPr lang="en-US" sz="950" dirty="0"/>
          </a:p>
        </p:txBody>
      </p:sp>
      <p:sp>
        <p:nvSpPr>
          <p:cNvPr id="66" name="Shape 64"/>
          <p:cNvSpPr/>
          <p:nvPr/>
        </p:nvSpPr>
        <p:spPr>
          <a:xfrm>
            <a:off x="1992721" y="2451857"/>
            <a:ext cx="914" cy="550683"/>
          </a:xfrm>
          <a:prstGeom prst="line">
            <a:avLst/>
          </a:prstGeom>
          <a:noFill/>
          <a:ln w="12700">
            <a:solidFill>
              <a:srgbClr val="6F8DA7"/>
            </a:solidFill>
            <a:prstDash val="solid"/>
          </a:ln>
        </p:spPr>
      </p:sp>
      <p:sp>
        <p:nvSpPr>
          <p:cNvPr id="67" name="Shape 65"/>
          <p:cNvSpPr/>
          <p:nvPr/>
        </p:nvSpPr>
        <p:spPr>
          <a:xfrm>
            <a:off x="4281834" y="2084735"/>
            <a:ext cx="1252533" cy="367122"/>
          </a:xfrm>
          <a:prstGeom prst="ellipse">
            <a:avLst/>
          </a:prstGeom>
          <a:solidFill>
            <a:srgbClr val="EAF3FB"/>
          </a:solidFill>
          <a:ln w="12700">
            <a:solidFill>
              <a:srgbClr val="76A7D1"/>
            </a:solidFill>
            <a:prstDash val="solid"/>
          </a:ln>
        </p:spPr>
      </p:sp>
      <p:sp>
        <p:nvSpPr>
          <p:cNvPr id="68" name="Text 66"/>
          <p:cNvSpPr/>
          <p:nvPr/>
        </p:nvSpPr>
        <p:spPr>
          <a:xfrm>
            <a:off x="4300122" y="2084735"/>
            <a:ext cx="1215957" cy="36712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50" dirty="0">
                <a:solidFill>
                  <a:srgbClr val="1932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场馆名称</a:t>
            </a:r>
            <a:endParaRPr lang="en-US" sz="950" dirty="0"/>
          </a:p>
        </p:txBody>
      </p:sp>
      <p:sp>
        <p:nvSpPr>
          <p:cNvPr id="69" name="Shape 67"/>
          <p:cNvSpPr/>
          <p:nvPr/>
        </p:nvSpPr>
        <p:spPr>
          <a:xfrm>
            <a:off x="4908100" y="2451857"/>
            <a:ext cx="914" cy="550683"/>
          </a:xfrm>
          <a:prstGeom prst="line">
            <a:avLst/>
          </a:prstGeom>
          <a:noFill/>
          <a:ln w="12700">
            <a:solidFill>
              <a:srgbClr val="6F8DA7"/>
            </a:solidFill>
            <a:prstDash val="solid"/>
          </a:ln>
        </p:spPr>
      </p:sp>
      <p:sp>
        <p:nvSpPr>
          <p:cNvPr id="70" name="Shape 68"/>
          <p:cNvSpPr/>
          <p:nvPr/>
        </p:nvSpPr>
        <p:spPr>
          <a:xfrm>
            <a:off x="1366454" y="3812367"/>
            <a:ext cx="1252533" cy="367122"/>
          </a:xfrm>
          <a:prstGeom prst="ellipse">
            <a:avLst/>
          </a:prstGeom>
          <a:solidFill>
            <a:srgbClr val="EAF3FB"/>
          </a:solidFill>
          <a:ln w="12700">
            <a:solidFill>
              <a:srgbClr val="76A7D1"/>
            </a:solidFill>
            <a:prstDash val="solid"/>
          </a:ln>
        </p:spPr>
      </p:sp>
      <p:sp>
        <p:nvSpPr>
          <p:cNvPr id="71" name="Text 69"/>
          <p:cNvSpPr/>
          <p:nvPr/>
        </p:nvSpPr>
        <p:spPr>
          <a:xfrm>
            <a:off x="1384742" y="3812367"/>
            <a:ext cx="1215957" cy="36712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50" dirty="0">
                <a:solidFill>
                  <a:srgbClr val="1932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类型名称</a:t>
            </a:r>
            <a:endParaRPr lang="en-US" sz="950" dirty="0"/>
          </a:p>
        </p:txBody>
      </p:sp>
      <p:sp>
        <p:nvSpPr>
          <p:cNvPr id="72" name="Shape 70"/>
          <p:cNvSpPr/>
          <p:nvPr/>
        </p:nvSpPr>
        <p:spPr>
          <a:xfrm>
            <a:off x="1992721" y="4179489"/>
            <a:ext cx="914" cy="550683"/>
          </a:xfrm>
          <a:prstGeom prst="line">
            <a:avLst/>
          </a:prstGeom>
          <a:noFill/>
          <a:ln w="12700">
            <a:solidFill>
              <a:srgbClr val="6F8DA7"/>
            </a:solidFill>
            <a:prstDash val="solid"/>
          </a:ln>
        </p:spPr>
      </p:sp>
      <p:sp>
        <p:nvSpPr>
          <p:cNvPr id="73" name="Shape 71"/>
          <p:cNvSpPr/>
          <p:nvPr/>
        </p:nvSpPr>
        <p:spPr>
          <a:xfrm>
            <a:off x="4281834" y="5539999"/>
            <a:ext cx="1252533" cy="367122"/>
          </a:xfrm>
          <a:prstGeom prst="ellipse">
            <a:avLst/>
          </a:prstGeom>
          <a:solidFill>
            <a:srgbClr val="EAF3FB"/>
          </a:solidFill>
          <a:ln w="12700">
            <a:solidFill>
              <a:srgbClr val="76A7D1"/>
            </a:solidFill>
            <a:prstDash val="solid"/>
          </a:ln>
        </p:spPr>
      </p:sp>
      <p:sp>
        <p:nvSpPr>
          <p:cNvPr id="74" name="Text 72"/>
          <p:cNvSpPr/>
          <p:nvPr/>
        </p:nvSpPr>
        <p:spPr>
          <a:xfrm>
            <a:off x="4300122" y="5539999"/>
            <a:ext cx="1215957" cy="36712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50" dirty="0">
                <a:solidFill>
                  <a:srgbClr val="1932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演出名称</a:t>
            </a:r>
            <a:endParaRPr lang="en-US" sz="950" dirty="0"/>
          </a:p>
        </p:txBody>
      </p:sp>
      <p:sp>
        <p:nvSpPr>
          <p:cNvPr id="75" name="Shape 73"/>
          <p:cNvSpPr/>
          <p:nvPr/>
        </p:nvSpPr>
        <p:spPr>
          <a:xfrm>
            <a:off x="4908100" y="5313248"/>
            <a:ext cx="914" cy="226752"/>
          </a:xfrm>
          <a:prstGeom prst="line">
            <a:avLst/>
          </a:prstGeom>
          <a:noFill/>
          <a:ln w="12700">
            <a:solidFill>
              <a:srgbClr val="6F8DA7"/>
            </a:solidFill>
            <a:prstDash val="solid"/>
          </a:ln>
        </p:spPr>
      </p:sp>
      <p:sp>
        <p:nvSpPr>
          <p:cNvPr id="76" name="Shape 74"/>
          <p:cNvSpPr/>
          <p:nvPr/>
        </p:nvSpPr>
        <p:spPr>
          <a:xfrm>
            <a:off x="7197213" y="2084735"/>
            <a:ext cx="1252533" cy="367122"/>
          </a:xfrm>
          <a:prstGeom prst="ellipse">
            <a:avLst/>
          </a:prstGeom>
          <a:solidFill>
            <a:srgbClr val="EAF3FB"/>
          </a:solidFill>
          <a:ln w="12700">
            <a:solidFill>
              <a:srgbClr val="76A7D1"/>
            </a:solidFill>
            <a:prstDash val="solid"/>
          </a:ln>
        </p:spPr>
      </p:sp>
      <p:sp>
        <p:nvSpPr>
          <p:cNvPr id="77" name="Text 75"/>
          <p:cNvSpPr/>
          <p:nvPr/>
        </p:nvSpPr>
        <p:spPr>
          <a:xfrm>
            <a:off x="7215501" y="2084735"/>
            <a:ext cx="1215957" cy="36712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50" dirty="0">
                <a:solidFill>
                  <a:srgbClr val="1932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演出日期</a:t>
            </a:r>
            <a:endParaRPr lang="en-US" sz="950" dirty="0"/>
          </a:p>
        </p:txBody>
      </p:sp>
      <p:sp>
        <p:nvSpPr>
          <p:cNvPr id="78" name="Shape 76"/>
          <p:cNvSpPr/>
          <p:nvPr/>
        </p:nvSpPr>
        <p:spPr>
          <a:xfrm>
            <a:off x="7823480" y="2451857"/>
            <a:ext cx="914" cy="550683"/>
          </a:xfrm>
          <a:prstGeom prst="line">
            <a:avLst/>
          </a:prstGeom>
          <a:noFill/>
          <a:ln w="12700">
            <a:solidFill>
              <a:srgbClr val="6F8DA7"/>
            </a:solidFill>
            <a:prstDash val="solid"/>
          </a:ln>
        </p:spPr>
      </p:sp>
      <p:sp>
        <p:nvSpPr>
          <p:cNvPr id="79" name="Shape 77"/>
          <p:cNvSpPr/>
          <p:nvPr/>
        </p:nvSpPr>
        <p:spPr>
          <a:xfrm>
            <a:off x="10112593" y="2084735"/>
            <a:ext cx="1252533" cy="367122"/>
          </a:xfrm>
          <a:prstGeom prst="ellipse">
            <a:avLst/>
          </a:prstGeom>
          <a:solidFill>
            <a:srgbClr val="EAF3FB"/>
          </a:solidFill>
          <a:ln w="12700">
            <a:solidFill>
              <a:srgbClr val="76A7D1"/>
            </a:solidFill>
            <a:prstDash val="solid"/>
          </a:ln>
        </p:spPr>
      </p:sp>
      <p:sp>
        <p:nvSpPr>
          <p:cNvPr id="80" name="Text 78"/>
          <p:cNvSpPr/>
          <p:nvPr/>
        </p:nvSpPr>
        <p:spPr>
          <a:xfrm>
            <a:off x="10130881" y="2084735"/>
            <a:ext cx="1215957" cy="36712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50" dirty="0">
                <a:solidFill>
                  <a:srgbClr val="1932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价格/票数</a:t>
            </a:r>
            <a:endParaRPr lang="en-US" sz="950" dirty="0"/>
          </a:p>
        </p:txBody>
      </p:sp>
      <p:sp>
        <p:nvSpPr>
          <p:cNvPr id="81" name="Shape 79"/>
          <p:cNvSpPr/>
          <p:nvPr/>
        </p:nvSpPr>
        <p:spPr>
          <a:xfrm>
            <a:off x="10738860" y="2451857"/>
            <a:ext cx="914" cy="550683"/>
          </a:xfrm>
          <a:prstGeom prst="line">
            <a:avLst/>
          </a:prstGeom>
          <a:noFill/>
          <a:ln w="12700">
            <a:solidFill>
              <a:srgbClr val="6F8DA7"/>
            </a:solidFill>
            <a:prstDash val="solid"/>
          </a:ln>
        </p:spPr>
      </p:sp>
      <p:sp>
        <p:nvSpPr>
          <p:cNvPr id="82" name="Shape 80"/>
          <p:cNvSpPr/>
          <p:nvPr/>
        </p:nvSpPr>
        <p:spPr>
          <a:xfrm>
            <a:off x="7197213" y="5539999"/>
            <a:ext cx="1252533" cy="367122"/>
          </a:xfrm>
          <a:prstGeom prst="ellipse">
            <a:avLst/>
          </a:prstGeom>
          <a:solidFill>
            <a:srgbClr val="EAF3FB"/>
          </a:solidFill>
          <a:ln w="12700">
            <a:solidFill>
              <a:srgbClr val="76A7D1"/>
            </a:solidFill>
            <a:prstDash val="solid"/>
          </a:ln>
        </p:spPr>
      </p:sp>
      <p:sp>
        <p:nvSpPr>
          <p:cNvPr id="83" name="Text 81"/>
          <p:cNvSpPr/>
          <p:nvPr/>
        </p:nvSpPr>
        <p:spPr>
          <a:xfrm>
            <a:off x="7215501" y="5539999"/>
            <a:ext cx="1215957" cy="36712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50" dirty="0">
                <a:solidFill>
                  <a:srgbClr val="1932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管理员ID</a:t>
            </a:r>
            <a:endParaRPr lang="en-US" sz="950" dirty="0"/>
          </a:p>
        </p:txBody>
      </p:sp>
      <p:sp>
        <p:nvSpPr>
          <p:cNvPr id="84" name="Shape 82"/>
          <p:cNvSpPr/>
          <p:nvPr/>
        </p:nvSpPr>
        <p:spPr>
          <a:xfrm>
            <a:off x="7823480" y="5313248"/>
            <a:ext cx="914" cy="226752"/>
          </a:xfrm>
          <a:prstGeom prst="line">
            <a:avLst/>
          </a:prstGeom>
          <a:noFill/>
          <a:ln w="12700">
            <a:solidFill>
              <a:srgbClr val="6F8DA7"/>
            </a:solidFill>
            <a:prstDash val="solid"/>
          </a:ln>
        </p:spPr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7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28600"/>
            <a:ext cx="11338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1932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2. 用户资料：概念模型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411480" y="640080"/>
            <a:ext cx="113385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63758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用户保存收货信息和常用购票人。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10058400" y="283464"/>
            <a:ext cx="1691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000" dirty="0">
                <a:solidFill>
                  <a:srgbClr val="2F75B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概念模型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1843888" y="2640858"/>
            <a:ext cx="1635369" cy="588733"/>
          </a:xfrm>
          <a:prstGeom prst="rect">
            <a:avLst/>
          </a:prstGeom>
          <a:solidFill>
            <a:srgbClr val="5C9BD5"/>
          </a:solidFill>
          <a:ln w="12700">
            <a:solidFill>
              <a:srgbClr val="2F75B5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843888" y="2640858"/>
            <a:ext cx="1635369" cy="588733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用户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5986823" y="1932198"/>
            <a:ext cx="1744394" cy="588733"/>
          </a:xfrm>
          <a:prstGeom prst="rect">
            <a:avLst/>
          </a:prstGeom>
          <a:solidFill>
            <a:srgbClr val="5C9BD5"/>
          </a:solidFill>
          <a:ln w="12700">
            <a:solidFill>
              <a:srgbClr val="2F75B5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986823" y="1932198"/>
            <a:ext cx="1744394" cy="588733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收货信息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5986823" y="3622079"/>
            <a:ext cx="1744394" cy="588733"/>
          </a:xfrm>
          <a:prstGeom prst="rect">
            <a:avLst/>
          </a:prstGeom>
          <a:solidFill>
            <a:srgbClr val="5C9BD5"/>
          </a:solidFill>
          <a:ln w="12700">
            <a:solidFill>
              <a:srgbClr val="2F75B5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986823" y="3622079"/>
            <a:ext cx="1744394" cy="588733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常用购票人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479257" y="2935224"/>
            <a:ext cx="1253783" cy="914"/>
          </a:xfrm>
          <a:prstGeom prst="line">
            <a:avLst/>
          </a:prstGeom>
          <a:noFill/>
          <a:ln w="13335">
            <a:solidFill>
              <a:srgbClr val="6F8DA7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733040" y="2226564"/>
            <a:ext cx="914" cy="708660"/>
          </a:xfrm>
          <a:prstGeom prst="line">
            <a:avLst/>
          </a:prstGeom>
          <a:noFill/>
          <a:ln w="13335">
            <a:solidFill>
              <a:srgbClr val="6F8DA7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733040" y="2226564"/>
            <a:ext cx="1253783" cy="914"/>
          </a:xfrm>
          <a:prstGeom prst="line">
            <a:avLst/>
          </a:prstGeom>
          <a:noFill/>
          <a:ln w="13335">
            <a:solidFill>
              <a:srgbClr val="6F8DA7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522867" y="2851170"/>
            <a:ext cx="20116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1932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</a:t>
            </a:r>
            <a:endParaRPr lang="en-US" sz="850" dirty="0"/>
          </a:p>
        </p:txBody>
      </p:sp>
      <p:sp>
        <p:nvSpPr>
          <p:cNvPr id="15" name="Text 13"/>
          <p:cNvSpPr/>
          <p:nvPr/>
        </p:nvSpPr>
        <p:spPr>
          <a:xfrm>
            <a:off x="5812384" y="2142510"/>
            <a:ext cx="20116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1932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N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4231527" y="1812270"/>
            <a:ext cx="1003026" cy="414294"/>
          </a:xfrm>
          <a:prstGeom prst="diamond">
            <a:avLst/>
          </a:prstGeom>
          <a:solidFill>
            <a:srgbClr val="FFF4D8"/>
          </a:solidFill>
          <a:ln w="12700">
            <a:solidFill>
              <a:srgbClr val="D49B26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231527" y="1812270"/>
            <a:ext cx="1003026" cy="41429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50" dirty="0">
                <a:solidFill>
                  <a:srgbClr val="6B4B0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保存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3479257" y="2935224"/>
            <a:ext cx="1253783" cy="914"/>
          </a:xfrm>
          <a:prstGeom prst="line">
            <a:avLst/>
          </a:prstGeom>
          <a:noFill/>
          <a:ln w="13335">
            <a:solidFill>
              <a:srgbClr val="6F8DA7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4733040" y="2935224"/>
            <a:ext cx="914" cy="981222"/>
          </a:xfrm>
          <a:prstGeom prst="line">
            <a:avLst/>
          </a:prstGeom>
          <a:noFill/>
          <a:ln w="13335">
            <a:solidFill>
              <a:srgbClr val="6F8DA7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4733040" y="3916446"/>
            <a:ext cx="1253783" cy="914"/>
          </a:xfrm>
          <a:prstGeom prst="line">
            <a:avLst/>
          </a:prstGeom>
          <a:noFill/>
          <a:ln w="13335">
            <a:solidFill>
              <a:srgbClr val="6F8DA7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522867" y="2851170"/>
            <a:ext cx="20116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1932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5812384" y="3832391"/>
            <a:ext cx="20116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1932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N</a:t>
            </a:r>
            <a:endParaRPr lang="en-US" sz="850" dirty="0"/>
          </a:p>
        </p:txBody>
      </p:sp>
      <p:sp>
        <p:nvSpPr>
          <p:cNvPr id="23" name="Shape 21"/>
          <p:cNvSpPr/>
          <p:nvPr/>
        </p:nvSpPr>
        <p:spPr>
          <a:xfrm>
            <a:off x="4231527" y="3502152"/>
            <a:ext cx="1003026" cy="414294"/>
          </a:xfrm>
          <a:prstGeom prst="diamond">
            <a:avLst/>
          </a:prstGeom>
          <a:solidFill>
            <a:srgbClr val="FFF4D8"/>
          </a:solidFill>
          <a:ln w="12700">
            <a:solidFill>
              <a:srgbClr val="D49B26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231527" y="3502152"/>
            <a:ext cx="1003026" cy="41429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50" dirty="0">
                <a:solidFill>
                  <a:srgbClr val="6B4B0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维护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2029229" y="1714148"/>
            <a:ext cx="1264686" cy="370684"/>
          </a:xfrm>
          <a:prstGeom prst="ellipse">
            <a:avLst/>
          </a:prstGeom>
          <a:solidFill>
            <a:srgbClr val="EAF3FB"/>
          </a:solidFill>
          <a:ln w="12700">
            <a:solidFill>
              <a:srgbClr val="76A7D1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2047517" y="1714148"/>
            <a:ext cx="1228110" cy="3706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50" dirty="0">
                <a:solidFill>
                  <a:srgbClr val="1932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用户名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2661572" y="2084832"/>
            <a:ext cx="914" cy="556026"/>
          </a:xfrm>
          <a:prstGeom prst="line">
            <a:avLst/>
          </a:prstGeom>
          <a:noFill/>
          <a:ln w="12700">
            <a:solidFill>
              <a:srgbClr val="6F8DA7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6226677" y="1060001"/>
            <a:ext cx="1264686" cy="370684"/>
          </a:xfrm>
          <a:prstGeom prst="ellipse">
            <a:avLst/>
          </a:prstGeom>
          <a:solidFill>
            <a:srgbClr val="EAF3FB"/>
          </a:solidFill>
          <a:ln w="12700">
            <a:solidFill>
              <a:srgbClr val="76A7D1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244965" y="1060001"/>
            <a:ext cx="1228110" cy="3706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50" dirty="0">
                <a:solidFill>
                  <a:srgbClr val="1932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收货地址</a:t>
            </a:r>
            <a:endParaRPr lang="en-US" sz="950" dirty="0"/>
          </a:p>
        </p:txBody>
      </p:sp>
      <p:sp>
        <p:nvSpPr>
          <p:cNvPr id="30" name="Shape 28"/>
          <p:cNvSpPr/>
          <p:nvPr/>
        </p:nvSpPr>
        <p:spPr>
          <a:xfrm>
            <a:off x="6859020" y="1430684"/>
            <a:ext cx="914" cy="501513"/>
          </a:xfrm>
          <a:prstGeom prst="line">
            <a:avLst/>
          </a:prstGeom>
          <a:noFill/>
          <a:ln w="12700">
            <a:solidFill>
              <a:srgbClr val="6F8DA7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6226677" y="4221714"/>
            <a:ext cx="1264686" cy="370684"/>
          </a:xfrm>
          <a:prstGeom prst="ellipse">
            <a:avLst/>
          </a:prstGeom>
          <a:solidFill>
            <a:srgbClr val="EAF3FB"/>
          </a:solidFill>
          <a:ln w="12700">
            <a:solidFill>
              <a:srgbClr val="76A7D1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244965" y="4221714"/>
            <a:ext cx="1228110" cy="3706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50" dirty="0">
                <a:solidFill>
                  <a:srgbClr val="1932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姓名/证件号</a:t>
            </a:r>
            <a:endParaRPr lang="en-US" sz="950" dirty="0"/>
          </a:p>
        </p:txBody>
      </p:sp>
      <p:sp>
        <p:nvSpPr>
          <p:cNvPr id="33" name="Shape 31"/>
          <p:cNvSpPr/>
          <p:nvPr/>
        </p:nvSpPr>
        <p:spPr>
          <a:xfrm>
            <a:off x="6859020" y="4210812"/>
            <a:ext cx="914" cy="10902"/>
          </a:xfrm>
          <a:prstGeom prst="line">
            <a:avLst/>
          </a:prstGeom>
          <a:noFill/>
          <a:ln w="12700">
            <a:solidFill>
              <a:srgbClr val="6F8DA7"/>
            </a:solidFill>
            <a:prstDash val="solid"/>
          </a:ln>
        </p:spPr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7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28600"/>
            <a:ext cx="11338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1932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3. 订单与购票：概念模型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411480" y="640080"/>
            <a:ext cx="113385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63758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订单对应场次、选择票档、使用地址，并包含订单明细。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10058400" y="283464"/>
            <a:ext cx="1691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000" dirty="0">
                <a:solidFill>
                  <a:srgbClr val="2F75B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概念模型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1646940" y="3223788"/>
            <a:ext cx="1354015" cy="522263"/>
          </a:xfrm>
          <a:prstGeom prst="rect">
            <a:avLst/>
          </a:prstGeom>
          <a:solidFill>
            <a:srgbClr val="5C9BD5"/>
          </a:solidFill>
          <a:ln w="12700">
            <a:solidFill>
              <a:srgbClr val="2F75B5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646940" y="3223788"/>
            <a:ext cx="1354015" cy="522263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用户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1646940" y="4771234"/>
            <a:ext cx="1354015" cy="522263"/>
          </a:xfrm>
          <a:prstGeom prst="rect">
            <a:avLst/>
          </a:prstGeom>
          <a:solidFill>
            <a:srgbClr val="5C9BD5"/>
          </a:solidFill>
          <a:ln w="12700">
            <a:solidFill>
              <a:srgbClr val="2F75B5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646940" y="4771234"/>
            <a:ext cx="1354015" cy="522263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收货信息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258255" y="1676341"/>
            <a:ext cx="1354015" cy="522263"/>
          </a:xfrm>
          <a:prstGeom prst="rect">
            <a:avLst/>
          </a:prstGeom>
          <a:solidFill>
            <a:srgbClr val="5C9BD5"/>
          </a:solidFill>
          <a:ln w="12700">
            <a:solidFill>
              <a:srgbClr val="2F75B5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258255" y="1676341"/>
            <a:ext cx="1354015" cy="522263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演出场次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6579425" y="1676341"/>
            <a:ext cx="1354015" cy="522263"/>
          </a:xfrm>
          <a:prstGeom prst="rect">
            <a:avLst/>
          </a:prstGeom>
          <a:solidFill>
            <a:srgbClr val="5C9BD5"/>
          </a:solidFill>
          <a:ln w="12700">
            <a:solidFill>
              <a:srgbClr val="2F75B5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579425" y="1676341"/>
            <a:ext cx="1354015" cy="522263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票档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4258255" y="3223788"/>
            <a:ext cx="1354015" cy="522263"/>
          </a:xfrm>
          <a:prstGeom prst="rect">
            <a:avLst/>
          </a:prstGeom>
          <a:solidFill>
            <a:srgbClr val="5C9BD5"/>
          </a:solidFill>
          <a:ln w="12700">
            <a:solidFill>
              <a:srgbClr val="2F75B5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258255" y="3223788"/>
            <a:ext cx="1354015" cy="522263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订单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8803878" y="3223788"/>
            <a:ext cx="1547446" cy="522263"/>
          </a:xfrm>
          <a:prstGeom prst="rect">
            <a:avLst/>
          </a:prstGeom>
          <a:solidFill>
            <a:srgbClr val="5C9BD5"/>
          </a:solidFill>
          <a:ln w="12700">
            <a:solidFill>
              <a:srgbClr val="2F75B5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803878" y="3223788"/>
            <a:ext cx="1547446" cy="522263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订单明细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6579425" y="4771234"/>
            <a:ext cx="1354015" cy="522263"/>
          </a:xfrm>
          <a:prstGeom prst="rect">
            <a:avLst/>
          </a:prstGeom>
          <a:solidFill>
            <a:srgbClr val="5C9BD5"/>
          </a:solidFill>
          <a:ln w="12700">
            <a:solidFill>
              <a:srgbClr val="2F75B5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579425" y="4771234"/>
            <a:ext cx="1354015" cy="522263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常用购票人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3000955" y="3484919"/>
            <a:ext cx="618978" cy="914"/>
          </a:xfrm>
          <a:prstGeom prst="line">
            <a:avLst/>
          </a:prstGeom>
          <a:noFill/>
          <a:ln w="13335">
            <a:solidFill>
              <a:srgbClr val="6F8DA7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3619934" y="3484919"/>
            <a:ext cx="914" cy="914"/>
          </a:xfrm>
          <a:prstGeom prst="line">
            <a:avLst/>
          </a:prstGeom>
          <a:noFill/>
          <a:ln w="13335">
            <a:solidFill>
              <a:srgbClr val="6F8DA7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3619934" y="3484919"/>
            <a:ext cx="638322" cy="914"/>
          </a:xfrm>
          <a:prstGeom prst="line">
            <a:avLst/>
          </a:prstGeom>
          <a:noFill/>
          <a:ln w="13335">
            <a:solidFill>
              <a:srgbClr val="6F8DA7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039641" y="3402096"/>
            <a:ext cx="20116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1932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</a:t>
            </a:r>
            <a:endParaRPr lang="en-US" sz="850" dirty="0"/>
          </a:p>
        </p:txBody>
      </p:sp>
      <p:sp>
        <p:nvSpPr>
          <p:cNvPr id="23" name="Text 21"/>
          <p:cNvSpPr/>
          <p:nvPr/>
        </p:nvSpPr>
        <p:spPr>
          <a:xfrm>
            <a:off x="4103511" y="3402096"/>
            <a:ext cx="20116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1932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N</a:t>
            </a:r>
            <a:endParaRPr lang="en-US" sz="850" dirty="0"/>
          </a:p>
        </p:txBody>
      </p:sp>
      <p:sp>
        <p:nvSpPr>
          <p:cNvPr id="24" name="Shape 22"/>
          <p:cNvSpPr/>
          <p:nvPr/>
        </p:nvSpPr>
        <p:spPr>
          <a:xfrm>
            <a:off x="3175043" y="3117401"/>
            <a:ext cx="889782" cy="367518"/>
          </a:xfrm>
          <a:prstGeom prst="diamond">
            <a:avLst/>
          </a:prstGeom>
          <a:solidFill>
            <a:srgbClr val="FFF4D8"/>
          </a:solidFill>
          <a:ln w="12700">
            <a:solidFill>
              <a:srgbClr val="D49B26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175043" y="3117401"/>
            <a:ext cx="889782" cy="36751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50" dirty="0">
                <a:solidFill>
                  <a:srgbClr val="6B4B0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提交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3000955" y="5032365"/>
            <a:ext cx="290146" cy="914"/>
          </a:xfrm>
          <a:prstGeom prst="line">
            <a:avLst/>
          </a:prstGeom>
          <a:noFill/>
          <a:ln w="13335">
            <a:solidFill>
              <a:srgbClr val="6F8DA7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3291101" y="4045868"/>
            <a:ext cx="914" cy="986497"/>
          </a:xfrm>
          <a:prstGeom prst="line">
            <a:avLst/>
          </a:prstGeom>
          <a:noFill/>
          <a:ln w="13335">
            <a:solidFill>
              <a:srgbClr val="6F8DA7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3291101" y="4045868"/>
            <a:ext cx="967154" cy="914"/>
          </a:xfrm>
          <a:prstGeom prst="line">
            <a:avLst/>
          </a:prstGeom>
          <a:noFill/>
          <a:ln w="13335">
            <a:solidFill>
              <a:srgbClr val="6F8DA7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4258255" y="3746051"/>
            <a:ext cx="914" cy="299818"/>
          </a:xfrm>
          <a:prstGeom prst="line">
            <a:avLst/>
          </a:prstGeom>
          <a:noFill/>
          <a:ln w="13335">
            <a:solidFill>
              <a:srgbClr val="6F8DA7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3039641" y="4949542"/>
            <a:ext cx="20116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1932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</a:t>
            </a:r>
            <a:endParaRPr lang="en-US" sz="850" dirty="0"/>
          </a:p>
        </p:txBody>
      </p:sp>
      <p:sp>
        <p:nvSpPr>
          <p:cNvPr id="31" name="Text 29"/>
          <p:cNvSpPr/>
          <p:nvPr/>
        </p:nvSpPr>
        <p:spPr>
          <a:xfrm>
            <a:off x="4103511" y="3663227"/>
            <a:ext cx="20116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1932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N</a:t>
            </a:r>
            <a:endParaRPr lang="en-US" sz="850" dirty="0"/>
          </a:p>
        </p:txBody>
      </p:sp>
      <p:sp>
        <p:nvSpPr>
          <p:cNvPr id="32" name="Shape 30"/>
          <p:cNvSpPr/>
          <p:nvPr/>
        </p:nvSpPr>
        <p:spPr>
          <a:xfrm>
            <a:off x="2846211" y="3678350"/>
            <a:ext cx="889782" cy="367518"/>
          </a:xfrm>
          <a:prstGeom prst="diamond">
            <a:avLst/>
          </a:prstGeom>
          <a:solidFill>
            <a:srgbClr val="FFF4D8"/>
          </a:solidFill>
          <a:ln w="12700">
            <a:solidFill>
              <a:srgbClr val="D49B26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2846211" y="3678350"/>
            <a:ext cx="889782" cy="36751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50" dirty="0">
                <a:solidFill>
                  <a:srgbClr val="6B4B0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使用地址</a:t>
            </a:r>
            <a:endParaRPr lang="en-US" sz="950" dirty="0"/>
          </a:p>
        </p:txBody>
      </p:sp>
      <p:sp>
        <p:nvSpPr>
          <p:cNvPr id="34" name="Shape 32"/>
          <p:cNvSpPr/>
          <p:nvPr/>
        </p:nvSpPr>
        <p:spPr>
          <a:xfrm>
            <a:off x="4935263" y="2198604"/>
            <a:ext cx="914" cy="493248"/>
          </a:xfrm>
          <a:prstGeom prst="line">
            <a:avLst/>
          </a:prstGeom>
          <a:noFill/>
          <a:ln w="13335">
            <a:solidFill>
              <a:srgbClr val="6F8DA7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4935263" y="2691853"/>
            <a:ext cx="914" cy="531935"/>
          </a:xfrm>
          <a:prstGeom prst="line">
            <a:avLst/>
          </a:prstGeom>
          <a:noFill/>
          <a:ln w="13335">
            <a:solidFill>
              <a:srgbClr val="6F8DA7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4973949" y="2115781"/>
            <a:ext cx="20116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1932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</a:t>
            </a:r>
            <a:endParaRPr lang="en-US" sz="850" dirty="0"/>
          </a:p>
        </p:txBody>
      </p:sp>
      <p:sp>
        <p:nvSpPr>
          <p:cNvPr id="37" name="Text 35"/>
          <p:cNvSpPr/>
          <p:nvPr/>
        </p:nvSpPr>
        <p:spPr>
          <a:xfrm>
            <a:off x="4780518" y="3140964"/>
            <a:ext cx="20116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1932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N</a:t>
            </a:r>
            <a:endParaRPr lang="en-US" sz="850" dirty="0"/>
          </a:p>
        </p:txBody>
      </p:sp>
      <p:sp>
        <p:nvSpPr>
          <p:cNvPr id="38" name="Shape 36"/>
          <p:cNvSpPr/>
          <p:nvPr/>
        </p:nvSpPr>
        <p:spPr>
          <a:xfrm>
            <a:off x="4490372" y="2324334"/>
            <a:ext cx="889782" cy="367518"/>
          </a:xfrm>
          <a:prstGeom prst="diamond">
            <a:avLst/>
          </a:prstGeom>
          <a:solidFill>
            <a:srgbClr val="FFF4D8"/>
          </a:solidFill>
          <a:ln w="12700">
            <a:solidFill>
              <a:srgbClr val="D49B26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4490372" y="2324334"/>
            <a:ext cx="889782" cy="36751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50" dirty="0">
                <a:solidFill>
                  <a:srgbClr val="6B4B0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对应场次</a:t>
            </a:r>
            <a:endParaRPr lang="en-US" sz="950" dirty="0"/>
          </a:p>
        </p:txBody>
      </p:sp>
      <p:sp>
        <p:nvSpPr>
          <p:cNvPr id="40" name="Shape 38"/>
          <p:cNvSpPr/>
          <p:nvPr/>
        </p:nvSpPr>
        <p:spPr>
          <a:xfrm>
            <a:off x="7256432" y="2198604"/>
            <a:ext cx="914" cy="203102"/>
          </a:xfrm>
          <a:prstGeom prst="line">
            <a:avLst/>
          </a:prstGeom>
          <a:noFill/>
          <a:ln w="13335">
            <a:solidFill>
              <a:srgbClr val="6F8DA7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7256432" y="2401707"/>
            <a:ext cx="1160585" cy="914"/>
          </a:xfrm>
          <a:prstGeom prst="line">
            <a:avLst/>
          </a:prstGeom>
          <a:noFill/>
          <a:ln w="13335">
            <a:solidFill>
              <a:srgbClr val="6F8DA7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8417017" y="2401707"/>
            <a:ext cx="914" cy="531935"/>
          </a:xfrm>
          <a:prstGeom prst="line">
            <a:avLst/>
          </a:prstGeom>
          <a:noFill/>
          <a:ln w="13335">
            <a:solidFill>
              <a:srgbClr val="6F8DA7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5418840" y="2933641"/>
            <a:ext cx="2998177" cy="914"/>
          </a:xfrm>
          <a:prstGeom prst="line">
            <a:avLst/>
          </a:prstGeom>
          <a:noFill/>
          <a:ln w="13335">
            <a:solidFill>
              <a:srgbClr val="6F8DA7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5418840" y="2933641"/>
            <a:ext cx="914" cy="290146"/>
          </a:xfrm>
          <a:prstGeom prst="line">
            <a:avLst/>
          </a:prstGeom>
          <a:noFill/>
          <a:ln w="13335">
            <a:solidFill>
              <a:srgbClr val="6F8DA7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7295118" y="2115781"/>
            <a:ext cx="20116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1932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</a:t>
            </a:r>
            <a:endParaRPr lang="en-US" sz="850" dirty="0"/>
          </a:p>
        </p:txBody>
      </p:sp>
      <p:sp>
        <p:nvSpPr>
          <p:cNvPr id="46" name="Text 44"/>
          <p:cNvSpPr/>
          <p:nvPr/>
        </p:nvSpPr>
        <p:spPr>
          <a:xfrm>
            <a:off x="5264095" y="3140964"/>
            <a:ext cx="20116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1932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N</a:t>
            </a:r>
            <a:endParaRPr lang="en-US" sz="850" dirty="0"/>
          </a:p>
        </p:txBody>
      </p:sp>
      <p:sp>
        <p:nvSpPr>
          <p:cNvPr id="47" name="Shape 45"/>
          <p:cNvSpPr/>
          <p:nvPr/>
        </p:nvSpPr>
        <p:spPr>
          <a:xfrm>
            <a:off x="7972126" y="2566123"/>
            <a:ext cx="889782" cy="367518"/>
          </a:xfrm>
          <a:prstGeom prst="diamond">
            <a:avLst/>
          </a:prstGeom>
          <a:solidFill>
            <a:srgbClr val="FFF4D8"/>
          </a:solidFill>
          <a:ln w="12700">
            <a:solidFill>
              <a:srgbClr val="D49B26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7972126" y="2566123"/>
            <a:ext cx="889782" cy="36751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50" dirty="0">
                <a:solidFill>
                  <a:srgbClr val="6B4B0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选择票档</a:t>
            </a:r>
            <a:endParaRPr lang="en-US" sz="950" dirty="0"/>
          </a:p>
        </p:txBody>
      </p:sp>
      <p:sp>
        <p:nvSpPr>
          <p:cNvPr id="49" name="Shape 47"/>
          <p:cNvSpPr/>
          <p:nvPr/>
        </p:nvSpPr>
        <p:spPr>
          <a:xfrm>
            <a:off x="5612271" y="3484919"/>
            <a:ext cx="1595804" cy="914"/>
          </a:xfrm>
          <a:prstGeom prst="line">
            <a:avLst/>
          </a:prstGeom>
          <a:noFill/>
          <a:ln w="13335">
            <a:solidFill>
              <a:srgbClr val="6F8DA7"/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7208075" y="3484919"/>
            <a:ext cx="914" cy="914"/>
          </a:xfrm>
          <a:prstGeom prst="line">
            <a:avLst/>
          </a:prstGeom>
          <a:noFill/>
          <a:ln w="13335">
            <a:solidFill>
              <a:srgbClr val="6F8DA7"/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7208075" y="3484919"/>
            <a:ext cx="1595804" cy="914"/>
          </a:xfrm>
          <a:prstGeom prst="line">
            <a:avLst/>
          </a:prstGeom>
          <a:noFill/>
          <a:ln w="13335">
            <a:solidFill>
              <a:srgbClr val="6F8DA7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5650957" y="3402096"/>
            <a:ext cx="20116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1932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</a:t>
            </a:r>
            <a:endParaRPr lang="en-US" sz="850" dirty="0"/>
          </a:p>
        </p:txBody>
      </p:sp>
      <p:sp>
        <p:nvSpPr>
          <p:cNvPr id="53" name="Text 51"/>
          <p:cNvSpPr/>
          <p:nvPr/>
        </p:nvSpPr>
        <p:spPr>
          <a:xfrm>
            <a:off x="8649134" y="3402096"/>
            <a:ext cx="20116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1932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1..N</a:t>
            </a:r>
            <a:endParaRPr lang="en-US" sz="850" dirty="0"/>
          </a:p>
        </p:txBody>
      </p:sp>
      <p:sp>
        <p:nvSpPr>
          <p:cNvPr id="54" name="Shape 52"/>
          <p:cNvSpPr/>
          <p:nvPr/>
        </p:nvSpPr>
        <p:spPr>
          <a:xfrm>
            <a:off x="6763184" y="3117401"/>
            <a:ext cx="889782" cy="367518"/>
          </a:xfrm>
          <a:prstGeom prst="diamond">
            <a:avLst/>
          </a:prstGeom>
          <a:solidFill>
            <a:srgbClr val="FFF4D8"/>
          </a:solidFill>
          <a:ln w="12700">
            <a:solidFill>
              <a:srgbClr val="D49B26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6763184" y="3117401"/>
            <a:ext cx="889782" cy="36751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50" dirty="0">
                <a:solidFill>
                  <a:srgbClr val="6B4B0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包含</a:t>
            </a:r>
            <a:endParaRPr lang="en-US" sz="950" dirty="0"/>
          </a:p>
        </p:txBody>
      </p:sp>
      <p:sp>
        <p:nvSpPr>
          <p:cNvPr id="56" name="Shape 54"/>
          <p:cNvSpPr/>
          <p:nvPr/>
        </p:nvSpPr>
        <p:spPr>
          <a:xfrm>
            <a:off x="7933440" y="5032365"/>
            <a:ext cx="483577" cy="914"/>
          </a:xfrm>
          <a:prstGeom prst="line">
            <a:avLst/>
          </a:prstGeom>
          <a:noFill/>
          <a:ln w="13335">
            <a:solidFill>
              <a:srgbClr val="6F8DA7"/>
            </a:solidFill>
            <a:prstDash val="solid"/>
          </a:ln>
        </p:spPr>
      </p:sp>
      <p:sp>
        <p:nvSpPr>
          <p:cNvPr id="57" name="Shape 55"/>
          <p:cNvSpPr/>
          <p:nvPr/>
        </p:nvSpPr>
        <p:spPr>
          <a:xfrm>
            <a:off x="8417017" y="4142584"/>
            <a:ext cx="914" cy="889782"/>
          </a:xfrm>
          <a:prstGeom prst="line">
            <a:avLst/>
          </a:prstGeom>
          <a:noFill/>
          <a:ln w="13335">
            <a:solidFill>
              <a:srgbClr val="6F8DA7"/>
            </a:solidFill>
            <a:prstDash val="solid"/>
          </a:ln>
        </p:spPr>
      </p:sp>
      <p:sp>
        <p:nvSpPr>
          <p:cNvPr id="58" name="Shape 56"/>
          <p:cNvSpPr/>
          <p:nvPr/>
        </p:nvSpPr>
        <p:spPr>
          <a:xfrm>
            <a:off x="8417017" y="4142584"/>
            <a:ext cx="386862" cy="914"/>
          </a:xfrm>
          <a:prstGeom prst="line">
            <a:avLst/>
          </a:prstGeom>
          <a:noFill/>
          <a:ln w="13335">
            <a:solidFill>
              <a:srgbClr val="6F8DA7"/>
            </a:solidFill>
            <a:prstDash val="solid"/>
          </a:ln>
        </p:spPr>
      </p:sp>
      <p:sp>
        <p:nvSpPr>
          <p:cNvPr id="59" name="Shape 57"/>
          <p:cNvSpPr/>
          <p:nvPr/>
        </p:nvSpPr>
        <p:spPr>
          <a:xfrm>
            <a:off x="8803878" y="3746051"/>
            <a:ext cx="914" cy="396533"/>
          </a:xfrm>
          <a:prstGeom prst="line">
            <a:avLst/>
          </a:prstGeom>
          <a:noFill/>
          <a:ln w="13335">
            <a:solidFill>
              <a:srgbClr val="6F8DA7"/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7972126" y="4949542"/>
            <a:ext cx="20116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1932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</a:t>
            </a:r>
            <a:endParaRPr lang="en-US" sz="850" dirty="0"/>
          </a:p>
        </p:txBody>
      </p:sp>
      <p:sp>
        <p:nvSpPr>
          <p:cNvPr id="61" name="Text 59"/>
          <p:cNvSpPr/>
          <p:nvPr/>
        </p:nvSpPr>
        <p:spPr>
          <a:xfrm>
            <a:off x="8649134" y="3663227"/>
            <a:ext cx="20116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1932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N</a:t>
            </a:r>
            <a:endParaRPr lang="en-US" sz="850" dirty="0"/>
          </a:p>
        </p:txBody>
      </p:sp>
      <p:sp>
        <p:nvSpPr>
          <p:cNvPr id="62" name="Shape 60"/>
          <p:cNvSpPr/>
          <p:nvPr/>
        </p:nvSpPr>
        <p:spPr>
          <a:xfrm>
            <a:off x="7972126" y="3775065"/>
            <a:ext cx="889782" cy="367518"/>
          </a:xfrm>
          <a:prstGeom prst="diamond">
            <a:avLst/>
          </a:prstGeom>
          <a:solidFill>
            <a:srgbClr val="FFF4D8"/>
          </a:solidFill>
          <a:ln w="12700">
            <a:solidFill>
              <a:srgbClr val="D49B26"/>
            </a:solidFill>
            <a:prstDash val="solid"/>
          </a:ln>
        </p:spPr>
      </p:sp>
      <p:sp>
        <p:nvSpPr>
          <p:cNvPr id="63" name="Text 61"/>
          <p:cNvSpPr/>
          <p:nvPr/>
        </p:nvSpPr>
        <p:spPr>
          <a:xfrm>
            <a:off x="7972126" y="3775065"/>
            <a:ext cx="889782" cy="36751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50" dirty="0">
                <a:solidFill>
                  <a:srgbClr val="6B4B0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持有</a:t>
            </a:r>
            <a:endParaRPr lang="en-US" sz="950" dirty="0"/>
          </a:p>
        </p:txBody>
      </p:sp>
      <p:sp>
        <p:nvSpPr>
          <p:cNvPr id="64" name="Shape 62"/>
          <p:cNvSpPr/>
          <p:nvPr/>
        </p:nvSpPr>
        <p:spPr>
          <a:xfrm>
            <a:off x="4374314" y="3997511"/>
            <a:ext cx="1121898" cy="328832"/>
          </a:xfrm>
          <a:prstGeom prst="ellipse">
            <a:avLst/>
          </a:prstGeom>
          <a:solidFill>
            <a:srgbClr val="EAF3FB"/>
          </a:solidFill>
          <a:ln w="12700">
            <a:solidFill>
              <a:srgbClr val="76A7D1"/>
            </a:solidFill>
            <a:prstDash val="solid"/>
          </a:ln>
        </p:spPr>
      </p:sp>
      <p:sp>
        <p:nvSpPr>
          <p:cNvPr id="65" name="Text 63"/>
          <p:cNvSpPr/>
          <p:nvPr/>
        </p:nvSpPr>
        <p:spPr>
          <a:xfrm>
            <a:off x="4392602" y="3997511"/>
            <a:ext cx="1085322" cy="3288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50" dirty="0">
                <a:solidFill>
                  <a:srgbClr val="1932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订单金额</a:t>
            </a:r>
            <a:endParaRPr lang="en-US" sz="950" dirty="0"/>
          </a:p>
        </p:txBody>
      </p:sp>
      <p:sp>
        <p:nvSpPr>
          <p:cNvPr id="66" name="Shape 64"/>
          <p:cNvSpPr/>
          <p:nvPr/>
        </p:nvSpPr>
        <p:spPr>
          <a:xfrm>
            <a:off x="4935263" y="3746051"/>
            <a:ext cx="914" cy="251460"/>
          </a:xfrm>
          <a:prstGeom prst="line">
            <a:avLst/>
          </a:prstGeom>
          <a:noFill/>
          <a:ln w="12700">
            <a:solidFill>
              <a:srgbClr val="6F8DA7"/>
            </a:solidFill>
            <a:prstDash val="solid"/>
          </a:ln>
        </p:spPr>
      </p:sp>
      <p:sp>
        <p:nvSpPr>
          <p:cNvPr id="67" name="Shape 65"/>
          <p:cNvSpPr/>
          <p:nvPr/>
        </p:nvSpPr>
        <p:spPr>
          <a:xfrm>
            <a:off x="9016652" y="3997511"/>
            <a:ext cx="1121898" cy="328832"/>
          </a:xfrm>
          <a:prstGeom prst="ellipse">
            <a:avLst/>
          </a:prstGeom>
          <a:solidFill>
            <a:srgbClr val="EAF3FB"/>
          </a:solidFill>
          <a:ln w="12700">
            <a:solidFill>
              <a:srgbClr val="76A7D1"/>
            </a:solidFill>
            <a:prstDash val="solid"/>
          </a:ln>
        </p:spPr>
      </p:sp>
      <p:sp>
        <p:nvSpPr>
          <p:cNvPr id="68" name="Text 66"/>
          <p:cNvSpPr/>
          <p:nvPr/>
        </p:nvSpPr>
        <p:spPr>
          <a:xfrm>
            <a:off x="9034940" y="3997511"/>
            <a:ext cx="1085322" cy="3288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50" dirty="0">
                <a:solidFill>
                  <a:srgbClr val="1932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购票人</a:t>
            </a:r>
            <a:endParaRPr lang="en-US" sz="950" dirty="0"/>
          </a:p>
        </p:txBody>
      </p:sp>
      <p:sp>
        <p:nvSpPr>
          <p:cNvPr id="69" name="Shape 67"/>
          <p:cNvSpPr/>
          <p:nvPr/>
        </p:nvSpPr>
        <p:spPr>
          <a:xfrm>
            <a:off x="9577601" y="3746051"/>
            <a:ext cx="914" cy="251460"/>
          </a:xfrm>
          <a:prstGeom prst="line">
            <a:avLst/>
          </a:prstGeom>
          <a:noFill/>
          <a:ln w="12700">
            <a:solidFill>
              <a:srgbClr val="6F8DA7"/>
            </a:solidFill>
            <a:prstDash val="solid"/>
          </a:ln>
        </p:spPr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7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28600"/>
            <a:ext cx="11338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1932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4. 请求与销售统计：概念模型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411480" y="640080"/>
            <a:ext cx="113385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63758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购票请求记录成功或失败；支付成功订单派生销售统计。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10058400" y="283464"/>
            <a:ext cx="1691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000" dirty="0">
                <a:solidFill>
                  <a:srgbClr val="2F75B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概念模型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971691" y="2531833"/>
            <a:ext cx="1526345" cy="588733"/>
          </a:xfrm>
          <a:prstGeom prst="rect">
            <a:avLst/>
          </a:prstGeom>
          <a:solidFill>
            <a:srgbClr val="5C9BD5"/>
          </a:solidFill>
          <a:ln w="12700">
            <a:solidFill>
              <a:srgbClr val="2F75B5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71691" y="2531833"/>
            <a:ext cx="1526345" cy="588733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用户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3697306" y="1550611"/>
            <a:ext cx="1526345" cy="588733"/>
          </a:xfrm>
          <a:prstGeom prst="rect">
            <a:avLst/>
          </a:prstGeom>
          <a:solidFill>
            <a:srgbClr val="5C9BD5"/>
          </a:solidFill>
          <a:ln w="12700">
            <a:solidFill>
              <a:srgbClr val="2F75B5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697306" y="1550611"/>
            <a:ext cx="1526345" cy="588733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演出场次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6095848" y="1550611"/>
            <a:ext cx="1526345" cy="588733"/>
          </a:xfrm>
          <a:prstGeom prst="rect">
            <a:avLst/>
          </a:prstGeom>
          <a:solidFill>
            <a:srgbClr val="5C9BD5"/>
          </a:solidFill>
          <a:ln w="12700">
            <a:solidFill>
              <a:srgbClr val="2F75B5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095848" y="1550611"/>
            <a:ext cx="1526345" cy="588733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票档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697306" y="2531833"/>
            <a:ext cx="1744394" cy="588733"/>
          </a:xfrm>
          <a:prstGeom prst="rect">
            <a:avLst/>
          </a:prstGeom>
          <a:solidFill>
            <a:srgbClr val="5C9BD5"/>
          </a:solidFill>
          <a:ln w="12700">
            <a:solidFill>
              <a:srgbClr val="2F75B5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697306" y="2531833"/>
            <a:ext cx="1744394" cy="588733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购票请求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8058291" y="2531833"/>
            <a:ext cx="1526345" cy="588733"/>
          </a:xfrm>
          <a:prstGeom prst="rect">
            <a:avLst/>
          </a:prstGeom>
          <a:solidFill>
            <a:srgbClr val="5C9BD5"/>
          </a:solidFill>
          <a:ln w="12700">
            <a:solidFill>
              <a:srgbClr val="2F75B5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058291" y="2531833"/>
            <a:ext cx="1526345" cy="588733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订单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8058291" y="3949153"/>
            <a:ext cx="1744394" cy="588733"/>
          </a:xfrm>
          <a:prstGeom prst="rect">
            <a:avLst/>
          </a:prstGeom>
          <a:solidFill>
            <a:srgbClr val="5C9BD5"/>
          </a:solidFill>
          <a:ln w="12700">
            <a:solidFill>
              <a:srgbClr val="2F75B5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058291" y="3949153"/>
            <a:ext cx="1744394" cy="588733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销售统计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2498035" y="2826199"/>
            <a:ext cx="599635" cy="914"/>
          </a:xfrm>
          <a:prstGeom prst="line">
            <a:avLst/>
          </a:prstGeom>
          <a:noFill/>
          <a:ln w="13335">
            <a:solidFill>
              <a:srgbClr val="6F8DA7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3097671" y="2826199"/>
            <a:ext cx="914" cy="914"/>
          </a:xfrm>
          <a:prstGeom prst="line">
            <a:avLst/>
          </a:prstGeom>
          <a:noFill/>
          <a:ln w="13335">
            <a:solidFill>
              <a:srgbClr val="6F8DA7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3097671" y="2826199"/>
            <a:ext cx="599635" cy="914"/>
          </a:xfrm>
          <a:prstGeom prst="line">
            <a:avLst/>
          </a:prstGeom>
          <a:noFill/>
          <a:ln w="13335">
            <a:solidFill>
              <a:srgbClr val="6F8DA7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2541645" y="2742145"/>
            <a:ext cx="20116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1932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</a:t>
            </a:r>
            <a:endParaRPr lang="en-US" sz="850" dirty="0"/>
          </a:p>
        </p:txBody>
      </p:sp>
      <p:sp>
        <p:nvSpPr>
          <p:cNvPr id="21" name="Text 19"/>
          <p:cNvSpPr/>
          <p:nvPr/>
        </p:nvSpPr>
        <p:spPr>
          <a:xfrm>
            <a:off x="3522867" y="2742145"/>
            <a:ext cx="20116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1932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N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2596157" y="2411906"/>
            <a:ext cx="1003026" cy="414294"/>
          </a:xfrm>
          <a:prstGeom prst="diamond">
            <a:avLst/>
          </a:prstGeom>
          <a:solidFill>
            <a:srgbClr val="FFF4D8"/>
          </a:solidFill>
          <a:ln w="12700">
            <a:solidFill>
              <a:srgbClr val="D49B26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2596157" y="2411906"/>
            <a:ext cx="1003026" cy="41429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50" dirty="0">
                <a:solidFill>
                  <a:srgbClr val="6B4B0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记录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4460478" y="2139344"/>
            <a:ext cx="914" cy="174439"/>
          </a:xfrm>
          <a:prstGeom prst="line">
            <a:avLst/>
          </a:prstGeom>
          <a:noFill/>
          <a:ln w="13335">
            <a:solidFill>
              <a:srgbClr val="6F8DA7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4460478" y="2313784"/>
            <a:ext cx="914" cy="914"/>
          </a:xfrm>
          <a:prstGeom prst="line">
            <a:avLst/>
          </a:prstGeom>
          <a:noFill/>
          <a:ln w="13335">
            <a:solidFill>
              <a:srgbClr val="6F8DA7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4460478" y="2313784"/>
            <a:ext cx="109025" cy="218049"/>
          </a:xfrm>
          <a:prstGeom prst="line">
            <a:avLst/>
          </a:prstGeom>
          <a:noFill/>
          <a:ln w="13335">
            <a:solidFill>
              <a:srgbClr val="6F8DA7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504088" y="2055290"/>
            <a:ext cx="20116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1932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</a:t>
            </a:r>
            <a:endParaRPr lang="en-US" sz="850" dirty="0"/>
          </a:p>
        </p:txBody>
      </p:sp>
      <p:sp>
        <p:nvSpPr>
          <p:cNvPr id="28" name="Text 26"/>
          <p:cNvSpPr/>
          <p:nvPr/>
        </p:nvSpPr>
        <p:spPr>
          <a:xfrm>
            <a:off x="4395064" y="2447778"/>
            <a:ext cx="20116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1932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N</a:t>
            </a:r>
            <a:endParaRPr lang="en-US" sz="850" dirty="0"/>
          </a:p>
        </p:txBody>
      </p:sp>
      <p:sp>
        <p:nvSpPr>
          <p:cNvPr id="29" name="Shape 27"/>
          <p:cNvSpPr/>
          <p:nvPr/>
        </p:nvSpPr>
        <p:spPr>
          <a:xfrm>
            <a:off x="3958965" y="1899490"/>
            <a:ext cx="1003026" cy="414294"/>
          </a:xfrm>
          <a:prstGeom prst="diamond">
            <a:avLst/>
          </a:prstGeom>
          <a:solidFill>
            <a:srgbClr val="FFF4D8"/>
          </a:solidFill>
          <a:ln w="12700">
            <a:solidFill>
              <a:srgbClr val="D49B26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3958965" y="1899490"/>
            <a:ext cx="1003026" cy="41429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50" dirty="0">
                <a:solidFill>
                  <a:srgbClr val="6B4B0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针对</a:t>
            </a:r>
            <a:endParaRPr lang="en-US" sz="950" dirty="0"/>
          </a:p>
        </p:txBody>
      </p:sp>
      <p:sp>
        <p:nvSpPr>
          <p:cNvPr id="31" name="Shape 29"/>
          <p:cNvSpPr/>
          <p:nvPr/>
        </p:nvSpPr>
        <p:spPr>
          <a:xfrm>
            <a:off x="6859020" y="2139344"/>
            <a:ext cx="914" cy="174439"/>
          </a:xfrm>
          <a:prstGeom prst="line">
            <a:avLst/>
          </a:prstGeom>
          <a:noFill/>
          <a:ln w="13335">
            <a:solidFill>
              <a:srgbClr val="6F8DA7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5986823" y="2313784"/>
            <a:ext cx="872197" cy="914"/>
          </a:xfrm>
          <a:prstGeom prst="line">
            <a:avLst/>
          </a:prstGeom>
          <a:noFill/>
          <a:ln w="13335">
            <a:solidFill>
              <a:srgbClr val="6F8DA7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5986823" y="2313784"/>
            <a:ext cx="914" cy="218049"/>
          </a:xfrm>
          <a:prstGeom prst="line">
            <a:avLst/>
          </a:prstGeom>
          <a:noFill/>
          <a:ln w="13335">
            <a:solidFill>
              <a:srgbClr val="6F8DA7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6902630" y="2055290"/>
            <a:ext cx="20116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1932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</a:t>
            </a:r>
            <a:endParaRPr lang="en-US" sz="850" dirty="0"/>
          </a:p>
        </p:txBody>
      </p:sp>
      <p:sp>
        <p:nvSpPr>
          <p:cNvPr id="35" name="Text 33"/>
          <p:cNvSpPr/>
          <p:nvPr/>
        </p:nvSpPr>
        <p:spPr>
          <a:xfrm>
            <a:off x="5812384" y="2447778"/>
            <a:ext cx="20116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1932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N</a:t>
            </a:r>
            <a:endParaRPr lang="en-US" sz="850" dirty="0"/>
          </a:p>
        </p:txBody>
      </p:sp>
      <p:sp>
        <p:nvSpPr>
          <p:cNvPr id="36" name="Shape 34"/>
          <p:cNvSpPr/>
          <p:nvPr/>
        </p:nvSpPr>
        <p:spPr>
          <a:xfrm>
            <a:off x="5485310" y="1899490"/>
            <a:ext cx="1003026" cy="414294"/>
          </a:xfrm>
          <a:prstGeom prst="diamond">
            <a:avLst/>
          </a:prstGeom>
          <a:solidFill>
            <a:srgbClr val="FFF4D8"/>
          </a:solidFill>
          <a:ln w="12700">
            <a:solidFill>
              <a:srgbClr val="D49B26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5485310" y="1899490"/>
            <a:ext cx="1003026" cy="41429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50" dirty="0">
                <a:solidFill>
                  <a:srgbClr val="6B4B0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请求票档</a:t>
            </a:r>
            <a:endParaRPr lang="en-US" sz="950" dirty="0"/>
          </a:p>
        </p:txBody>
      </p:sp>
      <p:sp>
        <p:nvSpPr>
          <p:cNvPr id="38" name="Shape 36"/>
          <p:cNvSpPr/>
          <p:nvPr/>
        </p:nvSpPr>
        <p:spPr>
          <a:xfrm>
            <a:off x="9584635" y="2826199"/>
            <a:ext cx="872197" cy="914"/>
          </a:xfrm>
          <a:prstGeom prst="line">
            <a:avLst/>
          </a:prstGeom>
          <a:noFill/>
          <a:ln w="13335">
            <a:solidFill>
              <a:srgbClr val="6F8DA7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10456832" y="2826199"/>
            <a:ext cx="914" cy="741367"/>
          </a:xfrm>
          <a:prstGeom prst="line">
            <a:avLst/>
          </a:prstGeom>
          <a:noFill/>
          <a:ln w="13335">
            <a:solidFill>
              <a:srgbClr val="6F8DA7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9802685" y="3567567"/>
            <a:ext cx="654148" cy="914"/>
          </a:xfrm>
          <a:prstGeom prst="line">
            <a:avLst/>
          </a:prstGeom>
          <a:noFill/>
          <a:ln w="13335">
            <a:solidFill>
              <a:srgbClr val="6F8DA7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9802685" y="3567567"/>
            <a:ext cx="914" cy="675953"/>
          </a:xfrm>
          <a:prstGeom prst="line">
            <a:avLst/>
          </a:prstGeom>
          <a:noFill/>
          <a:ln w="13335">
            <a:solidFill>
              <a:srgbClr val="6F8DA7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9628245" y="2742145"/>
            <a:ext cx="20116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1932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</a:t>
            </a:r>
            <a:endParaRPr lang="en-US" sz="850" dirty="0"/>
          </a:p>
        </p:txBody>
      </p:sp>
      <p:sp>
        <p:nvSpPr>
          <p:cNvPr id="43" name="Text 41"/>
          <p:cNvSpPr/>
          <p:nvPr/>
        </p:nvSpPr>
        <p:spPr>
          <a:xfrm>
            <a:off x="9628245" y="4159465"/>
            <a:ext cx="20116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1932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N</a:t>
            </a:r>
            <a:endParaRPr lang="en-US" sz="850" dirty="0"/>
          </a:p>
        </p:txBody>
      </p:sp>
      <p:sp>
        <p:nvSpPr>
          <p:cNvPr id="44" name="Shape 42"/>
          <p:cNvSpPr/>
          <p:nvPr/>
        </p:nvSpPr>
        <p:spPr>
          <a:xfrm>
            <a:off x="9955319" y="3153273"/>
            <a:ext cx="1003026" cy="414294"/>
          </a:xfrm>
          <a:prstGeom prst="diamond">
            <a:avLst/>
          </a:prstGeom>
          <a:solidFill>
            <a:srgbClr val="FFF4D8"/>
          </a:solidFill>
          <a:ln w="12700">
            <a:solidFill>
              <a:srgbClr val="D49B26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9955319" y="3153273"/>
            <a:ext cx="1003026" cy="41429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50" dirty="0">
                <a:solidFill>
                  <a:srgbClr val="6B4B0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支付成功后汇总</a:t>
            </a:r>
            <a:endParaRPr lang="en-US" sz="950" dirty="0"/>
          </a:p>
        </p:txBody>
      </p:sp>
      <p:sp>
        <p:nvSpPr>
          <p:cNvPr id="46" name="Shape 44"/>
          <p:cNvSpPr/>
          <p:nvPr/>
        </p:nvSpPr>
        <p:spPr>
          <a:xfrm>
            <a:off x="3937160" y="3513054"/>
            <a:ext cx="1264686" cy="370684"/>
          </a:xfrm>
          <a:prstGeom prst="ellipse">
            <a:avLst/>
          </a:prstGeom>
          <a:solidFill>
            <a:srgbClr val="EAF3FB"/>
          </a:solidFill>
          <a:ln w="12700">
            <a:solidFill>
              <a:srgbClr val="76A7D1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3955448" y="3513054"/>
            <a:ext cx="1228110" cy="3706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50" dirty="0">
                <a:solidFill>
                  <a:srgbClr val="1932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处理结果</a:t>
            </a:r>
            <a:endParaRPr lang="en-US" sz="950" dirty="0"/>
          </a:p>
        </p:txBody>
      </p:sp>
      <p:sp>
        <p:nvSpPr>
          <p:cNvPr id="48" name="Shape 46"/>
          <p:cNvSpPr/>
          <p:nvPr/>
        </p:nvSpPr>
        <p:spPr>
          <a:xfrm>
            <a:off x="4569503" y="3120566"/>
            <a:ext cx="914" cy="392489"/>
          </a:xfrm>
          <a:prstGeom prst="line">
            <a:avLst/>
          </a:prstGeom>
          <a:noFill/>
          <a:ln w="12700">
            <a:solidFill>
              <a:srgbClr val="6F8DA7"/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8298145" y="4494276"/>
            <a:ext cx="1744394" cy="370684"/>
          </a:xfrm>
          <a:prstGeom prst="ellipse">
            <a:avLst/>
          </a:prstGeom>
          <a:solidFill>
            <a:srgbClr val="EAF3FB"/>
          </a:solidFill>
          <a:ln w="12700">
            <a:solidFill>
              <a:srgbClr val="76A7D1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8316433" y="4494276"/>
            <a:ext cx="1707818" cy="3706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50" dirty="0">
                <a:solidFill>
                  <a:srgbClr val="1932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销售数量/金额</a:t>
            </a:r>
            <a:endParaRPr lang="en-US" sz="950" dirty="0"/>
          </a:p>
        </p:txBody>
      </p:sp>
      <p:sp>
        <p:nvSpPr>
          <p:cNvPr id="51" name="Shape 49"/>
          <p:cNvSpPr/>
          <p:nvPr/>
        </p:nvSpPr>
        <p:spPr>
          <a:xfrm>
            <a:off x="8930488" y="4494276"/>
            <a:ext cx="239854" cy="43610"/>
          </a:xfrm>
          <a:prstGeom prst="line">
            <a:avLst/>
          </a:prstGeom>
          <a:noFill/>
          <a:ln w="12700">
            <a:solidFill>
              <a:srgbClr val="6F8DA7"/>
            </a:solidFill>
            <a:prstDash val="solid"/>
          </a:ln>
        </p:spPr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7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28600"/>
            <a:ext cx="11338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1932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1. 演出基础表：逻辑模型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411480" y="640080"/>
            <a:ext cx="113385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63758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PK/FK 字段保留在可编辑表格中；连线端点对齐到字段行。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10058400" y="283464"/>
            <a:ext cx="1691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000" dirty="0">
                <a:solidFill>
                  <a:srgbClr val="2F75B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逻辑模型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1391260" y="1335024"/>
            <a:ext cx="2016252" cy="806501"/>
          </a:xfrm>
          <a:prstGeom prst="rect">
            <a:avLst/>
          </a:prstGeom>
          <a:solidFill>
            <a:srgbClr val="FFFFFF"/>
          </a:solidFill>
          <a:ln w="12700">
            <a:solidFill>
              <a:srgbClr val="76A7D1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391260" y="1335024"/>
            <a:ext cx="2016252" cy="288036"/>
          </a:xfrm>
          <a:prstGeom prst="rect">
            <a:avLst/>
          </a:prstGeom>
          <a:solidFill>
            <a:srgbClr val="5C9BD5"/>
          </a:solidFill>
          <a:ln w="6350">
            <a:solidFill>
              <a:srgbClr val="5C9BD5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446124" y="1335024"/>
            <a:ext cx="1906524" cy="2880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CITY 城市</a:t>
            </a:r>
            <a:endParaRPr lang="en-US" sz="850" dirty="0"/>
          </a:p>
        </p:txBody>
      </p:sp>
      <p:sp>
        <p:nvSpPr>
          <p:cNvPr id="8" name="Shape 6"/>
          <p:cNvSpPr/>
          <p:nvPr/>
        </p:nvSpPr>
        <p:spPr>
          <a:xfrm>
            <a:off x="1391260" y="1930298"/>
            <a:ext cx="2016252" cy="0"/>
          </a:xfrm>
          <a:prstGeom prst="line">
            <a:avLst/>
          </a:prstGeom>
          <a:noFill/>
          <a:ln w="5715">
            <a:solidFill>
              <a:srgbClr val="D7E3ED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446124" y="1709471"/>
            <a:ext cx="256032" cy="2208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20" b="1" dirty="0">
                <a:solidFill>
                  <a:srgbClr val="A768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PK</a:t>
            </a:r>
            <a:endParaRPr lang="en-US" sz="720" dirty="0"/>
          </a:p>
        </p:txBody>
      </p:sp>
      <p:sp>
        <p:nvSpPr>
          <p:cNvPr id="10" name="Text 8"/>
          <p:cNvSpPr/>
          <p:nvPr/>
        </p:nvSpPr>
        <p:spPr>
          <a:xfrm>
            <a:off x="1775308" y="1709471"/>
            <a:ext cx="1577340" cy="2208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80" dirty="0">
                <a:solidFill>
                  <a:srgbClr val="1932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city_id</a:t>
            </a:r>
            <a:endParaRPr lang="en-US" sz="780" dirty="0"/>
          </a:p>
        </p:txBody>
      </p:sp>
      <p:sp>
        <p:nvSpPr>
          <p:cNvPr id="11" name="Shape 9"/>
          <p:cNvSpPr/>
          <p:nvPr/>
        </p:nvSpPr>
        <p:spPr>
          <a:xfrm>
            <a:off x="1391260" y="2151126"/>
            <a:ext cx="2016252" cy="0"/>
          </a:xfrm>
          <a:prstGeom prst="line">
            <a:avLst/>
          </a:prstGeom>
          <a:noFill/>
          <a:ln w="5715">
            <a:solidFill>
              <a:srgbClr val="D7E3ED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446124" y="1930298"/>
            <a:ext cx="256032" cy="2208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endParaRPr lang="en-US" sz="720" dirty="0"/>
          </a:p>
        </p:txBody>
      </p:sp>
      <p:sp>
        <p:nvSpPr>
          <p:cNvPr id="13" name="Text 11"/>
          <p:cNvSpPr/>
          <p:nvPr/>
        </p:nvSpPr>
        <p:spPr>
          <a:xfrm>
            <a:off x="1775308" y="1930298"/>
            <a:ext cx="1577340" cy="2208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80" dirty="0">
                <a:solidFill>
                  <a:srgbClr val="1932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city_name</a:t>
            </a:r>
            <a:endParaRPr lang="en-US" sz="780" dirty="0"/>
          </a:p>
        </p:txBody>
      </p:sp>
      <p:sp>
        <p:nvSpPr>
          <p:cNvPr id="14" name="Shape 12"/>
          <p:cNvSpPr/>
          <p:nvPr/>
        </p:nvSpPr>
        <p:spPr>
          <a:xfrm>
            <a:off x="3791560" y="1335024"/>
            <a:ext cx="2016252" cy="806501"/>
          </a:xfrm>
          <a:prstGeom prst="rect">
            <a:avLst/>
          </a:prstGeom>
          <a:solidFill>
            <a:srgbClr val="FFFFFF"/>
          </a:solidFill>
          <a:ln w="12700">
            <a:solidFill>
              <a:srgbClr val="76A7D1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3791560" y="1335024"/>
            <a:ext cx="2016252" cy="288036"/>
          </a:xfrm>
          <a:prstGeom prst="rect">
            <a:avLst/>
          </a:prstGeom>
          <a:solidFill>
            <a:srgbClr val="5C9BD5"/>
          </a:solidFill>
          <a:ln w="6350">
            <a:solidFill>
              <a:srgbClr val="5C9BD5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846424" y="1335024"/>
            <a:ext cx="1906524" cy="2880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CATEGORY 演出类型</a:t>
            </a:r>
            <a:endParaRPr lang="en-US" sz="850" dirty="0"/>
          </a:p>
        </p:txBody>
      </p:sp>
      <p:sp>
        <p:nvSpPr>
          <p:cNvPr id="17" name="Shape 15"/>
          <p:cNvSpPr/>
          <p:nvPr/>
        </p:nvSpPr>
        <p:spPr>
          <a:xfrm>
            <a:off x="3791560" y="1930298"/>
            <a:ext cx="2016252" cy="0"/>
          </a:xfrm>
          <a:prstGeom prst="line">
            <a:avLst/>
          </a:prstGeom>
          <a:noFill/>
          <a:ln w="5715">
            <a:solidFill>
              <a:srgbClr val="D7E3ED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846424" y="1709471"/>
            <a:ext cx="256032" cy="2208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20" b="1" dirty="0">
                <a:solidFill>
                  <a:srgbClr val="A768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PK</a:t>
            </a:r>
            <a:endParaRPr lang="en-US" sz="720" dirty="0"/>
          </a:p>
        </p:txBody>
      </p:sp>
      <p:sp>
        <p:nvSpPr>
          <p:cNvPr id="19" name="Text 17"/>
          <p:cNvSpPr/>
          <p:nvPr/>
        </p:nvSpPr>
        <p:spPr>
          <a:xfrm>
            <a:off x="4175608" y="1709471"/>
            <a:ext cx="1577340" cy="2208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80" dirty="0">
                <a:solidFill>
                  <a:srgbClr val="1932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category_id</a:t>
            </a:r>
            <a:endParaRPr lang="en-US" sz="780" dirty="0"/>
          </a:p>
        </p:txBody>
      </p:sp>
      <p:sp>
        <p:nvSpPr>
          <p:cNvPr id="20" name="Shape 18"/>
          <p:cNvSpPr/>
          <p:nvPr/>
        </p:nvSpPr>
        <p:spPr>
          <a:xfrm>
            <a:off x="3791560" y="2151126"/>
            <a:ext cx="2016252" cy="0"/>
          </a:xfrm>
          <a:prstGeom prst="line">
            <a:avLst/>
          </a:prstGeom>
          <a:noFill/>
          <a:ln w="5715">
            <a:solidFill>
              <a:srgbClr val="D7E3ED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846424" y="1930298"/>
            <a:ext cx="256032" cy="2208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endParaRPr lang="en-US" sz="720" dirty="0"/>
          </a:p>
        </p:txBody>
      </p:sp>
      <p:sp>
        <p:nvSpPr>
          <p:cNvPr id="22" name="Text 20"/>
          <p:cNvSpPr/>
          <p:nvPr/>
        </p:nvSpPr>
        <p:spPr>
          <a:xfrm>
            <a:off x="4175608" y="1930298"/>
            <a:ext cx="1577340" cy="2208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80" dirty="0">
                <a:solidFill>
                  <a:srgbClr val="1932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category_name</a:t>
            </a:r>
            <a:endParaRPr lang="en-US" sz="780" dirty="0"/>
          </a:p>
        </p:txBody>
      </p:sp>
      <p:sp>
        <p:nvSpPr>
          <p:cNvPr id="23" name="Shape 21"/>
          <p:cNvSpPr/>
          <p:nvPr/>
        </p:nvSpPr>
        <p:spPr>
          <a:xfrm>
            <a:off x="6191860" y="1335024"/>
            <a:ext cx="2016252" cy="1027328"/>
          </a:xfrm>
          <a:prstGeom prst="rect">
            <a:avLst/>
          </a:prstGeom>
          <a:solidFill>
            <a:srgbClr val="FFFFFF"/>
          </a:solidFill>
          <a:ln w="12700">
            <a:solidFill>
              <a:srgbClr val="76A7D1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6191860" y="1335024"/>
            <a:ext cx="2016252" cy="288036"/>
          </a:xfrm>
          <a:prstGeom prst="rect">
            <a:avLst/>
          </a:prstGeom>
          <a:solidFill>
            <a:srgbClr val="5C9BD5"/>
          </a:solidFill>
          <a:ln w="6350">
            <a:solidFill>
              <a:srgbClr val="5C9BD5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246724" y="1335024"/>
            <a:ext cx="1906524" cy="2880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ADMIN 管理员</a:t>
            </a:r>
            <a:endParaRPr lang="en-US" sz="850" dirty="0"/>
          </a:p>
        </p:txBody>
      </p:sp>
      <p:sp>
        <p:nvSpPr>
          <p:cNvPr id="26" name="Shape 24"/>
          <p:cNvSpPr/>
          <p:nvPr/>
        </p:nvSpPr>
        <p:spPr>
          <a:xfrm>
            <a:off x="6191860" y="1930298"/>
            <a:ext cx="2016252" cy="0"/>
          </a:xfrm>
          <a:prstGeom prst="line">
            <a:avLst/>
          </a:prstGeom>
          <a:noFill/>
          <a:ln w="5715">
            <a:solidFill>
              <a:srgbClr val="D7E3ED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246724" y="1709471"/>
            <a:ext cx="256032" cy="2208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20" b="1" dirty="0">
                <a:solidFill>
                  <a:srgbClr val="A768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PK</a:t>
            </a:r>
            <a:endParaRPr lang="en-US" sz="720" dirty="0"/>
          </a:p>
        </p:txBody>
      </p:sp>
      <p:sp>
        <p:nvSpPr>
          <p:cNvPr id="28" name="Text 26"/>
          <p:cNvSpPr/>
          <p:nvPr/>
        </p:nvSpPr>
        <p:spPr>
          <a:xfrm>
            <a:off x="6575908" y="1709471"/>
            <a:ext cx="1577340" cy="2208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80" dirty="0">
                <a:solidFill>
                  <a:srgbClr val="1932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admin_id</a:t>
            </a:r>
            <a:endParaRPr lang="en-US" sz="780" dirty="0"/>
          </a:p>
        </p:txBody>
      </p:sp>
      <p:sp>
        <p:nvSpPr>
          <p:cNvPr id="29" name="Shape 27"/>
          <p:cNvSpPr/>
          <p:nvPr/>
        </p:nvSpPr>
        <p:spPr>
          <a:xfrm>
            <a:off x="6191860" y="2151126"/>
            <a:ext cx="2016252" cy="0"/>
          </a:xfrm>
          <a:prstGeom prst="line">
            <a:avLst/>
          </a:prstGeom>
          <a:noFill/>
          <a:ln w="5715">
            <a:solidFill>
              <a:srgbClr val="D7E3ED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246724" y="1930298"/>
            <a:ext cx="256032" cy="2208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endParaRPr lang="en-US" sz="720" dirty="0"/>
          </a:p>
        </p:txBody>
      </p:sp>
      <p:sp>
        <p:nvSpPr>
          <p:cNvPr id="31" name="Text 29"/>
          <p:cNvSpPr/>
          <p:nvPr/>
        </p:nvSpPr>
        <p:spPr>
          <a:xfrm>
            <a:off x="6575908" y="1930298"/>
            <a:ext cx="1577340" cy="2208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80" dirty="0">
                <a:solidFill>
                  <a:srgbClr val="1932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username</a:t>
            </a:r>
            <a:endParaRPr lang="en-US" sz="780" dirty="0"/>
          </a:p>
        </p:txBody>
      </p:sp>
      <p:sp>
        <p:nvSpPr>
          <p:cNvPr id="32" name="Shape 30"/>
          <p:cNvSpPr/>
          <p:nvPr/>
        </p:nvSpPr>
        <p:spPr>
          <a:xfrm>
            <a:off x="6191860" y="2371954"/>
            <a:ext cx="2016252" cy="0"/>
          </a:xfrm>
          <a:prstGeom prst="line">
            <a:avLst/>
          </a:prstGeom>
          <a:noFill/>
          <a:ln w="5715">
            <a:solidFill>
              <a:srgbClr val="D7E3ED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6246724" y="2151126"/>
            <a:ext cx="256032" cy="2208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endParaRPr lang="en-US" sz="720" dirty="0"/>
          </a:p>
        </p:txBody>
      </p:sp>
      <p:sp>
        <p:nvSpPr>
          <p:cNvPr id="34" name="Text 32"/>
          <p:cNvSpPr/>
          <p:nvPr/>
        </p:nvSpPr>
        <p:spPr>
          <a:xfrm>
            <a:off x="6575908" y="2151126"/>
            <a:ext cx="1577340" cy="2208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80" dirty="0">
                <a:solidFill>
                  <a:srgbClr val="1932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password</a:t>
            </a:r>
            <a:endParaRPr lang="en-US" sz="780" dirty="0"/>
          </a:p>
        </p:txBody>
      </p:sp>
      <p:sp>
        <p:nvSpPr>
          <p:cNvPr id="35" name="Shape 33"/>
          <p:cNvSpPr/>
          <p:nvPr/>
        </p:nvSpPr>
        <p:spPr>
          <a:xfrm>
            <a:off x="1391260" y="3447288"/>
            <a:ext cx="2016252" cy="1248156"/>
          </a:xfrm>
          <a:prstGeom prst="rect">
            <a:avLst/>
          </a:prstGeom>
          <a:solidFill>
            <a:srgbClr val="FFFFFF"/>
          </a:solidFill>
          <a:ln w="12700">
            <a:solidFill>
              <a:srgbClr val="76A7D1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1391260" y="3447288"/>
            <a:ext cx="2016252" cy="288036"/>
          </a:xfrm>
          <a:prstGeom prst="rect">
            <a:avLst/>
          </a:prstGeom>
          <a:solidFill>
            <a:srgbClr val="5C9BD5"/>
          </a:solidFill>
          <a:ln w="6350">
            <a:solidFill>
              <a:srgbClr val="5C9BD5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1446124" y="3447288"/>
            <a:ext cx="1906524" cy="2880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VENUE 场馆</a:t>
            </a:r>
            <a:endParaRPr lang="en-US" sz="850" dirty="0"/>
          </a:p>
        </p:txBody>
      </p:sp>
      <p:sp>
        <p:nvSpPr>
          <p:cNvPr id="38" name="Shape 36"/>
          <p:cNvSpPr/>
          <p:nvPr/>
        </p:nvSpPr>
        <p:spPr>
          <a:xfrm>
            <a:off x="1391260" y="4042562"/>
            <a:ext cx="2016252" cy="0"/>
          </a:xfrm>
          <a:prstGeom prst="line">
            <a:avLst/>
          </a:prstGeom>
          <a:noFill/>
          <a:ln w="5715">
            <a:solidFill>
              <a:srgbClr val="D7E3ED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1446124" y="3821735"/>
            <a:ext cx="256032" cy="2208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20" b="1" dirty="0">
                <a:solidFill>
                  <a:srgbClr val="A768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PK</a:t>
            </a:r>
            <a:endParaRPr lang="en-US" sz="720" dirty="0"/>
          </a:p>
        </p:txBody>
      </p:sp>
      <p:sp>
        <p:nvSpPr>
          <p:cNvPr id="40" name="Text 38"/>
          <p:cNvSpPr/>
          <p:nvPr/>
        </p:nvSpPr>
        <p:spPr>
          <a:xfrm>
            <a:off x="1775308" y="3821735"/>
            <a:ext cx="1577340" cy="2208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80" dirty="0">
                <a:solidFill>
                  <a:srgbClr val="1932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venue_id</a:t>
            </a:r>
            <a:endParaRPr lang="en-US" sz="780" dirty="0"/>
          </a:p>
        </p:txBody>
      </p:sp>
      <p:sp>
        <p:nvSpPr>
          <p:cNvPr id="41" name="Shape 39"/>
          <p:cNvSpPr/>
          <p:nvPr/>
        </p:nvSpPr>
        <p:spPr>
          <a:xfrm>
            <a:off x="1391260" y="4263390"/>
            <a:ext cx="2016252" cy="0"/>
          </a:xfrm>
          <a:prstGeom prst="line">
            <a:avLst/>
          </a:prstGeom>
          <a:noFill/>
          <a:ln w="5715">
            <a:solidFill>
              <a:srgbClr val="D7E3ED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1446124" y="4042562"/>
            <a:ext cx="256032" cy="2208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20" b="1" dirty="0">
                <a:solidFill>
                  <a:srgbClr val="2F75B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FK</a:t>
            </a:r>
            <a:endParaRPr lang="en-US" sz="720" dirty="0"/>
          </a:p>
        </p:txBody>
      </p:sp>
      <p:sp>
        <p:nvSpPr>
          <p:cNvPr id="43" name="Text 41"/>
          <p:cNvSpPr/>
          <p:nvPr/>
        </p:nvSpPr>
        <p:spPr>
          <a:xfrm>
            <a:off x="1775308" y="4042562"/>
            <a:ext cx="1577340" cy="2208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80" dirty="0">
                <a:solidFill>
                  <a:srgbClr val="1932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city_id</a:t>
            </a:r>
            <a:endParaRPr lang="en-US" sz="780" dirty="0"/>
          </a:p>
        </p:txBody>
      </p:sp>
      <p:sp>
        <p:nvSpPr>
          <p:cNvPr id="44" name="Shape 42"/>
          <p:cNvSpPr/>
          <p:nvPr/>
        </p:nvSpPr>
        <p:spPr>
          <a:xfrm>
            <a:off x="1391260" y="4484218"/>
            <a:ext cx="2016252" cy="0"/>
          </a:xfrm>
          <a:prstGeom prst="line">
            <a:avLst/>
          </a:prstGeom>
          <a:noFill/>
          <a:ln w="5715">
            <a:solidFill>
              <a:srgbClr val="D7E3ED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1446124" y="4263390"/>
            <a:ext cx="256032" cy="2208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endParaRPr lang="en-US" sz="720" dirty="0"/>
          </a:p>
        </p:txBody>
      </p:sp>
      <p:sp>
        <p:nvSpPr>
          <p:cNvPr id="46" name="Text 44"/>
          <p:cNvSpPr/>
          <p:nvPr/>
        </p:nvSpPr>
        <p:spPr>
          <a:xfrm>
            <a:off x="1775308" y="4263390"/>
            <a:ext cx="1577340" cy="2208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80" dirty="0">
                <a:solidFill>
                  <a:srgbClr val="1932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venue_name</a:t>
            </a:r>
            <a:endParaRPr lang="en-US" sz="780" dirty="0"/>
          </a:p>
        </p:txBody>
      </p:sp>
      <p:sp>
        <p:nvSpPr>
          <p:cNvPr id="47" name="Shape 45"/>
          <p:cNvSpPr/>
          <p:nvPr/>
        </p:nvSpPr>
        <p:spPr>
          <a:xfrm>
            <a:off x="1391260" y="4705045"/>
            <a:ext cx="2016252" cy="0"/>
          </a:xfrm>
          <a:prstGeom prst="line">
            <a:avLst/>
          </a:prstGeom>
          <a:noFill/>
          <a:ln w="5715">
            <a:solidFill>
              <a:srgbClr val="D7E3ED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1446124" y="4484218"/>
            <a:ext cx="256032" cy="2208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endParaRPr lang="en-US" sz="720" dirty="0"/>
          </a:p>
        </p:txBody>
      </p:sp>
      <p:sp>
        <p:nvSpPr>
          <p:cNvPr id="49" name="Text 47"/>
          <p:cNvSpPr/>
          <p:nvPr/>
        </p:nvSpPr>
        <p:spPr>
          <a:xfrm>
            <a:off x="1775308" y="4484218"/>
            <a:ext cx="1577340" cy="2208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80" dirty="0">
                <a:solidFill>
                  <a:srgbClr val="1932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address</a:t>
            </a:r>
            <a:endParaRPr lang="en-US" sz="780" dirty="0"/>
          </a:p>
        </p:txBody>
      </p:sp>
      <p:sp>
        <p:nvSpPr>
          <p:cNvPr id="50" name="Shape 48"/>
          <p:cNvSpPr/>
          <p:nvPr/>
        </p:nvSpPr>
        <p:spPr>
          <a:xfrm>
            <a:off x="3791560" y="3447288"/>
            <a:ext cx="2016252" cy="1689811"/>
          </a:xfrm>
          <a:prstGeom prst="rect">
            <a:avLst/>
          </a:prstGeom>
          <a:solidFill>
            <a:srgbClr val="FFFFFF"/>
          </a:solidFill>
          <a:ln w="12700">
            <a:solidFill>
              <a:srgbClr val="76A7D1"/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3791560" y="3447288"/>
            <a:ext cx="2016252" cy="288036"/>
          </a:xfrm>
          <a:prstGeom prst="rect">
            <a:avLst/>
          </a:prstGeom>
          <a:solidFill>
            <a:srgbClr val="5C9BD5"/>
          </a:solidFill>
          <a:ln w="6350">
            <a:solidFill>
              <a:srgbClr val="5C9BD5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3846424" y="3447288"/>
            <a:ext cx="1906524" cy="2880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SHOW 演出</a:t>
            </a:r>
            <a:endParaRPr lang="en-US" sz="850" dirty="0"/>
          </a:p>
        </p:txBody>
      </p:sp>
      <p:sp>
        <p:nvSpPr>
          <p:cNvPr id="53" name="Shape 51"/>
          <p:cNvSpPr/>
          <p:nvPr/>
        </p:nvSpPr>
        <p:spPr>
          <a:xfrm>
            <a:off x="3791560" y="4042562"/>
            <a:ext cx="2016252" cy="0"/>
          </a:xfrm>
          <a:prstGeom prst="line">
            <a:avLst/>
          </a:prstGeom>
          <a:noFill/>
          <a:ln w="5715">
            <a:solidFill>
              <a:srgbClr val="D7E3ED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3846424" y="3821735"/>
            <a:ext cx="256032" cy="2208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20" b="1" dirty="0">
                <a:solidFill>
                  <a:srgbClr val="A768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PK</a:t>
            </a:r>
            <a:endParaRPr lang="en-US" sz="720" dirty="0"/>
          </a:p>
        </p:txBody>
      </p:sp>
      <p:sp>
        <p:nvSpPr>
          <p:cNvPr id="55" name="Text 53"/>
          <p:cNvSpPr/>
          <p:nvPr/>
        </p:nvSpPr>
        <p:spPr>
          <a:xfrm>
            <a:off x="4175608" y="3821735"/>
            <a:ext cx="1577340" cy="2208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80" dirty="0">
                <a:solidFill>
                  <a:srgbClr val="1932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show_id</a:t>
            </a:r>
            <a:endParaRPr lang="en-US" sz="780" dirty="0"/>
          </a:p>
        </p:txBody>
      </p:sp>
      <p:sp>
        <p:nvSpPr>
          <p:cNvPr id="56" name="Shape 54"/>
          <p:cNvSpPr/>
          <p:nvPr/>
        </p:nvSpPr>
        <p:spPr>
          <a:xfrm>
            <a:off x="3791560" y="4263390"/>
            <a:ext cx="2016252" cy="0"/>
          </a:xfrm>
          <a:prstGeom prst="line">
            <a:avLst/>
          </a:prstGeom>
          <a:noFill/>
          <a:ln w="5715">
            <a:solidFill>
              <a:srgbClr val="D7E3ED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3846424" y="4042562"/>
            <a:ext cx="256032" cy="2208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20" b="1" dirty="0">
                <a:solidFill>
                  <a:srgbClr val="2F75B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FK</a:t>
            </a:r>
            <a:endParaRPr lang="en-US" sz="720" dirty="0"/>
          </a:p>
        </p:txBody>
      </p:sp>
      <p:sp>
        <p:nvSpPr>
          <p:cNvPr id="58" name="Text 56"/>
          <p:cNvSpPr/>
          <p:nvPr/>
        </p:nvSpPr>
        <p:spPr>
          <a:xfrm>
            <a:off x="4175608" y="4042562"/>
            <a:ext cx="1577340" cy="2208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80" dirty="0">
                <a:solidFill>
                  <a:srgbClr val="1932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category_id</a:t>
            </a:r>
            <a:endParaRPr lang="en-US" sz="780" dirty="0"/>
          </a:p>
        </p:txBody>
      </p:sp>
      <p:sp>
        <p:nvSpPr>
          <p:cNvPr id="59" name="Shape 57"/>
          <p:cNvSpPr/>
          <p:nvPr/>
        </p:nvSpPr>
        <p:spPr>
          <a:xfrm>
            <a:off x="3791560" y="4484218"/>
            <a:ext cx="2016252" cy="0"/>
          </a:xfrm>
          <a:prstGeom prst="line">
            <a:avLst/>
          </a:prstGeom>
          <a:noFill/>
          <a:ln w="5715">
            <a:solidFill>
              <a:srgbClr val="D7E3ED"/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3846424" y="4263390"/>
            <a:ext cx="256032" cy="2208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20" b="1" dirty="0">
                <a:solidFill>
                  <a:srgbClr val="2F75B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FK</a:t>
            </a:r>
            <a:endParaRPr lang="en-US" sz="720" dirty="0"/>
          </a:p>
        </p:txBody>
      </p:sp>
      <p:sp>
        <p:nvSpPr>
          <p:cNvPr id="61" name="Text 59"/>
          <p:cNvSpPr/>
          <p:nvPr/>
        </p:nvSpPr>
        <p:spPr>
          <a:xfrm>
            <a:off x="4175608" y="4263390"/>
            <a:ext cx="1577340" cy="2208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80" dirty="0">
                <a:solidFill>
                  <a:srgbClr val="1932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city_id</a:t>
            </a:r>
            <a:endParaRPr lang="en-US" sz="780" dirty="0"/>
          </a:p>
        </p:txBody>
      </p:sp>
      <p:sp>
        <p:nvSpPr>
          <p:cNvPr id="62" name="Shape 60"/>
          <p:cNvSpPr/>
          <p:nvPr/>
        </p:nvSpPr>
        <p:spPr>
          <a:xfrm>
            <a:off x="3791560" y="4705045"/>
            <a:ext cx="2016252" cy="0"/>
          </a:xfrm>
          <a:prstGeom prst="line">
            <a:avLst/>
          </a:prstGeom>
          <a:noFill/>
          <a:ln w="5715">
            <a:solidFill>
              <a:srgbClr val="D7E3ED"/>
            </a:solidFill>
            <a:prstDash val="solid"/>
          </a:ln>
        </p:spPr>
      </p:sp>
      <p:sp>
        <p:nvSpPr>
          <p:cNvPr id="63" name="Text 61"/>
          <p:cNvSpPr/>
          <p:nvPr/>
        </p:nvSpPr>
        <p:spPr>
          <a:xfrm>
            <a:off x="3846424" y="4484218"/>
            <a:ext cx="256032" cy="2208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20" b="1" dirty="0">
                <a:solidFill>
                  <a:srgbClr val="2F75B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FK</a:t>
            </a:r>
            <a:endParaRPr lang="en-US" sz="720" dirty="0"/>
          </a:p>
        </p:txBody>
      </p:sp>
      <p:sp>
        <p:nvSpPr>
          <p:cNvPr id="64" name="Text 62"/>
          <p:cNvSpPr/>
          <p:nvPr/>
        </p:nvSpPr>
        <p:spPr>
          <a:xfrm>
            <a:off x="4175608" y="4484218"/>
            <a:ext cx="1577340" cy="2208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80" dirty="0">
                <a:solidFill>
                  <a:srgbClr val="1932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admin_id</a:t>
            </a:r>
            <a:endParaRPr lang="en-US" sz="780" dirty="0"/>
          </a:p>
        </p:txBody>
      </p:sp>
      <p:sp>
        <p:nvSpPr>
          <p:cNvPr id="65" name="Shape 63"/>
          <p:cNvSpPr/>
          <p:nvPr/>
        </p:nvSpPr>
        <p:spPr>
          <a:xfrm>
            <a:off x="3791560" y="4925873"/>
            <a:ext cx="2016252" cy="0"/>
          </a:xfrm>
          <a:prstGeom prst="line">
            <a:avLst/>
          </a:prstGeom>
          <a:noFill/>
          <a:ln w="5715">
            <a:solidFill>
              <a:srgbClr val="D7E3ED"/>
            </a:solidFill>
            <a:prstDash val="solid"/>
          </a:ln>
        </p:spPr>
      </p:sp>
      <p:sp>
        <p:nvSpPr>
          <p:cNvPr id="66" name="Text 64"/>
          <p:cNvSpPr/>
          <p:nvPr/>
        </p:nvSpPr>
        <p:spPr>
          <a:xfrm>
            <a:off x="3846424" y="4705045"/>
            <a:ext cx="256032" cy="2208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endParaRPr lang="en-US" sz="720" dirty="0"/>
          </a:p>
        </p:txBody>
      </p:sp>
      <p:sp>
        <p:nvSpPr>
          <p:cNvPr id="67" name="Text 65"/>
          <p:cNvSpPr/>
          <p:nvPr/>
        </p:nvSpPr>
        <p:spPr>
          <a:xfrm>
            <a:off x="4175608" y="4705045"/>
            <a:ext cx="1577340" cy="2208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80" dirty="0">
                <a:solidFill>
                  <a:srgbClr val="1932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show_name</a:t>
            </a:r>
            <a:endParaRPr lang="en-US" sz="780" dirty="0"/>
          </a:p>
        </p:txBody>
      </p:sp>
      <p:sp>
        <p:nvSpPr>
          <p:cNvPr id="68" name="Shape 66"/>
          <p:cNvSpPr/>
          <p:nvPr/>
        </p:nvSpPr>
        <p:spPr>
          <a:xfrm>
            <a:off x="3791560" y="5146700"/>
            <a:ext cx="2016252" cy="0"/>
          </a:xfrm>
          <a:prstGeom prst="line">
            <a:avLst/>
          </a:prstGeom>
          <a:noFill/>
          <a:ln w="5715">
            <a:solidFill>
              <a:srgbClr val="D7E3ED"/>
            </a:solidFill>
            <a:prstDash val="solid"/>
          </a:ln>
        </p:spPr>
      </p:sp>
      <p:sp>
        <p:nvSpPr>
          <p:cNvPr id="69" name="Text 67"/>
          <p:cNvSpPr/>
          <p:nvPr/>
        </p:nvSpPr>
        <p:spPr>
          <a:xfrm>
            <a:off x="3846424" y="4925873"/>
            <a:ext cx="256032" cy="2208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endParaRPr lang="en-US" sz="720" dirty="0"/>
          </a:p>
        </p:txBody>
      </p:sp>
      <p:sp>
        <p:nvSpPr>
          <p:cNvPr id="70" name="Text 68"/>
          <p:cNvSpPr/>
          <p:nvPr/>
        </p:nvSpPr>
        <p:spPr>
          <a:xfrm>
            <a:off x="4175608" y="4925873"/>
            <a:ext cx="1577340" cy="2208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80" dirty="0">
                <a:solidFill>
                  <a:srgbClr val="1932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description</a:t>
            </a:r>
            <a:endParaRPr lang="en-US" sz="780" dirty="0"/>
          </a:p>
        </p:txBody>
      </p:sp>
      <p:sp>
        <p:nvSpPr>
          <p:cNvPr id="71" name="Shape 69"/>
          <p:cNvSpPr/>
          <p:nvPr/>
        </p:nvSpPr>
        <p:spPr>
          <a:xfrm>
            <a:off x="6191860" y="3447288"/>
            <a:ext cx="2016252" cy="1468984"/>
          </a:xfrm>
          <a:prstGeom prst="rect">
            <a:avLst/>
          </a:prstGeom>
          <a:solidFill>
            <a:srgbClr val="FFFFFF"/>
          </a:solidFill>
          <a:ln w="12700">
            <a:solidFill>
              <a:srgbClr val="76A7D1"/>
            </a:solidFill>
            <a:prstDash val="solid"/>
          </a:ln>
        </p:spPr>
      </p:sp>
      <p:sp>
        <p:nvSpPr>
          <p:cNvPr id="72" name="Shape 70"/>
          <p:cNvSpPr/>
          <p:nvPr/>
        </p:nvSpPr>
        <p:spPr>
          <a:xfrm>
            <a:off x="6191860" y="3447288"/>
            <a:ext cx="2016252" cy="288036"/>
          </a:xfrm>
          <a:prstGeom prst="rect">
            <a:avLst/>
          </a:prstGeom>
          <a:solidFill>
            <a:srgbClr val="5C9BD5"/>
          </a:solidFill>
          <a:ln w="6350">
            <a:solidFill>
              <a:srgbClr val="5C9BD5"/>
            </a:solidFill>
            <a:prstDash val="solid"/>
          </a:ln>
        </p:spPr>
      </p:sp>
      <p:sp>
        <p:nvSpPr>
          <p:cNvPr id="73" name="Text 71"/>
          <p:cNvSpPr/>
          <p:nvPr/>
        </p:nvSpPr>
        <p:spPr>
          <a:xfrm>
            <a:off x="6246724" y="3447288"/>
            <a:ext cx="1906524" cy="2880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SHOW_SESSION 演出场次</a:t>
            </a:r>
            <a:endParaRPr lang="en-US" sz="850" dirty="0"/>
          </a:p>
        </p:txBody>
      </p:sp>
      <p:sp>
        <p:nvSpPr>
          <p:cNvPr id="74" name="Shape 72"/>
          <p:cNvSpPr/>
          <p:nvPr/>
        </p:nvSpPr>
        <p:spPr>
          <a:xfrm>
            <a:off x="6191860" y="4042562"/>
            <a:ext cx="2016252" cy="0"/>
          </a:xfrm>
          <a:prstGeom prst="line">
            <a:avLst/>
          </a:prstGeom>
          <a:noFill/>
          <a:ln w="5715">
            <a:solidFill>
              <a:srgbClr val="D7E3ED"/>
            </a:solidFill>
            <a:prstDash val="solid"/>
          </a:ln>
        </p:spPr>
      </p:sp>
      <p:sp>
        <p:nvSpPr>
          <p:cNvPr id="75" name="Text 73"/>
          <p:cNvSpPr/>
          <p:nvPr/>
        </p:nvSpPr>
        <p:spPr>
          <a:xfrm>
            <a:off x="6246724" y="3821735"/>
            <a:ext cx="256032" cy="2208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20" b="1" dirty="0">
                <a:solidFill>
                  <a:srgbClr val="A768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PK</a:t>
            </a:r>
            <a:endParaRPr lang="en-US" sz="720" dirty="0"/>
          </a:p>
        </p:txBody>
      </p:sp>
      <p:sp>
        <p:nvSpPr>
          <p:cNvPr id="76" name="Text 74"/>
          <p:cNvSpPr/>
          <p:nvPr/>
        </p:nvSpPr>
        <p:spPr>
          <a:xfrm>
            <a:off x="6575908" y="3821735"/>
            <a:ext cx="1577340" cy="2208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80" dirty="0">
                <a:solidFill>
                  <a:srgbClr val="1932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session_id</a:t>
            </a:r>
            <a:endParaRPr lang="en-US" sz="780" dirty="0"/>
          </a:p>
        </p:txBody>
      </p:sp>
      <p:sp>
        <p:nvSpPr>
          <p:cNvPr id="77" name="Shape 75"/>
          <p:cNvSpPr/>
          <p:nvPr/>
        </p:nvSpPr>
        <p:spPr>
          <a:xfrm>
            <a:off x="6191860" y="4263390"/>
            <a:ext cx="2016252" cy="0"/>
          </a:xfrm>
          <a:prstGeom prst="line">
            <a:avLst/>
          </a:prstGeom>
          <a:noFill/>
          <a:ln w="5715">
            <a:solidFill>
              <a:srgbClr val="D7E3ED"/>
            </a:solidFill>
            <a:prstDash val="solid"/>
          </a:ln>
        </p:spPr>
      </p:sp>
      <p:sp>
        <p:nvSpPr>
          <p:cNvPr id="78" name="Text 76"/>
          <p:cNvSpPr/>
          <p:nvPr/>
        </p:nvSpPr>
        <p:spPr>
          <a:xfrm>
            <a:off x="6246724" y="4042562"/>
            <a:ext cx="256032" cy="2208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20" b="1" dirty="0">
                <a:solidFill>
                  <a:srgbClr val="2F75B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FK</a:t>
            </a:r>
            <a:endParaRPr lang="en-US" sz="720" dirty="0"/>
          </a:p>
        </p:txBody>
      </p:sp>
      <p:sp>
        <p:nvSpPr>
          <p:cNvPr id="79" name="Text 77"/>
          <p:cNvSpPr/>
          <p:nvPr/>
        </p:nvSpPr>
        <p:spPr>
          <a:xfrm>
            <a:off x="6575908" y="4042562"/>
            <a:ext cx="1577340" cy="2208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80" dirty="0">
                <a:solidFill>
                  <a:srgbClr val="1932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show_id</a:t>
            </a:r>
            <a:endParaRPr lang="en-US" sz="780" dirty="0"/>
          </a:p>
        </p:txBody>
      </p:sp>
      <p:sp>
        <p:nvSpPr>
          <p:cNvPr id="80" name="Shape 78"/>
          <p:cNvSpPr/>
          <p:nvPr/>
        </p:nvSpPr>
        <p:spPr>
          <a:xfrm>
            <a:off x="6191860" y="4484218"/>
            <a:ext cx="2016252" cy="0"/>
          </a:xfrm>
          <a:prstGeom prst="line">
            <a:avLst/>
          </a:prstGeom>
          <a:noFill/>
          <a:ln w="5715">
            <a:solidFill>
              <a:srgbClr val="D7E3ED"/>
            </a:solidFill>
            <a:prstDash val="solid"/>
          </a:ln>
        </p:spPr>
      </p:sp>
      <p:sp>
        <p:nvSpPr>
          <p:cNvPr id="81" name="Text 79"/>
          <p:cNvSpPr/>
          <p:nvPr/>
        </p:nvSpPr>
        <p:spPr>
          <a:xfrm>
            <a:off x="6246724" y="4263390"/>
            <a:ext cx="256032" cy="2208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20" b="1" dirty="0">
                <a:solidFill>
                  <a:srgbClr val="2F75B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FK</a:t>
            </a:r>
            <a:endParaRPr lang="en-US" sz="720" dirty="0"/>
          </a:p>
        </p:txBody>
      </p:sp>
      <p:sp>
        <p:nvSpPr>
          <p:cNvPr id="82" name="Text 80"/>
          <p:cNvSpPr/>
          <p:nvPr/>
        </p:nvSpPr>
        <p:spPr>
          <a:xfrm>
            <a:off x="6575908" y="4263390"/>
            <a:ext cx="1577340" cy="2208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80" dirty="0">
                <a:solidFill>
                  <a:srgbClr val="1932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venue_id</a:t>
            </a:r>
            <a:endParaRPr lang="en-US" sz="780" dirty="0"/>
          </a:p>
        </p:txBody>
      </p:sp>
      <p:sp>
        <p:nvSpPr>
          <p:cNvPr id="83" name="Shape 81"/>
          <p:cNvSpPr/>
          <p:nvPr/>
        </p:nvSpPr>
        <p:spPr>
          <a:xfrm>
            <a:off x="6191860" y="4705045"/>
            <a:ext cx="2016252" cy="0"/>
          </a:xfrm>
          <a:prstGeom prst="line">
            <a:avLst/>
          </a:prstGeom>
          <a:noFill/>
          <a:ln w="5715">
            <a:solidFill>
              <a:srgbClr val="D7E3ED"/>
            </a:solidFill>
            <a:prstDash val="solid"/>
          </a:ln>
        </p:spPr>
      </p:sp>
      <p:sp>
        <p:nvSpPr>
          <p:cNvPr id="84" name="Text 82"/>
          <p:cNvSpPr/>
          <p:nvPr/>
        </p:nvSpPr>
        <p:spPr>
          <a:xfrm>
            <a:off x="6246724" y="4484218"/>
            <a:ext cx="256032" cy="2208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endParaRPr lang="en-US" sz="720" dirty="0"/>
          </a:p>
        </p:txBody>
      </p:sp>
      <p:sp>
        <p:nvSpPr>
          <p:cNvPr id="85" name="Text 83"/>
          <p:cNvSpPr/>
          <p:nvPr/>
        </p:nvSpPr>
        <p:spPr>
          <a:xfrm>
            <a:off x="6575908" y="4484218"/>
            <a:ext cx="1577340" cy="2208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80" dirty="0">
                <a:solidFill>
                  <a:srgbClr val="1932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show_time</a:t>
            </a:r>
            <a:endParaRPr lang="en-US" sz="780" dirty="0"/>
          </a:p>
        </p:txBody>
      </p:sp>
      <p:sp>
        <p:nvSpPr>
          <p:cNvPr id="86" name="Shape 84"/>
          <p:cNvSpPr/>
          <p:nvPr/>
        </p:nvSpPr>
        <p:spPr>
          <a:xfrm>
            <a:off x="6191860" y="4925873"/>
            <a:ext cx="2016252" cy="0"/>
          </a:xfrm>
          <a:prstGeom prst="line">
            <a:avLst/>
          </a:prstGeom>
          <a:noFill/>
          <a:ln w="5715">
            <a:solidFill>
              <a:srgbClr val="D7E3ED"/>
            </a:solidFill>
            <a:prstDash val="solid"/>
          </a:ln>
        </p:spPr>
      </p:sp>
      <p:sp>
        <p:nvSpPr>
          <p:cNvPr id="87" name="Text 85"/>
          <p:cNvSpPr/>
          <p:nvPr/>
        </p:nvSpPr>
        <p:spPr>
          <a:xfrm>
            <a:off x="6246724" y="4705045"/>
            <a:ext cx="256032" cy="2208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endParaRPr lang="en-US" sz="720" dirty="0"/>
          </a:p>
        </p:txBody>
      </p:sp>
      <p:sp>
        <p:nvSpPr>
          <p:cNvPr id="88" name="Text 86"/>
          <p:cNvSpPr/>
          <p:nvPr/>
        </p:nvSpPr>
        <p:spPr>
          <a:xfrm>
            <a:off x="6575908" y="4705045"/>
            <a:ext cx="1577340" cy="2208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80" dirty="0">
                <a:solidFill>
                  <a:srgbClr val="1932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sale_status</a:t>
            </a:r>
            <a:endParaRPr lang="en-US" sz="780" dirty="0"/>
          </a:p>
        </p:txBody>
      </p:sp>
      <p:sp>
        <p:nvSpPr>
          <p:cNvPr id="89" name="Shape 87"/>
          <p:cNvSpPr/>
          <p:nvPr/>
        </p:nvSpPr>
        <p:spPr>
          <a:xfrm>
            <a:off x="8592160" y="3447288"/>
            <a:ext cx="2016252" cy="1468984"/>
          </a:xfrm>
          <a:prstGeom prst="rect">
            <a:avLst/>
          </a:prstGeom>
          <a:solidFill>
            <a:srgbClr val="FFFFFF"/>
          </a:solidFill>
          <a:ln w="12700">
            <a:solidFill>
              <a:srgbClr val="76A7D1"/>
            </a:solidFill>
            <a:prstDash val="solid"/>
          </a:ln>
        </p:spPr>
      </p:sp>
      <p:sp>
        <p:nvSpPr>
          <p:cNvPr id="90" name="Shape 88"/>
          <p:cNvSpPr/>
          <p:nvPr/>
        </p:nvSpPr>
        <p:spPr>
          <a:xfrm>
            <a:off x="8592160" y="3447288"/>
            <a:ext cx="2016252" cy="288036"/>
          </a:xfrm>
          <a:prstGeom prst="rect">
            <a:avLst/>
          </a:prstGeom>
          <a:solidFill>
            <a:srgbClr val="5C9BD5"/>
          </a:solidFill>
          <a:ln w="6350">
            <a:solidFill>
              <a:srgbClr val="5C9BD5"/>
            </a:solidFill>
            <a:prstDash val="solid"/>
          </a:ln>
        </p:spPr>
      </p:sp>
      <p:sp>
        <p:nvSpPr>
          <p:cNvPr id="91" name="Text 89"/>
          <p:cNvSpPr/>
          <p:nvPr/>
        </p:nvSpPr>
        <p:spPr>
          <a:xfrm>
            <a:off x="8647024" y="3447288"/>
            <a:ext cx="1906524" cy="2880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TICKET_TIER 票档</a:t>
            </a:r>
            <a:endParaRPr lang="en-US" sz="850" dirty="0"/>
          </a:p>
        </p:txBody>
      </p:sp>
      <p:sp>
        <p:nvSpPr>
          <p:cNvPr id="92" name="Shape 90"/>
          <p:cNvSpPr/>
          <p:nvPr/>
        </p:nvSpPr>
        <p:spPr>
          <a:xfrm>
            <a:off x="8592160" y="4042562"/>
            <a:ext cx="2016252" cy="0"/>
          </a:xfrm>
          <a:prstGeom prst="line">
            <a:avLst/>
          </a:prstGeom>
          <a:noFill/>
          <a:ln w="5715">
            <a:solidFill>
              <a:srgbClr val="D7E3ED"/>
            </a:solidFill>
            <a:prstDash val="solid"/>
          </a:ln>
        </p:spPr>
      </p:sp>
      <p:sp>
        <p:nvSpPr>
          <p:cNvPr id="93" name="Text 91"/>
          <p:cNvSpPr/>
          <p:nvPr/>
        </p:nvSpPr>
        <p:spPr>
          <a:xfrm>
            <a:off x="8647024" y="3821735"/>
            <a:ext cx="256032" cy="2208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20" b="1" dirty="0">
                <a:solidFill>
                  <a:srgbClr val="A768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PK</a:t>
            </a:r>
            <a:endParaRPr lang="en-US" sz="720" dirty="0"/>
          </a:p>
        </p:txBody>
      </p:sp>
      <p:sp>
        <p:nvSpPr>
          <p:cNvPr id="94" name="Text 92"/>
          <p:cNvSpPr/>
          <p:nvPr/>
        </p:nvSpPr>
        <p:spPr>
          <a:xfrm>
            <a:off x="8976208" y="3821735"/>
            <a:ext cx="1577340" cy="2208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80" dirty="0">
                <a:solidFill>
                  <a:srgbClr val="1932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tier_id</a:t>
            </a:r>
            <a:endParaRPr lang="en-US" sz="780" dirty="0"/>
          </a:p>
        </p:txBody>
      </p:sp>
      <p:sp>
        <p:nvSpPr>
          <p:cNvPr id="95" name="Shape 93"/>
          <p:cNvSpPr/>
          <p:nvPr/>
        </p:nvSpPr>
        <p:spPr>
          <a:xfrm>
            <a:off x="8592160" y="4263390"/>
            <a:ext cx="2016252" cy="0"/>
          </a:xfrm>
          <a:prstGeom prst="line">
            <a:avLst/>
          </a:prstGeom>
          <a:noFill/>
          <a:ln w="5715">
            <a:solidFill>
              <a:srgbClr val="D7E3ED"/>
            </a:solidFill>
            <a:prstDash val="solid"/>
          </a:ln>
        </p:spPr>
      </p:sp>
      <p:sp>
        <p:nvSpPr>
          <p:cNvPr id="96" name="Text 94"/>
          <p:cNvSpPr/>
          <p:nvPr/>
        </p:nvSpPr>
        <p:spPr>
          <a:xfrm>
            <a:off x="8647024" y="4042562"/>
            <a:ext cx="256032" cy="2208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20" b="1" dirty="0">
                <a:solidFill>
                  <a:srgbClr val="2F75B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FK</a:t>
            </a:r>
            <a:endParaRPr lang="en-US" sz="720" dirty="0"/>
          </a:p>
        </p:txBody>
      </p:sp>
      <p:sp>
        <p:nvSpPr>
          <p:cNvPr id="97" name="Text 95"/>
          <p:cNvSpPr/>
          <p:nvPr/>
        </p:nvSpPr>
        <p:spPr>
          <a:xfrm>
            <a:off x="8976208" y="4042562"/>
            <a:ext cx="1577340" cy="2208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80" dirty="0">
                <a:solidFill>
                  <a:srgbClr val="1932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session_id</a:t>
            </a:r>
            <a:endParaRPr lang="en-US" sz="780" dirty="0"/>
          </a:p>
        </p:txBody>
      </p:sp>
      <p:sp>
        <p:nvSpPr>
          <p:cNvPr id="98" name="Shape 96"/>
          <p:cNvSpPr/>
          <p:nvPr/>
        </p:nvSpPr>
        <p:spPr>
          <a:xfrm>
            <a:off x="8592160" y="4484218"/>
            <a:ext cx="2016252" cy="0"/>
          </a:xfrm>
          <a:prstGeom prst="line">
            <a:avLst/>
          </a:prstGeom>
          <a:noFill/>
          <a:ln w="5715">
            <a:solidFill>
              <a:srgbClr val="D7E3ED"/>
            </a:solidFill>
            <a:prstDash val="solid"/>
          </a:ln>
        </p:spPr>
      </p:sp>
      <p:sp>
        <p:nvSpPr>
          <p:cNvPr id="99" name="Text 97"/>
          <p:cNvSpPr/>
          <p:nvPr/>
        </p:nvSpPr>
        <p:spPr>
          <a:xfrm>
            <a:off x="8647024" y="4263390"/>
            <a:ext cx="256032" cy="2208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endParaRPr lang="en-US" sz="720" dirty="0"/>
          </a:p>
        </p:txBody>
      </p:sp>
      <p:sp>
        <p:nvSpPr>
          <p:cNvPr id="100" name="Text 98"/>
          <p:cNvSpPr/>
          <p:nvPr/>
        </p:nvSpPr>
        <p:spPr>
          <a:xfrm>
            <a:off x="8976208" y="4263390"/>
            <a:ext cx="1577340" cy="2208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80" dirty="0">
                <a:solidFill>
                  <a:srgbClr val="1932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tier_name</a:t>
            </a:r>
            <a:endParaRPr lang="en-US" sz="780" dirty="0"/>
          </a:p>
        </p:txBody>
      </p:sp>
      <p:sp>
        <p:nvSpPr>
          <p:cNvPr id="101" name="Shape 99"/>
          <p:cNvSpPr/>
          <p:nvPr/>
        </p:nvSpPr>
        <p:spPr>
          <a:xfrm>
            <a:off x="8592160" y="4705045"/>
            <a:ext cx="2016252" cy="0"/>
          </a:xfrm>
          <a:prstGeom prst="line">
            <a:avLst/>
          </a:prstGeom>
          <a:noFill/>
          <a:ln w="5715">
            <a:solidFill>
              <a:srgbClr val="D7E3ED"/>
            </a:solidFill>
            <a:prstDash val="solid"/>
          </a:ln>
        </p:spPr>
      </p:sp>
      <p:sp>
        <p:nvSpPr>
          <p:cNvPr id="102" name="Text 100"/>
          <p:cNvSpPr/>
          <p:nvPr/>
        </p:nvSpPr>
        <p:spPr>
          <a:xfrm>
            <a:off x="8647024" y="4484218"/>
            <a:ext cx="256032" cy="2208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endParaRPr lang="en-US" sz="720" dirty="0"/>
          </a:p>
        </p:txBody>
      </p:sp>
      <p:sp>
        <p:nvSpPr>
          <p:cNvPr id="103" name="Text 101"/>
          <p:cNvSpPr/>
          <p:nvPr/>
        </p:nvSpPr>
        <p:spPr>
          <a:xfrm>
            <a:off x="8976208" y="4484218"/>
            <a:ext cx="1577340" cy="2208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80" dirty="0">
                <a:solidFill>
                  <a:srgbClr val="1932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price</a:t>
            </a:r>
            <a:endParaRPr lang="en-US" sz="780" dirty="0"/>
          </a:p>
        </p:txBody>
      </p:sp>
      <p:sp>
        <p:nvSpPr>
          <p:cNvPr id="104" name="Shape 102"/>
          <p:cNvSpPr/>
          <p:nvPr/>
        </p:nvSpPr>
        <p:spPr>
          <a:xfrm>
            <a:off x="8592160" y="4925873"/>
            <a:ext cx="2016252" cy="0"/>
          </a:xfrm>
          <a:prstGeom prst="line">
            <a:avLst/>
          </a:prstGeom>
          <a:noFill/>
          <a:ln w="5715">
            <a:solidFill>
              <a:srgbClr val="D7E3ED"/>
            </a:solidFill>
            <a:prstDash val="solid"/>
          </a:ln>
        </p:spPr>
      </p:sp>
      <p:sp>
        <p:nvSpPr>
          <p:cNvPr id="105" name="Text 103"/>
          <p:cNvSpPr/>
          <p:nvPr/>
        </p:nvSpPr>
        <p:spPr>
          <a:xfrm>
            <a:off x="8647024" y="4705045"/>
            <a:ext cx="256032" cy="2208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endParaRPr lang="en-US" sz="720" dirty="0"/>
          </a:p>
        </p:txBody>
      </p:sp>
      <p:sp>
        <p:nvSpPr>
          <p:cNvPr id="106" name="Text 104"/>
          <p:cNvSpPr/>
          <p:nvPr/>
        </p:nvSpPr>
        <p:spPr>
          <a:xfrm>
            <a:off x="8976208" y="4705045"/>
            <a:ext cx="1577340" cy="2208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80" dirty="0">
                <a:solidFill>
                  <a:srgbClr val="1932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total_seats</a:t>
            </a:r>
            <a:endParaRPr lang="en-US" sz="780" dirty="0"/>
          </a:p>
        </p:txBody>
      </p:sp>
      <p:sp>
        <p:nvSpPr>
          <p:cNvPr id="107" name="Shape 105"/>
          <p:cNvSpPr/>
          <p:nvPr/>
        </p:nvSpPr>
        <p:spPr>
          <a:xfrm>
            <a:off x="1237640" y="4157777"/>
            <a:ext cx="153619" cy="914"/>
          </a:xfrm>
          <a:prstGeom prst="line">
            <a:avLst/>
          </a:prstGeom>
          <a:noFill/>
          <a:ln w="14605">
            <a:solidFill>
              <a:srgbClr val="398A70"/>
            </a:solidFill>
            <a:prstDash val="solid"/>
          </a:ln>
        </p:spPr>
      </p:sp>
      <p:sp>
        <p:nvSpPr>
          <p:cNvPr id="108" name="Shape 106"/>
          <p:cNvSpPr/>
          <p:nvPr/>
        </p:nvSpPr>
        <p:spPr>
          <a:xfrm>
            <a:off x="1237640" y="1824685"/>
            <a:ext cx="914" cy="2333092"/>
          </a:xfrm>
          <a:prstGeom prst="line">
            <a:avLst/>
          </a:prstGeom>
          <a:noFill/>
          <a:ln w="14605">
            <a:solidFill>
              <a:srgbClr val="398A70"/>
            </a:solidFill>
            <a:prstDash val="solid"/>
          </a:ln>
        </p:spPr>
      </p:sp>
      <p:sp>
        <p:nvSpPr>
          <p:cNvPr id="109" name="Shape 107"/>
          <p:cNvSpPr/>
          <p:nvPr/>
        </p:nvSpPr>
        <p:spPr>
          <a:xfrm>
            <a:off x="1237640" y="1824685"/>
            <a:ext cx="153619" cy="914"/>
          </a:xfrm>
          <a:prstGeom prst="line">
            <a:avLst/>
          </a:prstGeom>
          <a:noFill/>
          <a:ln w="14605">
            <a:solidFill>
              <a:srgbClr val="398A70"/>
            </a:solidFill>
            <a:prstDash val="solid"/>
          </a:ln>
        </p:spPr>
      </p:sp>
      <p:sp>
        <p:nvSpPr>
          <p:cNvPr id="110" name="Shape 108"/>
          <p:cNvSpPr/>
          <p:nvPr/>
        </p:nvSpPr>
        <p:spPr>
          <a:xfrm>
            <a:off x="1359256" y="4125773"/>
            <a:ext cx="64008" cy="64008"/>
          </a:xfrm>
          <a:prstGeom prst="ellipse">
            <a:avLst/>
          </a:prstGeom>
          <a:solidFill>
            <a:srgbClr val="FFFFFF"/>
          </a:solidFill>
          <a:ln w="13970">
            <a:solidFill>
              <a:srgbClr val="398A70"/>
            </a:solidFill>
            <a:prstDash val="solid"/>
          </a:ln>
        </p:spPr>
      </p:sp>
      <p:sp>
        <p:nvSpPr>
          <p:cNvPr id="111" name="Shape 109"/>
          <p:cNvSpPr/>
          <p:nvPr/>
        </p:nvSpPr>
        <p:spPr>
          <a:xfrm>
            <a:off x="1359256" y="1792681"/>
            <a:ext cx="64008" cy="64008"/>
          </a:xfrm>
          <a:prstGeom prst="ellipse">
            <a:avLst/>
          </a:prstGeom>
          <a:solidFill>
            <a:srgbClr val="FFFFFF"/>
          </a:solidFill>
          <a:ln w="13970">
            <a:solidFill>
              <a:srgbClr val="398A70"/>
            </a:solidFill>
            <a:prstDash val="solid"/>
          </a:ln>
        </p:spPr>
      </p:sp>
      <p:sp>
        <p:nvSpPr>
          <p:cNvPr id="112" name="Shape 110"/>
          <p:cNvSpPr/>
          <p:nvPr/>
        </p:nvSpPr>
        <p:spPr>
          <a:xfrm>
            <a:off x="3637940" y="4157777"/>
            <a:ext cx="153619" cy="914"/>
          </a:xfrm>
          <a:prstGeom prst="line">
            <a:avLst/>
          </a:prstGeom>
          <a:noFill/>
          <a:ln w="14605">
            <a:solidFill>
              <a:srgbClr val="398A70"/>
            </a:solidFill>
            <a:prstDash val="solid"/>
          </a:ln>
        </p:spPr>
      </p:sp>
      <p:sp>
        <p:nvSpPr>
          <p:cNvPr id="113" name="Shape 111"/>
          <p:cNvSpPr/>
          <p:nvPr/>
        </p:nvSpPr>
        <p:spPr>
          <a:xfrm>
            <a:off x="3637940" y="1824685"/>
            <a:ext cx="914" cy="2333092"/>
          </a:xfrm>
          <a:prstGeom prst="line">
            <a:avLst/>
          </a:prstGeom>
          <a:noFill/>
          <a:ln w="14605">
            <a:solidFill>
              <a:srgbClr val="398A70"/>
            </a:solidFill>
            <a:prstDash val="solid"/>
          </a:ln>
        </p:spPr>
      </p:sp>
      <p:sp>
        <p:nvSpPr>
          <p:cNvPr id="114" name="Shape 112"/>
          <p:cNvSpPr/>
          <p:nvPr/>
        </p:nvSpPr>
        <p:spPr>
          <a:xfrm>
            <a:off x="3637940" y="1824685"/>
            <a:ext cx="153619" cy="914"/>
          </a:xfrm>
          <a:prstGeom prst="line">
            <a:avLst/>
          </a:prstGeom>
          <a:noFill/>
          <a:ln w="14605">
            <a:solidFill>
              <a:srgbClr val="398A70"/>
            </a:solidFill>
            <a:prstDash val="solid"/>
          </a:ln>
        </p:spPr>
      </p:sp>
      <p:sp>
        <p:nvSpPr>
          <p:cNvPr id="115" name="Shape 113"/>
          <p:cNvSpPr/>
          <p:nvPr/>
        </p:nvSpPr>
        <p:spPr>
          <a:xfrm>
            <a:off x="3759556" y="4125773"/>
            <a:ext cx="64008" cy="64008"/>
          </a:xfrm>
          <a:prstGeom prst="ellipse">
            <a:avLst/>
          </a:prstGeom>
          <a:solidFill>
            <a:srgbClr val="FFFFFF"/>
          </a:solidFill>
          <a:ln w="13970">
            <a:solidFill>
              <a:srgbClr val="398A70"/>
            </a:solidFill>
            <a:prstDash val="solid"/>
          </a:ln>
        </p:spPr>
      </p:sp>
      <p:sp>
        <p:nvSpPr>
          <p:cNvPr id="116" name="Shape 114"/>
          <p:cNvSpPr/>
          <p:nvPr/>
        </p:nvSpPr>
        <p:spPr>
          <a:xfrm>
            <a:off x="3759556" y="1792681"/>
            <a:ext cx="64008" cy="64008"/>
          </a:xfrm>
          <a:prstGeom prst="ellipse">
            <a:avLst/>
          </a:prstGeom>
          <a:solidFill>
            <a:srgbClr val="FFFFFF"/>
          </a:solidFill>
          <a:ln w="13970">
            <a:solidFill>
              <a:srgbClr val="398A70"/>
            </a:solidFill>
            <a:prstDash val="solid"/>
          </a:ln>
        </p:spPr>
      </p:sp>
      <p:sp>
        <p:nvSpPr>
          <p:cNvPr id="117" name="Shape 115"/>
          <p:cNvSpPr/>
          <p:nvPr/>
        </p:nvSpPr>
        <p:spPr>
          <a:xfrm>
            <a:off x="3522726" y="4378604"/>
            <a:ext cx="268834" cy="914"/>
          </a:xfrm>
          <a:prstGeom prst="line">
            <a:avLst/>
          </a:prstGeom>
          <a:noFill/>
          <a:ln w="14605">
            <a:solidFill>
              <a:srgbClr val="398A70"/>
            </a:solidFill>
            <a:prstDash val="solid"/>
          </a:ln>
        </p:spPr>
      </p:sp>
      <p:sp>
        <p:nvSpPr>
          <p:cNvPr id="118" name="Shape 116"/>
          <p:cNvSpPr/>
          <p:nvPr/>
        </p:nvSpPr>
        <p:spPr>
          <a:xfrm>
            <a:off x="3522726" y="2343150"/>
            <a:ext cx="914" cy="2035454"/>
          </a:xfrm>
          <a:prstGeom prst="line">
            <a:avLst/>
          </a:prstGeom>
          <a:noFill/>
          <a:ln w="14605">
            <a:solidFill>
              <a:srgbClr val="398A70"/>
            </a:solidFill>
            <a:prstDash val="solid"/>
          </a:ln>
        </p:spPr>
      </p:sp>
      <p:sp>
        <p:nvSpPr>
          <p:cNvPr id="119" name="Shape 117"/>
          <p:cNvSpPr/>
          <p:nvPr/>
        </p:nvSpPr>
        <p:spPr>
          <a:xfrm>
            <a:off x="3407512" y="2343150"/>
            <a:ext cx="115214" cy="914"/>
          </a:xfrm>
          <a:prstGeom prst="line">
            <a:avLst/>
          </a:prstGeom>
          <a:noFill/>
          <a:ln w="14605">
            <a:solidFill>
              <a:srgbClr val="398A70"/>
            </a:solidFill>
            <a:prstDash val="solid"/>
          </a:ln>
        </p:spPr>
      </p:sp>
      <p:sp>
        <p:nvSpPr>
          <p:cNvPr id="120" name="Shape 118"/>
          <p:cNvSpPr/>
          <p:nvPr/>
        </p:nvSpPr>
        <p:spPr>
          <a:xfrm>
            <a:off x="3407512" y="1824685"/>
            <a:ext cx="914" cy="518465"/>
          </a:xfrm>
          <a:prstGeom prst="line">
            <a:avLst/>
          </a:prstGeom>
          <a:noFill/>
          <a:ln w="14605">
            <a:solidFill>
              <a:srgbClr val="398A70"/>
            </a:solidFill>
            <a:prstDash val="solid"/>
          </a:ln>
        </p:spPr>
      </p:sp>
      <p:sp>
        <p:nvSpPr>
          <p:cNvPr id="121" name="Shape 119"/>
          <p:cNvSpPr/>
          <p:nvPr/>
        </p:nvSpPr>
        <p:spPr>
          <a:xfrm>
            <a:off x="3759556" y="4346600"/>
            <a:ext cx="64008" cy="64008"/>
          </a:xfrm>
          <a:prstGeom prst="ellipse">
            <a:avLst/>
          </a:prstGeom>
          <a:solidFill>
            <a:srgbClr val="FFFFFF"/>
          </a:solidFill>
          <a:ln w="13970">
            <a:solidFill>
              <a:srgbClr val="398A70"/>
            </a:solidFill>
            <a:prstDash val="solid"/>
          </a:ln>
        </p:spPr>
      </p:sp>
      <p:sp>
        <p:nvSpPr>
          <p:cNvPr id="122" name="Shape 120"/>
          <p:cNvSpPr/>
          <p:nvPr/>
        </p:nvSpPr>
        <p:spPr>
          <a:xfrm>
            <a:off x="3375508" y="1792681"/>
            <a:ext cx="64008" cy="64008"/>
          </a:xfrm>
          <a:prstGeom prst="ellipse">
            <a:avLst/>
          </a:prstGeom>
          <a:solidFill>
            <a:srgbClr val="FFFFFF"/>
          </a:solidFill>
          <a:ln w="13970">
            <a:solidFill>
              <a:srgbClr val="398A70"/>
            </a:solidFill>
            <a:prstDash val="solid"/>
          </a:ln>
        </p:spPr>
      </p:sp>
      <p:sp>
        <p:nvSpPr>
          <p:cNvPr id="123" name="Shape 121"/>
          <p:cNvSpPr/>
          <p:nvPr/>
        </p:nvSpPr>
        <p:spPr>
          <a:xfrm>
            <a:off x="5807812" y="4599432"/>
            <a:ext cx="192024" cy="914"/>
          </a:xfrm>
          <a:prstGeom prst="line">
            <a:avLst/>
          </a:prstGeom>
          <a:noFill/>
          <a:ln w="14605">
            <a:solidFill>
              <a:srgbClr val="398A70"/>
            </a:solidFill>
            <a:prstDash val="solid"/>
          </a:ln>
        </p:spPr>
      </p:sp>
      <p:sp>
        <p:nvSpPr>
          <p:cNvPr id="124" name="Shape 122"/>
          <p:cNvSpPr/>
          <p:nvPr/>
        </p:nvSpPr>
        <p:spPr>
          <a:xfrm>
            <a:off x="5999836" y="2343150"/>
            <a:ext cx="914" cy="2256282"/>
          </a:xfrm>
          <a:prstGeom prst="line">
            <a:avLst/>
          </a:prstGeom>
          <a:noFill/>
          <a:ln w="14605">
            <a:solidFill>
              <a:srgbClr val="398A70"/>
            </a:solidFill>
            <a:prstDash val="solid"/>
          </a:ln>
        </p:spPr>
      </p:sp>
      <p:sp>
        <p:nvSpPr>
          <p:cNvPr id="125" name="Shape 123"/>
          <p:cNvSpPr/>
          <p:nvPr/>
        </p:nvSpPr>
        <p:spPr>
          <a:xfrm>
            <a:off x="5999836" y="2343150"/>
            <a:ext cx="192024" cy="914"/>
          </a:xfrm>
          <a:prstGeom prst="line">
            <a:avLst/>
          </a:prstGeom>
          <a:noFill/>
          <a:ln w="14605">
            <a:solidFill>
              <a:srgbClr val="398A70"/>
            </a:solidFill>
            <a:prstDash val="solid"/>
          </a:ln>
        </p:spPr>
      </p:sp>
      <p:sp>
        <p:nvSpPr>
          <p:cNvPr id="126" name="Shape 124"/>
          <p:cNvSpPr/>
          <p:nvPr/>
        </p:nvSpPr>
        <p:spPr>
          <a:xfrm>
            <a:off x="6191860" y="1824685"/>
            <a:ext cx="914" cy="518465"/>
          </a:xfrm>
          <a:prstGeom prst="line">
            <a:avLst/>
          </a:prstGeom>
          <a:noFill/>
          <a:ln w="14605">
            <a:solidFill>
              <a:srgbClr val="398A70"/>
            </a:solidFill>
            <a:prstDash val="solid"/>
          </a:ln>
        </p:spPr>
      </p:sp>
      <p:sp>
        <p:nvSpPr>
          <p:cNvPr id="127" name="Shape 125"/>
          <p:cNvSpPr/>
          <p:nvPr/>
        </p:nvSpPr>
        <p:spPr>
          <a:xfrm>
            <a:off x="5775808" y="4567428"/>
            <a:ext cx="64008" cy="64008"/>
          </a:xfrm>
          <a:prstGeom prst="ellipse">
            <a:avLst/>
          </a:prstGeom>
          <a:solidFill>
            <a:srgbClr val="FFFFFF"/>
          </a:solidFill>
          <a:ln w="13970">
            <a:solidFill>
              <a:srgbClr val="398A70"/>
            </a:solidFill>
            <a:prstDash val="solid"/>
          </a:ln>
        </p:spPr>
      </p:sp>
      <p:sp>
        <p:nvSpPr>
          <p:cNvPr id="128" name="Shape 126"/>
          <p:cNvSpPr/>
          <p:nvPr/>
        </p:nvSpPr>
        <p:spPr>
          <a:xfrm>
            <a:off x="6159856" y="1792681"/>
            <a:ext cx="64008" cy="64008"/>
          </a:xfrm>
          <a:prstGeom prst="ellipse">
            <a:avLst/>
          </a:prstGeom>
          <a:solidFill>
            <a:srgbClr val="FFFFFF"/>
          </a:solidFill>
          <a:ln w="13970">
            <a:solidFill>
              <a:srgbClr val="398A70"/>
            </a:solidFill>
            <a:prstDash val="solid"/>
          </a:ln>
        </p:spPr>
      </p:sp>
      <p:sp>
        <p:nvSpPr>
          <p:cNvPr id="129" name="Shape 127"/>
          <p:cNvSpPr/>
          <p:nvPr/>
        </p:nvSpPr>
        <p:spPr>
          <a:xfrm>
            <a:off x="6019038" y="4157777"/>
            <a:ext cx="172822" cy="914"/>
          </a:xfrm>
          <a:prstGeom prst="line">
            <a:avLst/>
          </a:prstGeom>
          <a:noFill/>
          <a:ln w="14605">
            <a:solidFill>
              <a:srgbClr val="398A70"/>
            </a:solidFill>
            <a:prstDash val="solid"/>
          </a:ln>
        </p:spPr>
      </p:sp>
      <p:sp>
        <p:nvSpPr>
          <p:cNvPr id="130" name="Shape 128"/>
          <p:cNvSpPr/>
          <p:nvPr/>
        </p:nvSpPr>
        <p:spPr>
          <a:xfrm>
            <a:off x="6019038" y="3936949"/>
            <a:ext cx="914" cy="220828"/>
          </a:xfrm>
          <a:prstGeom prst="line">
            <a:avLst/>
          </a:prstGeom>
          <a:noFill/>
          <a:ln w="14605">
            <a:solidFill>
              <a:srgbClr val="398A70"/>
            </a:solidFill>
            <a:prstDash val="solid"/>
          </a:ln>
        </p:spPr>
      </p:sp>
      <p:sp>
        <p:nvSpPr>
          <p:cNvPr id="131" name="Shape 129"/>
          <p:cNvSpPr/>
          <p:nvPr/>
        </p:nvSpPr>
        <p:spPr>
          <a:xfrm>
            <a:off x="5807812" y="3936949"/>
            <a:ext cx="211226" cy="914"/>
          </a:xfrm>
          <a:prstGeom prst="line">
            <a:avLst/>
          </a:prstGeom>
          <a:noFill/>
          <a:ln w="14605">
            <a:solidFill>
              <a:srgbClr val="398A70"/>
            </a:solidFill>
            <a:prstDash val="solid"/>
          </a:ln>
        </p:spPr>
      </p:sp>
      <p:sp>
        <p:nvSpPr>
          <p:cNvPr id="132" name="Shape 130"/>
          <p:cNvSpPr/>
          <p:nvPr/>
        </p:nvSpPr>
        <p:spPr>
          <a:xfrm>
            <a:off x="6159856" y="4125773"/>
            <a:ext cx="64008" cy="64008"/>
          </a:xfrm>
          <a:prstGeom prst="ellipse">
            <a:avLst/>
          </a:prstGeom>
          <a:solidFill>
            <a:srgbClr val="FFFFFF"/>
          </a:solidFill>
          <a:ln w="13970">
            <a:solidFill>
              <a:srgbClr val="398A70"/>
            </a:solidFill>
            <a:prstDash val="solid"/>
          </a:ln>
        </p:spPr>
      </p:sp>
      <p:sp>
        <p:nvSpPr>
          <p:cNvPr id="133" name="Shape 131"/>
          <p:cNvSpPr/>
          <p:nvPr/>
        </p:nvSpPr>
        <p:spPr>
          <a:xfrm>
            <a:off x="5775808" y="3904945"/>
            <a:ext cx="64008" cy="64008"/>
          </a:xfrm>
          <a:prstGeom prst="ellipse">
            <a:avLst/>
          </a:prstGeom>
          <a:solidFill>
            <a:srgbClr val="FFFFFF"/>
          </a:solidFill>
          <a:ln w="13970">
            <a:solidFill>
              <a:srgbClr val="398A70"/>
            </a:solidFill>
            <a:prstDash val="solid"/>
          </a:ln>
        </p:spPr>
      </p:sp>
      <p:sp>
        <p:nvSpPr>
          <p:cNvPr id="134" name="Shape 132"/>
          <p:cNvSpPr/>
          <p:nvPr/>
        </p:nvSpPr>
        <p:spPr>
          <a:xfrm>
            <a:off x="8208112" y="4378604"/>
            <a:ext cx="192024" cy="914"/>
          </a:xfrm>
          <a:prstGeom prst="line">
            <a:avLst/>
          </a:prstGeom>
          <a:noFill/>
          <a:ln w="14605">
            <a:solidFill>
              <a:srgbClr val="398A70"/>
            </a:solidFill>
            <a:prstDash val="solid"/>
          </a:ln>
        </p:spPr>
      </p:sp>
      <p:sp>
        <p:nvSpPr>
          <p:cNvPr id="135" name="Shape 133"/>
          <p:cNvSpPr/>
          <p:nvPr/>
        </p:nvSpPr>
        <p:spPr>
          <a:xfrm>
            <a:off x="8400136" y="4378604"/>
            <a:ext cx="914" cy="1084936"/>
          </a:xfrm>
          <a:prstGeom prst="line">
            <a:avLst/>
          </a:prstGeom>
          <a:noFill/>
          <a:ln w="14605">
            <a:solidFill>
              <a:srgbClr val="398A70"/>
            </a:solidFill>
            <a:prstDash val="solid"/>
          </a:ln>
        </p:spPr>
      </p:sp>
      <p:sp>
        <p:nvSpPr>
          <p:cNvPr id="136" name="Shape 134"/>
          <p:cNvSpPr/>
          <p:nvPr/>
        </p:nvSpPr>
        <p:spPr>
          <a:xfrm>
            <a:off x="3407512" y="5463540"/>
            <a:ext cx="4992624" cy="914"/>
          </a:xfrm>
          <a:prstGeom prst="line">
            <a:avLst/>
          </a:prstGeom>
          <a:noFill/>
          <a:ln w="14605">
            <a:solidFill>
              <a:srgbClr val="398A70"/>
            </a:solidFill>
            <a:prstDash val="solid"/>
          </a:ln>
        </p:spPr>
      </p:sp>
      <p:sp>
        <p:nvSpPr>
          <p:cNvPr id="137" name="Shape 135"/>
          <p:cNvSpPr/>
          <p:nvPr/>
        </p:nvSpPr>
        <p:spPr>
          <a:xfrm>
            <a:off x="3407512" y="3936949"/>
            <a:ext cx="914" cy="1526591"/>
          </a:xfrm>
          <a:prstGeom prst="line">
            <a:avLst/>
          </a:prstGeom>
          <a:noFill/>
          <a:ln w="14605">
            <a:solidFill>
              <a:srgbClr val="398A70"/>
            </a:solidFill>
            <a:prstDash val="solid"/>
          </a:ln>
        </p:spPr>
      </p:sp>
      <p:sp>
        <p:nvSpPr>
          <p:cNvPr id="138" name="Shape 136"/>
          <p:cNvSpPr/>
          <p:nvPr/>
        </p:nvSpPr>
        <p:spPr>
          <a:xfrm>
            <a:off x="8176108" y="4346600"/>
            <a:ext cx="64008" cy="64008"/>
          </a:xfrm>
          <a:prstGeom prst="ellipse">
            <a:avLst/>
          </a:prstGeom>
          <a:solidFill>
            <a:srgbClr val="FFFFFF"/>
          </a:solidFill>
          <a:ln w="13970">
            <a:solidFill>
              <a:srgbClr val="398A70"/>
            </a:solidFill>
            <a:prstDash val="solid"/>
          </a:ln>
        </p:spPr>
      </p:sp>
      <p:sp>
        <p:nvSpPr>
          <p:cNvPr id="139" name="Shape 137"/>
          <p:cNvSpPr/>
          <p:nvPr/>
        </p:nvSpPr>
        <p:spPr>
          <a:xfrm>
            <a:off x="3375508" y="3904945"/>
            <a:ext cx="64008" cy="64008"/>
          </a:xfrm>
          <a:prstGeom prst="ellipse">
            <a:avLst/>
          </a:prstGeom>
          <a:solidFill>
            <a:srgbClr val="FFFFFF"/>
          </a:solidFill>
          <a:ln w="13970">
            <a:solidFill>
              <a:srgbClr val="398A70"/>
            </a:solidFill>
            <a:prstDash val="solid"/>
          </a:ln>
        </p:spPr>
      </p:sp>
      <p:sp>
        <p:nvSpPr>
          <p:cNvPr id="140" name="Shape 138"/>
          <p:cNvSpPr/>
          <p:nvPr/>
        </p:nvSpPr>
        <p:spPr>
          <a:xfrm>
            <a:off x="8400136" y="4157777"/>
            <a:ext cx="192024" cy="914"/>
          </a:xfrm>
          <a:prstGeom prst="line">
            <a:avLst/>
          </a:prstGeom>
          <a:noFill/>
          <a:ln w="14605">
            <a:solidFill>
              <a:srgbClr val="398A70"/>
            </a:solidFill>
            <a:prstDash val="solid"/>
          </a:ln>
        </p:spPr>
      </p:sp>
      <p:sp>
        <p:nvSpPr>
          <p:cNvPr id="141" name="Shape 139"/>
          <p:cNvSpPr/>
          <p:nvPr/>
        </p:nvSpPr>
        <p:spPr>
          <a:xfrm>
            <a:off x="8400136" y="3936949"/>
            <a:ext cx="914" cy="220828"/>
          </a:xfrm>
          <a:prstGeom prst="line">
            <a:avLst/>
          </a:prstGeom>
          <a:noFill/>
          <a:ln w="14605">
            <a:solidFill>
              <a:srgbClr val="398A70"/>
            </a:solidFill>
            <a:prstDash val="solid"/>
          </a:ln>
        </p:spPr>
      </p:sp>
      <p:sp>
        <p:nvSpPr>
          <p:cNvPr id="142" name="Shape 140"/>
          <p:cNvSpPr/>
          <p:nvPr/>
        </p:nvSpPr>
        <p:spPr>
          <a:xfrm>
            <a:off x="8208112" y="3936949"/>
            <a:ext cx="192024" cy="914"/>
          </a:xfrm>
          <a:prstGeom prst="line">
            <a:avLst/>
          </a:prstGeom>
          <a:noFill/>
          <a:ln w="14605">
            <a:solidFill>
              <a:srgbClr val="398A70"/>
            </a:solidFill>
            <a:prstDash val="solid"/>
          </a:ln>
        </p:spPr>
      </p:sp>
      <p:sp>
        <p:nvSpPr>
          <p:cNvPr id="143" name="Shape 141"/>
          <p:cNvSpPr/>
          <p:nvPr/>
        </p:nvSpPr>
        <p:spPr>
          <a:xfrm>
            <a:off x="8560156" y="4125773"/>
            <a:ext cx="64008" cy="64008"/>
          </a:xfrm>
          <a:prstGeom prst="ellipse">
            <a:avLst/>
          </a:prstGeom>
          <a:solidFill>
            <a:srgbClr val="FFFFFF"/>
          </a:solidFill>
          <a:ln w="13970">
            <a:solidFill>
              <a:srgbClr val="398A70"/>
            </a:solidFill>
            <a:prstDash val="solid"/>
          </a:ln>
        </p:spPr>
      </p:sp>
      <p:sp>
        <p:nvSpPr>
          <p:cNvPr id="144" name="Shape 142"/>
          <p:cNvSpPr/>
          <p:nvPr/>
        </p:nvSpPr>
        <p:spPr>
          <a:xfrm>
            <a:off x="8176108" y="3904945"/>
            <a:ext cx="64008" cy="64008"/>
          </a:xfrm>
          <a:prstGeom prst="ellipse">
            <a:avLst/>
          </a:prstGeom>
          <a:solidFill>
            <a:srgbClr val="FFFFFF"/>
          </a:solidFill>
          <a:ln w="13970">
            <a:solidFill>
              <a:srgbClr val="398A70"/>
            </a:solidFill>
            <a:prstDash val="solid"/>
          </a:ln>
        </p:spPr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7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28600"/>
            <a:ext cx="11338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1932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2. 用户资料表：逻辑模型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411480" y="640080"/>
            <a:ext cx="113385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63758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收货信息和常用购票人均通过 user_id 关联用户。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10058400" y="283464"/>
            <a:ext cx="1691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000" dirty="0">
                <a:solidFill>
                  <a:srgbClr val="2F75B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逻辑模型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1298765" y="1823173"/>
            <a:ext cx="2289517" cy="1417320"/>
          </a:xfrm>
          <a:prstGeom prst="rect">
            <a:avLst/>
          </a:prstGeom>
          <a:solidFill>
            <a:srgbClr val="FFFFFF"/>
          </a:solidFill>
          <a:ln w="12700">
            <a:solidFill>
              <a:srgbClr val="76A7D1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298765" y="1823173"/>
            <a:ext cx="2289517" cy="327074"/>
          </a:xfrm>
          <a:prstGeom prst="rect">
            <a:avLst/>
          </a:prstGeom>
          <a:solidFill>
            <a:srgbClr val="5C9BD5"/>
          </a:solidFill>
          <a:ln w="6350">
            <a:solidFill>
              <a:srgbClr val="5C9BD5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353629" y="1823173"/>
            <a:ext cx="2179789" cy="32707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APP_USER 用户</a:t>
            </a:r>
            <a:endParaRPr lang="en-US" sz="850" dirty="0"/>
          </a:p>
        </p:txBody>
      </p:sp>
      <p:sp>
        <p:nvSpPr>
          <p:cNvPr id="8" name="Shape 6"/>
          <p:cNvSpPr/>
          <p:nvPr/>
        </p:nvSpPr>
        <p:spPr>
          <a:xfrm>
            <a:off x="1298765" y="2499126"/>
            <a:ext cx="2289517" cy="0"/>
          </a:xfrm>
          <a:prstGeom prst="line">
            <a:avLst/>
          </a:prstGeom>
          <a:noFill/>
          <a:ln w="5715">
            <a:solidFill>
              <a:srgbClr val="D7E3ED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353629" y="2248369"/>
            <a:ext cx="256032" cy="250757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20" b="1" dirty="0">
                <a:solidFill>
                  <a:srgbClr val="A768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PK</a:t>
            </a:r>
            <a:endParaRPr lang="en-US" sz="720" dirty="0"/>
          </a:p>
        </p:txBody>
      </p:sp>
      <p:sp>
        <p:nvSpPr>
          <p:cNvPr id="10" name="Text 8"/>
          <p:cNvSpPr/>
          <p:nvPr/>
        </p:nvSpPr>
        <p:spPr>
          <a:xfrm>
            <a:off x="1682813" y="2248369"/>
            <a:ext cx="1850605" cy="250757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80" dirty="0">
                <a:solidFill>
                  <a:srgbClr val="1932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user_id</a:t>
            </a:r>
            <a:endParaRPr lang="en-US" sz="780" dirty="0"/>
          </a:p>
        </p:txBody>
      </p:sp>
      <p:sp>
        <p:nvSpPr>
          <p:cNvPr id="11" name="Shape 9"/>
          <p:cNvSpPr/>
          <p:nvPr/>
        </p:nvSpPr>
        <p:spPr>
          <a:xfrm>
            <a:off x="1298765" y="2749882"/>
            <a:ext cx="2289517" cy="0"/>
          </a:xfrm>
          <a:prstGeom prst="line">
            <a:avLst/>
          </a:prstGeom>
          <a:noFill/>
          <a:ln w="5715">
            <a:solidFill>
              <a:srgbClr val="D7E3ED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353629" y="2499126"/>
            <a:ext cx="256032" cy="250757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endParaRPr lang="en-US" sz="720" dirty="0"/>
          </a:p>
        </p:txBody>
      </p:sp>
      <p:sp>
        <p:nvSpPr>
          <p:cNvPr id="13" name="Text 11"/>
          <p:cNvSpPr/>
          <p:nvPr/>
        </p:nvSpPr>
        <p:spPr>
          <a:xfrm>
            <a:off x="1682813" y="2499126"/>
            <a:ext cx="1850605" cy="250757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80" dirty="0">
                <a:solidFill>
                  <a:srgbClr val="1932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username</a:t>
            </a:r>
            <a:endParaRPr lang="en-US" sz="780" dirty="0"/>
          </a:p>
        </p:txBody>
      </p:sp>
      <p:sp>
        <p:nvSpPr>
          <p:cNvPr id="14" name="Shape 12"/>
          <p:cNvSpPr/>
          <p:nvPr/>
        </p:nvSpPr>
        <p:spPr>
          <a:xfrm>
            <a:off x="1298765" y="3000639"/>
            <a:ext cx="2289517" cy="0"/>
          </a:xfrm>
          <a:prstGeom prst="line">
            <a:avLst/>
          </a:prstGeom>
          <a:noFill/>
          <a:ln w="5715">
            <a:solidFill>
              <a:srgbClr val="D7E3ED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353629" y="2749882"/>
            <a:ext cx="256032" cy="250757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endParaRPr lang="en-US" sz="720" dirty="0"/>
          </a:p>
        </p:txBody>
      </p:sp>
      <p:sp>
        <p:nvSpPr>
          <p:cNvPr id="16" name="Text 14"/>
          <p:cNvSpPr/>
          <p:nvPr/>
        </p:nvSpPr>
        <p:spPr>
          <a:xfrm>
            <a:off x="1682813" y="2749882"/>
            <a:ext cx="1850605" cy="250757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80" dirty="0">
                <a:solidFill>
                  <a:srgbClr val="1932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password</a:t>
            </a:r>
            <a:endParaRPr lang="en-US" sz="780" dirty="0"/>
          </a:p>
        </p:txBody>
      </p:sp>
      <p:sp>
        <p:nvSpPr>
          <p:cNvPr id="17" name="Shape 15"/>
          <p:cNvSpPr/>
          <p:nvPr/>
        </p:nvSpPr>
        <p:spPr>
          <a:xfrm>
            <a:off x="1298765" y="3251395"/>
            <a:ext cx="2289517" cy="0"/>
          </a:xfrm>
          <a:prstGeom prst="line">
            <a:avLst/>
          </a:prstGeom>
          <a:noFill/>
          <a:ln w="5715">
            <a:solidFill>
              <a:srgbClr val="D7E3ED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353629" y="3000639"/>
            <a:ext cx="256032" cy="250757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endParaRPr lang="en-US" sz="720" dirty="0"/>
          </a:p>
        </p:txBody>
      </p:sp>
      <p:sp>
        <p:nvSpPr>
          <p:cNvPr id="19" name="Text 17"/>
          <p:cNvSpPr/>
          <p:nvPr/>
        </p:nvSpPr>
        <p:spPr>
          <a:xfrm>
            <a:off x="1682813" y="3000639"/>
            <a:ext cx="1850605" cy="250757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80" dirty="0">
                <a:solidFill>
                  <a:srgbClr val="1932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phone</a:t>
            </a:r>
            <a:endParaRPr lang="en-US" sz="780" dirty="0"/>
          </a:p>
        </p:txBody>
      </p:sp>
      <p:sp>
        <p:nvSpPr>
          <p:cNvPr id="20" name="Shape 18"/>
          <p:cNvSpPr/>
          <p:nvPr/>
        </p:nvSpPr>
        <p:spPr>
          <a:xfrm>
            <a:off x="5005601" y="1441587"/>
            <a:ext cx="2289517" cy="1668077"/>
          </a:xfrm>
          <a:prstGeom prst="rect">
            <a:avLst/>
          </a:prstGeom>
          <a:solidFill>
            <a:srgbClr val="FFFFFF"/>
          </a:solidFill>
          <a:ln w="12700">
            <a:solidFill>
              <a:srgbClr val="76A7D1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5005601" y="1441587"/>
            <a:ext cx="2289517" cy="327074"/>
          </a:xfrm>
          <a:prstGeom prst="rect">
            <a:avLst/>
          </a:prstGeom>
          <a:solidFill>
            <a:srgbClr val="5C9BD5"/>
          </a:solidFill>
          <a:ln w="6350">
            <a:solidFill>
              <a:srgbClr val="5C9BD5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060465" y="1441587"/>
            <a:ext cx="2179789" cy="32707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SHIPPING_ADDRESS 收货信息</a:t>
            </a:r>
            <a:endParaRPr lang="en-US" sz="850" dirty="0"/>
          </a:p>
        </p:txBody>
      </p:sp>
      <p:sp>
        <p:nvSpPr>
          <p:cNvPr id="23" name="Shape 21"/>
          <p:cNvSpPr/>
          <p:nvPr/>
        </p:nvSpPr>
        <p:spPr>
          <a:xfrm>
            <a:off x="5005601" y="2117539"/>
            <a:ext cx="2289517" cy="0"/>
          </a:xfrm>
          <a:prstGeom prst="line">
            <a:avLst/>
          </a:prstGeom>
          <a:noFill/>
          <a:ln w="5715">
            <a:solidFill>
              <a:srgbClr val="D7E3ED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060465" y="1866783"/>
            <a:ext cx="256032" cy="250757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20" b="1" dirty="0">
                <a:solidFill>
                  <a:srgbClr val="A768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PK</a:t>
            </a:r>
            <a:endParaRPr lang="en-US" sz="720" dirty="0"/>
          </a:p>
        </p:txBody>
      </p:sp>
      <p:sp>
        <p:nvSpPr>
          <p:cNvPr id="25" name="Text 23"/>
          <p:cNvSpPr/>
          <p:nvPr/>
        </p:nvSpPr>
        <p:spPr>
          <a:xfrm>
            <a:off x="5389649" y="1866783"/>
            <a:ext cx="1850605" cy="250757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80" dirty="0">
                <a:solidFill>
                  <a:srgbClr val="1932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address_id</a:t>
            </a:r>
            <a:endParaRPr lang="en-US" sz="780" dirty="0"/>
          </a:p>
        </p:txBody>
      </p:sp>
      <p:sp>
        <p:nvSpPr>
          <p:cNvPr id="26" name="Shape 24"/>
          <p:cNvSpPr/>
          <p:nvPr/>
        </p:nvSpPr>
        <p:spPr>
          <a:xfrm>
            <a:off x="5005601" y="2368296"/>
            <a:ext cx="2289517" cy="0"/>
          </a:xfrm>
          <a:prstGeom prst="line">
            <a:avLst/>
          </a:prstGeom>
          <a:noFill/>
          <a:ln w="5715">
            <a:solidFill>
              <a:srgbClr val="D7E3ED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060465" y="2117539"/>
            <a:ext cx="256032" cy="250757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20" b="1" dirty="0">
                <a:solidFill>
                  <a:srgbClr val="2F75B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FK</a:t>
            </a:r>
            <a:endParaRPr lang="en-US" sz="720" dirty="0"/>
          </a:p>
        </p:txBody>
      </p:sp>
      <p:sp>
        <p:nvSpPr>
          <p:cNvPr id="28" name="Text 26"/>
          <p:cNvSpPr/>
          <p:nvPr/>
        </p:nvSpPr>
        <p:spPr>
          <a:xfrm>
            <a:off x="5389649" y="2117539"/>
            <a:ext cx="1850605" cy="250757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80" dirty="0">
                <a:solidFill>
                  <a:srgbClr val="1932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user_id</a:t>
            </a:r>
            <a:endParaRPr lang="en-US" sz="780" dirty="0"/>
          </a:p>
        </p:txBody>
      </p:sp>
      <p:sp>
        <p:nvSpPr>
          <p:cNvPr id="29" name="Shape 27"/>
          <p:cNvSpPr/>
          <p:nvPr/>
        </p:nvSpPr>
        <p:spPr>
          <a:xfrm>
            <a:off x="5005601" y="2619053"/>
            <a:ext cx="2289517" cy="0"/>
          </a:xfrm>
          <a:prstGeom prst="line">
            <a:avLst/>
          </a:prstGeom>
          <a:noFill/>
          <a:ln w="5715">
            <a:solidFill>
              <a:srgbClr val="D7E3ED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5060465" y="2368296"/>
            <a:ext cx="256032" cy="250757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endParaRPr lang="en-US" sz="720" dirty="0"/>
          </a:p>
        </p:txBody>
      </p:sp>
      <p:sp>
        <p:nvSpPr>
          <p:cNvPr id="31" name="Text 29"/>
          <p:cNvSpPr/>
          <p:nvPr/>
        </p:nvSpPr>
        <p:spPr>
          <a:xfrm>
            <a:off x="5389649" y="2368296"/>
            <a:ext cx="1850605" cy="250757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80" dirty="0">
                <a:solidFill>
                  <a:srgbClr val="1932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receiver_name</a:t>
            </a:r>
            <a:endParaRPr lang="en-US" sz="780" dirty="0"/>
          </a:p>
        </p:txBody>
      </p:sp>
      <p:sp>
        <p:nvSpPr>
          <p:cNvPr id="32" name="Shape 30"/>
          <p:cNvSpPr/>
          <p:nvPr/>
        </p:nvSpPr>
        <p:spPr>
          <a:xfrm>
            <a:off x="5005601" y="2869809"/>
            <a:ext cx="2289517" cy="0"/>
          </a:xfrm>
          <a:prstGeom prst="line">
            <a:avLst/>
          </a:prstGeom>
          <a:noFill/>
          <a:ln w="5715">
            <a:solidFill>
              <a:srgbClr val="D7E3ED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5060465" y="2619053"/>
            <a:ext cx="256032" cy="250757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endParaRPr lang="en-US" sz="720" dirty="0"/>
          </a:p>
        </p:txBody>
      </p:sp>
      <p:sp>
        <p:nvSpPr>
          <p:cNvPr id="34" name="Text 32"/>
          <p:cNvSpPr/>
          <p:nvPr/>
        </p:nvSpPr>
        <p:spPr>
          <a:xfrm>
            <a:off x="5389649" y="2619053"/>
            <a:ext cx="1850605" cy="250757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80" dirty="0">
                <a:solidFill>
                  <a:srgbClr val="1932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phone</a:t>
            </a:r>
            <a:endParaRPr lang="en-US" sz="780" dirty="0"/>
          </a:p>
        </p:txBody>
      </p:sp>
      <p:sp>
        <p:nvSpPr>
          <p:cNvPr id="35" name="Shape 33"/>
          <p:cNvSpPr/>
          <p:nvPr/>
        </p:nvSpPr>
        <p:spPr>
          <a:xfrm>
            <a:off x="5005601" y="3120566"/>
            <a:ext cx="2289517" cy="0"/>
          </a:xfrm>
          <a:prstGeom prst="line">
            <a:avLst/>
          </a:prstGeom>
          <a:noFill/>
          <a:ln w="5715">
            <a:solidFill>
              <a:srgbClr val="D7E3ED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5060465" y="2869809"/>
            <a:ext cx="256032" cy="250757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endParaRPr lang="en-US" sz="720" dirty="0"/>
          </a:p>
        </p:txBody>
      </p:sp>
      <p:sp>
        <p:nvSpPr>
          <p:cNvPr id="37" name="Text 35"/>
          <p:cNvSpPr/>
          <p:nvPr/>
        </p:nvSpPr>
        <p:spPr>
          <a:xfrm>
            <a:off x="5389649" y="2869809"/>
            <a:ext cx="1850605" cy="250757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80" dirty="0">
                <a:solidFill>
                  <a:srgbClr val="1932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address_detail</a:t>
            </a:r>
            <a:endParaRPr lang="en-US" sz="780" dirty="0"/>
          </a:p>
        </p:txBody>
      </p:sp>
      <p:sp>
        <p:nvSpPr>
          <p:cNvPr id="38" name="Shape 36"/>
          <p:cNvSpPr/>
          <p:nvPr/>
        </p:nvSpPr>
        <p:spPr>
          <a:xfrm>
            <a:off x="5005601" y="3349518"/>
            <a:ext cx="2289517" cy="1668077"/>
          </a:xfrm>
          <a:prstGeom prst="rect">
            <a:avLst/>
          </a:prstGeom>
          <a:solidFill>
            <a:srgbClr val="FFFFFF"/>
          </a:solidFill>
          <a:ln w="12700">
            <a:solidFill>
              <a:srgbClr val="76A7D1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5005601" y="3349518"/>
            <a:ext cx="2289517" cy="327074"/>
          </a:xfrm>
          <a:prstGeom prst="rect">
            <a:avLst/>
          </a:prstGeom>
          <a:solidFill>
            <a:srgbClr val="5C9BD5"/>
          </a:solidFill>
          <a:ln w="6350">
            <a:solidFill>
              <a:srgbClr val="5C9BD5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5060465" y="3349518"/>
            <a:ext cx="2179789" cy="32707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ATTENDEE 常用购票人</a:t>
            </a:r>
            <a:endParaRPr lang="en-US" sz="850" dirty="0"/>
          </a:p>
        </p:txBody>
      </p:sp>
      <p:sp>
        <p:nvSpPr>
          <p:cNvPr id="41" name="Shape 39"/>
          <p:cNvSpPr/>
          <p:nvPr/>
        </p:nvSpPr>
        <p:spPr>
          <a:xfrm>
            <a:off x="5005601" y="4025470"/>
            <a:ext cx="2289517" cy="0"/>
          </a:xfrm>
          <a:prstGeom prst="line">
            <a:avLst/>
          </a:prstGeom>
          <a:noFill/>
          <a:ln w="5715">
            <a:solidFill>
              <a:srgbClr val="D7E3ED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5060465" y="3774714"/>
            <a:ext cx="256032" cy="250757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20" b="1" dirty="0">
                <a:solidFill>
                  <a:srgbClr val="A768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PK</a:t>
            </a:r>
            <a:endParaRPr lang="en-US" sz="720" dirty="0"/>
          </a:p>
        </p:txBody>
      </p:sp>
      <p:sp>
        <p:nvSpPr>
          <p:cNvPr id="43" name="Text 41"/>
          <p:cNvSpPr/>
          <p:nvPr/>
        </p:nvSpPr>
        <p:spPr>
          <a:xfrm>
            <a:off x="5389649" y="3774714"/>
            <a:ext cx="1850605" cy="250757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80" dirty="0">
                <a:solidFill>
                  <a:srgbClr val="1932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attendee_id</a:t>
            </a:r>
            <a:endParaRPr lang="en-US" sz="780" dirty="0"/>
          </a:p>
        </p:txBody>
      </p:sp>
      <p:sp>
        <p:nvSpPr>
          <p:cNvPr id="44" name="Shape 42"/>
          <p:cNvSpPr/>
          <p:nvPr/>
        </p:nvSpPr>
        <p:spPr>
          <a:xfrm>
            <a:off x="5005601" y="4276227"/>
            <a:ext cx="2289517" cy="0"/>
          </a:xfrm>
          <a:prstGeom prst="line">
            <a:avLst/>
          </a:prstGeom>
          <a:noFill/>
          <a:ln w="5715">
            <a:solidFill>
              <a:srgbClr val="D7E3ED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5060465" y="4025470"/>
            <a:ext cx="256032" cy="250757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20" b="1" dirty="0">
                <a:solidFill>
                  <a:srgbClr val="2F75B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FK</a:t>
            </a:r>
            <a:endParaRPr lang="en-US" sz="720" dirty="0"/>
          </a:p>
        </p:txBody>
      </p:sp>
      <p:sp>
        <p:nvSpPr>
          <p:cNvPr id="46" name="Text 44"/>
          <p:cNvSpPr/>
          <p:nvPr/>
        </p:nvSpPr>
        <p:spPr>
          <a:xfrm>
            <a:off x="5389649" y="4025470"/>
            <a:ext cx="1850605" cy="250757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80" dirty="0">
                <a:solidFill>
                  <a:srgbClr val="1932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user_id</a:t>
            </a:r>
            <a:endParaRPr lang="en-US" sz="780" dirty="0"/>
          </a:p>
        </p:txBody>
      </p:sp>
      <p:sp>
        <p:nvSpPr>
          <p:cNvPr id="47" name="Shape 45"/>
          <p:cNvSpPr/>
          <p:nvPr/>
        </p:nvSpPr>
        <p:spPr>
          <a:xfrm>
            <a:off x="5005601" y="4526983"/>
            <a:ext cx="2289517" cy="0"/>
          </a:xfrm>
          <a:prstGeom prst="line">
            <a:avLst/>
          </a:prstGeom>
          <a:noFill/>
          <a:ln w="5715">
            <a:solidFill>
              <a:srgbClr val="D7E3ED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5060465" y="4276227"/>
            <a:ext cx="256032" cy="250757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endParaRPr lang="en-US" sz="720" dirty="0"/>
          </a:p>
        </p:txBody>
      </p:sp>
      <p:sp>
        <p:nvSpPr>
          <p:cNvPr id="49" name="Text 47"/>
          <p:cNvSpPr/>
          <p:nvPr/>
        </p:nvSpPr>
        <p:spPr>
          <a:xfrm>
            <a:off x="5389649" y="4276227"/>
            <a:ext cx="1850605" cy="250757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80" dirty="0">
                <a:solidFill>
                  <a:srgbClr val="1932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attendee_name</a:t>
            </a:r>
            <a:endParaRPr lang="en-US" sz="780" dirty="0"/>
          </a:p>
        </p:txBody>
      </p:sp>
      <p:sp>
        <p:nvSpPr>
          <p:cNvPr id="50" name="Shape 48"/>
          <p:cNvSpPr/>
          <p:nvPr/>
        </p:nvSpPr>
        <p:spPr>
          <a:xfrm>
            <a:off x="5005601" y="4777740"/>
            <a:ext cx="2289517" cy="0"/>
          </a:xfrm>
          <a:prstGeom prst="line">
            <a:avLst/>
          </a:prstGeom>
          <a:noFill/>
          <a:ln w="5715">
            <a:solidFill>
              <a:srgbClr val="D7E3ED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5060465" y="4526983"/>
            <a:ext cx="256032" cy="250757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endParaRPr lang="en-US" sz="720" dirty="0"/>
          </a:p>
        </p:txBody>
      </p:sp>
      <p:sp>
        <p:nvSpPr>
          <p:cNvPr id="52" name="Text 50"/>
          <p:cNvSpPr/>
          <p:nvPr/>
        </p:nvSpPr>
        <p:spPr>
          <a:xfrm>
            <a:off x="5389649" y="4526983"/>
            <a:ext cx="1850605" cy="250757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80" dirty="0">
                <a:solidFill>
                  <a:srgbClr val="1932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id_type</a:t>
            </a:r>
            <a:endParaRPr lang="en-US" sz="780" dirty="0"/>
          </a:p>
        </p:txBody>
      </p:sp>
      <p:sp>
        <p:nvSpPr>
          <p:cNvPr id="53" name="Shape 51"/>
          <p:cNvSpPr/>
          <p:nvPr/>
        </p:nvSpPr>
        <p:spPr>
          <a:xfrm>
            <a:off x="5005601" y="5028497"/>
            <a:ext cx="2289517" cy="0"/>
          </a:xfrm>
          <a:prstGeom prst="line">
            <a:avLst/>
          </a:prstGeom>
          <a:noFill/>
          <a:ln w="5715">
            <a:solidFill>
              <a:srgbClr val="D7E3ED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5060465" y="4777740"/>
            <a:ext cx="256032" cy="250757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endParaRPr lang="en-US" sz="720" dirty="0"/>
          </a:p>
        </p:txBody>
      </p:sp>
      <p:sp>
        <p:nvSpPr>
          <p:cNvPr id="55" name="Text 53"/>
          <p:cNvSpPr/>
          <p:nvPr/>
        </p:nvSpPr>
        <p:spPr>
          <a:xfrm>
            <a:off x="5389649" y="4777740"/>
            <a:ext cx="1850605" cy="250757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80" dirty="0">
                <a:solidFill>
                  <a:srgbClr val="1932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id_no</a:t>
            </a:r>
            <a:endParaRPr lang="en-US" sz="780" dirty="0"/>
          </a:p>
        </p:txBody>
      </p:sp>
      <p:sp>
        <p:nvSpPr>
          <p:cNvPr id="56" name="Shape 54"/>
          <p:cNvSpPr/>
          <p:nvPr/>
        </p:nvSpPr>
        <p:spPr>
          <a:xfrm>
            <a:off x="4242429" y="2248369"/>
            <a:ext cx="763172" cy="914"/>
          </a:xfrm>
          <a:prstGeom prst="line">
            <a:avLst/>
          </a:prstGeom>
          <a:noFill/>
          <a:ln w="14605">
            <a:solidFill>
              <a:srgbClr val="4B78A8"/>
            </a:solidFill>
            <a:prstDash val="solid"/>
          </a:ln>
        </p:spPr>
      </p:sp>
      <p:sp>
        <p:nvSpPr>
          <p:cNvPr id="57" name="Shape 55"/>
          <p:cNvSpPr/>
          <p:nvPr/>
        </p:nvSpPr>
        <p:spPr>
          <a:xfrm>
            <a:off x="4242429" y="2248369"/>
            <a:ext cx="914" cy="130830"/>
          </a:xfrm>
          <a:prstGeom prst="line">
            <a:avLst/>
          </a:prstGeom>
          <a:noFill/>
          <a:ln w="14605">
            <a:solidFill>
              <a:srgbClr val="4B78A8"/>
            </a:solidFill>
            <a:prstDash val="solid"/>
          </a:ln>
        </p:spPr>
      </p:sp>
      <p:sp>
        <p:nvSpPr>
          <p:cNvPr id="58" name="Shape 56"/>
          <p:cNvSpPr/>
          <p:nvPr/>
        </p:nvSpPr>
        <p:spPr>
          <a:xfrm>
            <a:off x="3588281" y="2379198"/>
            <a:ext cx="654148" cy="914"/>
          </a:xfrm>
          <a:prstGeom prst="line">
            <a:avLst/>
          </a:prstGeom>
          <a:noFill/>
          <a:ln w="14605">
            <a:solidFill>
              <a:srgbClr val="4B78A8"/>
            </a:solidFill>
            <a:prstDash val="solid"/>
          </a:ln>
        </p:spPr>
      </p:sp>
      <p:sp>
        <p:nvSpPr>
          <p:cNvPr id="59" name="Shape 57"/>
          <p:cNvSpPr/>
          <p:nvPr/>
        </p:nvSpPr>
        <p:spPr>
          <a:xfrm>
            <a:off x="4973597" y="2216365"/>
            <a:ext cx="64008" cy="64008"/>
          </a:xfrm>
          <a:prstGeom prst="ellipse">
            <a:avLst/>
          </a:prstGeom>
          <a:solidFill>
            <a:srgbClr val="FFFFFF"/>
          </a:solidFill>
          <a:ln w="13970">
            <a:solidFill>
              <a:srgbClr val="4B78A8"/>
            </a:solidFill>
            <a:prstDash val="solid"/>
          </a:ln>
        </p:spPr>
      </p:sp>
      <p:sp>
        <p:nvSpPr>
          <p:cNvPr id="60" name="Shape 58"/>
          <p:cNvSpPr/>
          <p:nvPr/>
        </p:nvSpPr>
        <p:spPr>
          <a:xfrm>
            <a:off x="3556277" y="2347194"/>
            <a:ext cx="64008" cy="64008"/>
          </a:xfrm>
          <a:prstGeom prst="ellipse">
            <a:avLst/>
          </a:prstGeom>
          <a:solidFill>
            <a:srgbClr val="FFFFFF"/>
          </a:solidFill>
          <a:ln w="13970">
            <a:solidFill>
              <a:srgbClr val="4B78A8"/>
            </a:solidFill>
            <a:prstDash val="solid"/>
          </a:ln>
        </p:spPr>
      </p:sp>
      <p:sp>
        <p:nvSpPr>
          <p:cNvPr id="61" name="Shape 59"/>
          <p:cNvSpPr/>
          <p:nvPr/>
        </p:nvSpPr>
        <p:spPr>
          <a:xfrm>
            <a:off x="4024380" y="4156300"/>
            <a:ext cx="981222" cy="914"/>
          </a:xfrm>
          <a:prstGeom prst="line">
            <a:avLst/>
          </a:prstGeom>
          <a:noFill/>
          <a:ln w="14605">
            <a:solidFill>
              <a:srgbClr val="4B78A8"/>
            </a:solidFill>
            <a:prstDash val="solid"/>
          </a:ln>
        </p:spPr>
      </p:sp>
      <p:sp>
        <p:nvSpPr>
          <p:cNvPr id="62" name="Shape 60"/>
          <p:cNvSpPr/>
          <p:nvPr/>
        </p:nvSpPr>
        <p:spPr>
          <a:xfrm>
            <a:off x="4024380" y="2629955"/>
            <a:ext cx="914" cy="1526345"/>
          </a:xfrm>
          <a:prstGeom prst="line">
            <a:avLst/>
          </a:prstGeom>
          <a:noFill/>
          <a:ln w="14605">
            <a:solidFill>
              <a:srgbClr val="4B78A8"/>
            </a:solidFill>
            <a:prstDash val="solid"/>
          </a:ln>
        </p:spPr>
      </p:sp>
      <p:sp>
        <p:nvSpPr>
          <p:cNvPr id="63" name="Shape 61"/>
          <p:cNvSpPr/>
          <p:nvPr/>
        </p:nvSpPr>
        <p:spPr>
          <a:xfrm>
            <a:off x="3588281" y="2629955"/>
            <a:ext cx="436098" cy="914"/>
          </a:xfrm>
          <a:prstGeom prst="line">
            <a:avLst/>
          </a:prstGeom>
          <a:noFill/>
          <a:ln w="14605">
            <a:solidFill>
              <a:srgbClr val="4B78A8"/>
            </a:solidFill>
            <a:prstDash val="solid"/>
          </a:ln>
        </p:spPr>
      </p:sp>
      <p:sp>
        <p:nvSpPr>
          <p:cNvPr id="64" name="Shape 62"/>
          <p:cNvSpPr/>
          <p:nvPr/>
        </p:nvSpPr>
        <p:spPr>
          <a:xfrm>
            <a:off x="4973597" y="4124296"/>
            <a:ext cx="64008" cy="64008"/>
          </a:xfrm>
          <a:prstGeom prst="ellipse">
            <a:avLst/>
          </a:prstGeom>
          <a:solidFill>
            <a:srgbClr val="FFFFFF"/>
          </a:solidFill>
          <a:ln w="13970">
            <a:solidFill>
              <a:srgbClr val="4B78A8"/>
            </a:solidFill>
            <a:prstDash val="solid"/>
          </a:ln>
        </p:spPr>
      </p:sp>
      <p:sp>
        <p:nvSpPr>
          <p:cNvPr id="65" name="Shape 63"/>
          <p:cNvSpPr/>
          <p:nvPr/>
        </p:nvSpPr>
        <p:spPr>
          <a:xfrm>
            <a:off x="3556277" y="2597951"/>
            <a:ext cx="64008" cy="64008"/>
          </a:xfrm>
          <a:prstGeom prst="ellipse">
            <a:avLst/>
          </a:prstGeom>
          <a:solidFill>
            <a:srgbClr val="FFFFFF"/>
          </a:solidFill>
          <a:ln w="13970">
            <a:solidFill>
              <a:srgbClr val="4B78A8"/>
            </a:solidFill>
            <a:prstDash val="solid"/>
          </a:ln>
        </p:spPr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7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28600"/>
            <a:ext cx="11338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1932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3. 订单交易表：逻辑模型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411480" y="640080"/>
            <a:ext cx="113385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63758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订单、订单明细、场次、票档、地址和购票人的字段级关系。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10058400" y="283464"/>
            <a:ext cx="1691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000" dirty="0">
                <a:solidFill>
                  <a:srgbClr val="2F75B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逻辑模型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1656774" y="1403943"/>
            <a:ext cx="1902460" cy="1177713"/>
          </a:xfrm>
          <a:prstGeom prst="rect">
            <a:avLst/>
          </a:prstGeom>
          <a:solidFill>
            <a:srgbClr val="FFFFFF"/>
          </a:solidFill>
          <a:ln w="12700">
            <a:solidFill>
              <a:srgbClr val="76A7D1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656774" y="1403943"/>
            <a:ext cx="1902460" cy="271780"/>
          </a:xfrm>
          <a:prstGeom prst="rect">
            <a:avLst/>
          </a:prstGeom>
          <a:solidFill>
            <a:srgbClr val="5C9BD5"/>
          </a:solidFill>
          <a:ln w="6350">
            <a:solidFill>
              <a:srgbClr val="5C9BD5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711638" y="1403943"/>
            <a:ext cx="1792732" cy="2717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APP_USER 用户</a:t>
            </a:r>
            <a:endParaRPr lang="en-US" sz="850" dirty="0"/>
          </a:p>
        </p:txBody>
      </p:sp>
      <p:sp>
        <p:nvSpPr>
          <p:cNvPr id="8" name="Shape 6"/>
          <p:cNvSpPr/>
          <p:nvPr/>
        </p:nvSpPr>
        <p:spPr>
          <a:xfrm>
            <a:off x="1656774" y="1965621"/>
            <a:ext cx="1902460" cy="0"/>
          </a:xfrm>
          <a:prstGeom prst="line">
            <a:avLst/>
          </a:prstGeom>
          <a:noFill/>
          <a:ln w="5715">
            <a:solidFill>
              <a:srgbClr val="D7E3ED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711638" y="1757257"/>
            <a:ext cx="256032" cy="20836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20" b="1" dirty="0">
                <a:solidFill>
                  <a:srgbClr val="A768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PK</a:t>
            </a:r>
            <a:endParaRPr lang="en-US" sz="720" dirty="0"/>
          </a:p>
        </p:txBody>
      </p:sp>
      <p:sp>
        <p:nvSpPr>
          <p:cNvPr id="10" name="Text 8"/>
          <p:cNvSpPr/>
          <p:nvPr/>
        </p:nvSpPr>
        <p:spPr>
          <a:xfrm>
            <a:off x="2040822" y="1757257"/>
            <a:ext cx="1463548" cy="20836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80" dirty="0">
                <a:solidFill>
                  <a:srgbClr val="1932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user_id</a:t>
            </a:r>
            <a:endParaRPr lang="en-US" sz="780" dirty="0"/>
          </a:p>
        </p:txBody>
      </p:sp>
      <p:sp>
        <p:nvSpPr>
          <p:cNvPr id="11" name="Shape 9"/>
          <p:cNvSpPr/>
          <p:nvPr/>
        </p:nvSpPr>
        <p:spPr>
          <a:xfrm>
            <a:off x="1656774" y="2173986"/>
            <a:ext cx="1902460" cy="0"/>
          </a:xfrm>
          <a:prstGeom prst="line">
            <a:avLst/>
          </a:prstGeom>
          <a:noFill/>
          <a:ln w="5715">
            <a:solidFill>
              <a:srgbClr val="D7E3ED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711638" y="1965621"/>
            <a:ext cx="256032" cy="20836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endParaRPr lang="en-US" sz="720" dirty="0"/>
          </a:p>
        </p:txBody>
      </p:sp>
      <p:sp>
        <p:nvSpPr>
          <p:cNvPr id="13" name="Text 11"/>
          <p:cNvSpPr/>
          <p:nvPr/>
        </p:nvSpPr>
        <p:spPr>
          <a:xfrm>
            <a:off x="2040822" y="1965621"/>
            <a:ext cx="1463548" cy="20836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80" dirty="0">
                <a:solidFill>
                  <a:srgbClr val="1932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username</a:t>
            </a:r>
            <a:endParaRPr lang="en-US" sz="780" dirty="0"/>
          </a:p>
        </p:txBody>
      </p:sp>
      <p:sp>
        <p:nvSpPr>
          <p:cNvPr id="14" name="Shape 12"/>
          <p:cNvSpPr/>
          <p:nvPr/>
        </p:nvSpPr>
        <p:spPr>
          <a:xfrm>
            <a:off x="1656774" y="2382351"/>
            <a:ext cx="1902460" cy="0"/>
          </a:xfrm>
          <a:prstGeom prst="line">
            <a:avLst/>
          </a:prstGeom>
          <a:noFill/>
          <a:ln w="5715">
            <a:solidFill>
              <a:srgbClr val="D7E3ED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711638" y="2173986"/>
            <a:ext cx="256032" cy="20836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endParaRPr lang="en-US" sz="720" dirty="0"/>
          </a:p>
        </p:txBody>
      </p:sp>
      <p:sp>
        <p:nvSpPr>
          <p:cNvPr id="16" name="Text 14"/>
          <p:cNvSpPr/>
          <p:nvPr/>
        </p:nvSpPr>
        <p:spPr>
          <a:xfrm>
            <a:off x="2040822" y="2173986"/>
            <a:ext cx="1463548" cy="20836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80" dirty="0">
                <a:solidFill>
                  <a:srgbClr val="1932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password</a:t>
            </a:r>
            <a:endParaRPr lang="en-US" sz="780" dirty="0"/>
          </a:p>
        </p:txBody>
      </p:sp>
      <p:sp>
        <p:nvSpPr>
          <p:cNvPr id="17" name="Shape 15"/>
          <p:cNvSpPr/>
          <p:nvPr/>
        </p:nvSpPr>
        <p:spPr>
          <a:xfrm>
            <a:off x="1656774" y="2590715"/>
            <a:ext cx="1902460" cy="0"/>
          </a:xfrm>
          <a:prstGeom prst="line">
            <a:avLst/>
          </a:prstGeom>
          <a:noFill/>
          <a:ln w="5715">
            <a:solidFill>
              <a:srgbClr val="D7E3ED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711638" y="2382351"/>
            <a:ext cx="256032" cy="20836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endParaRPr lang="en-US" sz="720" dirty="0"/>
          </a:p>
        </p:txBody>
      </p:sp>
      <p:sp>
        <p:nvSpPr>
          <p:cNvPr id="19" name="Text 17"/>
          <p:cNvSpPr/>
          <p:nvPr/>
        </p:nvSpPr>
        <p:spPr>
          <a:xfrm>
            <a:off x="2040822" y="2382351"/>
            <a:ext cx="1463548" cy="20836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80" dirty="0">
                <a:solidFill>
                  <a:srgbClr val="1932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phone</a:t>
            </a:r>
            <a:endParaRPr lang="en-US" sz="780" dirty="0"/>
          </a:p>
        </p:txBody>
      </p:sp>
      <p:sp>
        <p:nvSpPr>
          <p:cNvPr id="20" name="Shape 18"/>
          <p:cNvSpPr/>
          <p:nvPr/>
        </p:nvSpPr>
        <p:spPr>
          <a:xfrm>
            <a:off x="1656774" y="3668776"/>
            <a:ext cx="1902460" cy="1386078"/>
          </a:xfrm>
          <a:prstGeom prst="rect">
            <a:avLst/>
          </a:prstGeom>
          <a:solidFill>
            <a:srgbClr val="FFFFFF"/>
          </a:solidFill>
          <a:ln w="12700">
            <a:solidFill>
              <a:srgbClr val="76A7D1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1656774" y="3668776"/>
            <a:ext cx="1902460" cy="271780"/>
          </a:xfrm>
          <a:prstGeom prst="rect">
            <a:avLst/>
          </a:prstGeom>
          <a:solidFill>
            <a:srgbClr val="5C9BD5"/>
          </a:solidFill>
          <a:ln w="6350">
            <a:solidFill>
              <a:srgbClr val="5C9BD5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1711638" y="3668776"/>
            <a:ext cx="1792732" cy="2717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SHIPPING_ADDRESS 收货信息</a:t>
            </a:r>
            <a:endParaRPr lang="en-US" sz="850" dirty="0"/>
          </a:p>
        </p:txBody>
      </p:sp>
      <p:sp>
        <p:nvSpPr>
          <p:cNvPr id="23" name="Shape 21"/>
          <p:cNvSpPr/>
          <p:nvPr/>
        </p:nvSpPr>
        <p:spPr>
          <a:xfrm>
            <a:off x="1656774" y="4230455"/>
            <a:ext cx="1902460" cy="0"/>
          </a:xfrm>
          <a:prstGeom prst="line">
            <a:avLst/>
          </a:prstGeom>
          <a:noFill/>
          <a:ln w="5715">
            <a:solidFill>
              <a:srgbClr val="D7E3ED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1711638" y="4022090"/>
            <a:ext cx="256032" cy="20836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20" b="1" dirty="0">
                <a:solidFill>
                  <a:srgbClr val="A768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PK</a:t>
            </a:r>
            <a:endParaRPr lang="en-US" sz="720" dirty="0"/>
          </a:p>
        </p:txBody>
      </p:sp>
      <p:sp>
        <p:nvSpPr>
          <p:cNvPr id="25" name="Text 23"/>
          <p:cNvSpPr/>
          <p:nvPr/>
        </p:nvSpPr>
        <p:spPr>
          <a:xfrm>
            <a:off x="2040822" y="4022090"/>
            <a:ext cx="1463548" cy="20836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80" dirty="0">
                <a:solidFill>
                  <a:srgbClr val="1932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address_id</a:t>
            </a:r>
            <a:endParaRPr lang="en-US" sz="780" dirty="0"/>
          </a:p>
        </p:txBody>
      </p:sp>
      <p:sp>
        <p:nvSpPr>
          <p:cNvPr id="26" name="Shape 24"/>
          <p:cNvSpPr/>
          <p:nvPr/>
        </p:nvSpPr>
        <p:spPr>
          <a:xfrm>
            <a:off x="1656774" y="4438819"/>
            <a:ext cx="1902460" cy="0"/>
          </a:xfrm>
          <a:prstGeom prst="line">
            <a:avLst/>
          </a:prstGeom>
          <a:noFill/>
          <a:ln w="5715">
            <a:solidFill>
              <a:srgbClr val="D7E3ED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1711638" y="4230455"/>
            <a:ext cx="256032" cy="20836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20" b="1" dirty="0">
                <a:solidFill>
                  <a:srgbClr val="2F75B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FK</a:t>
            </a:r>
            <a:endParaRPr lang="en-US" sz="720" dirty="0"/>
          </a:p>
        </p:txBody>
      </p:sp>
      <p:sp>
        <p:nvSpPr>
          <p:cNvPr id="28" name="Text 26"/>
          <p:cNvSpPr/>
          <p:nvPr/>
        </p:nvSpPr>
        <p:spPr>
          <a:xfrm>
            <a:off x="2040822" y="4230455"/>
            <a:ext cx="1463548" cy="20836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80" dirty="0">
                <a:solidFill>
                  <a:srgbClr val="1932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user_id</a:t>
            </a:r>
            <a:endParaRPr lang="en-US" sz="780" dirty="0"/>
          </a:p>
        </p:txBody>
      </p:sp>
      <p:sp>
        <p:nvSpPr>
          <p:cNvPr id="29" name="Shape 27"/>
          <p:cNvSpPr/>
          <p:nvPr/>
        </p:nvSpPr>
        <p:spPr>
          <a:xfrm>
            <a:off x="1656774" y="4647184"/>
            <a:ext cx="1902460" cy="0"/>
          </a:xfrm>
          <a:prstGeom prst="line">
            <a:avLst/>
          </a:prstGeom>
          <a:noFill/>
          <a:ln w="5715">
            <a:solidFill>
              <a:srgbClr val="D7E3ED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1711638" y="4438819"/>
            <a:ext cx="256032" cy="20836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endParaRPr lang="en-US" sz="720" dirty="0"/>
          </a:p>
        </p:txBody>
      </p:sp>
      <p:sp>
        <p:nvSpPr>
          <p:cNvPr id="31" name="Text 29"/>
          <p:cNvSpPr/>
          <p:nvPr/>
        </p:nvSpPr>
        <p:spPr>
          <a:xfrm>
            <a:off x="2040822" y="4438819"/>
            <a:ext cx="1463548" cy="20836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80" dirty="0">
                <a:solidFill>
                  <a:srgbClr val="1932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receiver_name</a:t>
            </a:r>
            <a:endParaRPr lang="en-US" sz="780" dirty="0"/>
          </a:p>
        </p:txBody>
      </p:sp>
      <p:sp>
        <p:nvSpPr>
          <p:cNvPr id="32" name="Shape 30"/>
          <p:cNvSpPr/>
          <p:nvPr/>
        </p:nvSpPr>
        <p:spPr>
          <a:xfrm>
            <a:off x="1656774" y="4855549"/>
            <a:ext cx="1902460" cy="0"/>
          </a:xfrm>
          <a:prstGeom prst="line">
            <a:avLst/>
          </a:prstGeom>
          <a:noFill/>
          <a:ln w="5715">
            <a:solidFill>
              <a:srgbClr val="D7E3ED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1711638" y="4647184"/>
            <a:ext cx="256032" cy="20836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endParaRPr lang="en-US" sz="720" dirty="0"/>
          </a:p>
        </p:txBody>
      </p:sp>
      <p:sp>
        <p:nvSpPr>
          <p:cNvPr id="34" name="Text 32"/>
          <p:cNvSpPr/>
          <p:nvPr/>
        </p:nvSpPr>
        <p:spPr>
          <a:xfrm>
            <a:off x="2040822" y="4647184"/>
            <a:ext cx="1463548" cy="20836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80" dirty="0">
                <a:solidFill>
                  <a:srgbClr val="1932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phone</a:t>
            </a:r>
            <a:endParaRPr lang="en-US" sz="780" dirty="0"/>
          </a:p>
        </p:txBody>
      </p:sp>
      <p:sp>
        <p:nvSpPr>
          <p:cNvPr id="35" name="Shape 33"/>
          <p:cNvSpPr/>
          <p:nvPr/>
        </p:nvSpPr>
        <p:spPr>
          <a:xfrm>
            <a:off x="1656774" y="5063913"/>
            <a:ext cx="1902460" cy="0"/>
          </a:xfrm>
          <a:prstGeom prst="line">
            <a:avLst/>
          </a:prstGeom>
          <a:noFill/>
          <a:ln w="5715">
            <a:solidFill>
              <a:srgbClr val="D7E3ED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1711638" y="4855549"/>
            <a:ext cx="256032" cy="20836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endParaRPr lang="en-US" sz="720" dirty="0"/>
          </a:p>
        </p:txBody>
      </p:sp>
      <p:sp>
        <p:nvSpPr>
          <p:cNvPr id="37" name="Text 35"/>
          <p:cNvSpPr/>
          <p:nvPr/>
        </p:nvSpPr>
        <p:spPr>
          <a:xfrm>
            <a:off x="2040822" y="4855549"/>
            <a:ext cx="1463548" cy="20836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80" dirty="0">
                <a:solidFill>
                  <a:srgbClr val="1932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address_detail</a:t>
            </a:r>
            <a:endParaRPr lang="en-US" sz="780" dirty="0"/>
          </a:p>
        </p:txBody>
      </p:sp>
      <p:sp>
        <p:nvSpPr>
          <p:cNvPr id="38" name="Shape 36"/>
          <p:cNvSpPr/>
          <p:nvPr/>
        </p:nvSpPr>
        <p:spPr>
          <a:xfrm>
            <a:off x="4102794" y="1403943"/>
            <a:ext cx="1902460" cy="1386078"/>
          </a:xfrm>
          <a:prstGeom prst="rect">
            <a:avLst/>
          </a:prstGeom>
          <a:solidFill>
            <a:srgbClr val="FFFFFF"/>
          </a:solidFill>
          <a:ln w="12700">
            <a:solidFill>
              <a:srgbClr val="76A7D1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4102794" y="1403943"/>
            <a:ext cx="1902460" cy="271780"/>
          </a:xfrm>
          <a:prstGeom prst="rect">
            <a:avLst/>
          </a:prstGeom>
          <a:solidFill>
            <a:srgbClr val="5C9BD5"/>
          </a:solidFill>
          <a:ln w="6350">
            <a:solidFill>
              <a:srgbClr val="5C9BD5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4157658" y="1403943"/>
            <a:ext cx="1792732" cy="2717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SHOW_SESSION 演出场次</a:t>
            </a:r>
            <a:endParaRPr lang="en-US" sz="850" dirty="0"/>
          </a:p>
        </p:txBody>
      </p:sp>
      <p:sp>
        <p:nvSpPr>
          <p:cNvPr id="41" name="Shape 39"/>
          <p:cNvSpPr/>
          <p:nvPr/>
        </p:nvSpPr>
        <p:spPr>
          <a:xfrm>
            <a:off x="4102794" y="1965621"/>
            <a:ext cx="1902460" cy="0"/>
          </a:xfrm>
          <a:prstGeom prst="line">
            <a:avLst/>
          </a:prstGeom>
          <a:noFill/>
          <a:ln w="5715">
            <a:solidFill>
              <a:srgbClr val="D7E3ED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4157658" y="1757257"/>
            <a:ext cx="256032" cy="20836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20" b="1" dirty="0">
                <a:solidFill>
                  <a:srgbClr val="A768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PK</a:t>
            </a:r>
            <a:endParaRPr lang="en-US" sz="720" dirty="0"/>
          </a:p>
        </p:txBody>
      </p:sp>
      <p:sp>
        <p:nvSpPr>
          <p:cNvPr id="43" name="Text 41"/>
          <p:cNvSpPr/>
          <p:nvPr/>
        </p:nvSpPr>
        <p:spPr>
          <a:xfrm>
            <a:off x="4486842" y="1757257"/>
            <a:ext cx="1463548" cy="20836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80" dirty="0">
                <a:solidFill>
                  <a:srgbClr val="1932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session_id</a:t>
            </a:r>
            <a:endParaRPr lang="en-US" sz="780" dirty="0"/>
          </a:p>
        </p:txBody>
      </p:sp>
      <p:sp>
        <p:nvSpPr>
          <p:cNvPr id="44" name="Shape 42"/>
          <p:cNvSpPr/>
          <p:nvPr/>
        </p:nvSpPr>
        <p:spPr>
          <a:xfrm>
            <a:off x="4102794" y="2173986"/>
            <a:ext cx="1902460" cy="0"/>
          </a:xfrm>
          <a:prstGeom prst="line">
            <a:avLst/>
          </a:prstGeom>
          <a:noFill/>
          <a:ln w="5715">
            <a:solidFill>
              <a:srgbClr val="D7E3ED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4157658" y="1965621"/>
            <a:ext cx="256032" cy="20836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20" b="1" dirty="0">
                <a:solidFill>
                  <a:srgbClr val="2F75B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FK</a:t>
            </a:r>
            <a:endParaRPr lang="en-US" sz="720" dirty="0"/>
          </a:p>
        </p:txBody>
      </p:sp>
      <p:sp>
        <p:nvSpPr>
          <p:cNvPr id="46" name="Text 44"/>
          <p:cNvSpPr/>
          <p:nvPr/>
        </p:nvSpPr>
        <p:spPr>
          <a:xfrm>
            <a:off x="4486842" y="1965621"/>
            <a:ext cx="1463548" cy="20836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80" dirty="0">
                <a:solidFill>
                  <a:srgbClr val="1932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show_id</a:t>
            </a:r>
            <a:endParaRPr lang="en-US" sz="780" dirty="0"/>
          </a:p>
        </p:txBody>
      </p:sp>
      <p:sp>
        <p:nvSpPr>
          <p:cNvPr id="47" name="Shape 45"/>
          <p:cNvSpPr/>
          <p:nvPr/>
        </p:nvSpPr>
        <p:spPr>
          <a:xfrm>
            <a:off x="4102794" y="2382351"/>
            <a:ext cx="1902460" cy="0"/>
          </a:xfrm>
          <a:prstGeom prst="line">
            <a:avLst/>
          </a:prstGeom>
          <a:noFill/>
          <a:ln w="5715">
            <a:solidFill>
              <a:srgbClr val="D7E3ED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4157658" y="2173986"/>
            <a:ext cx="256032" cy="20836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20" b="1" dirty="0">
                <a:solidFill>
                  <a:srgbClr val="2F75B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FK</a:t>
            </a:r>
            <a:endParaRPr lang="en-US" sz="720" dirty="0"/>
          </a:p>
        </p:txBody>
      </p:sp>
      <p:sp>
        <p:nvSpPr>
          <p:cNvPr id="49" name="Text 47"/>
          <p:cNvSpPr/>
          <p:nvPr/>
        </p:nvSpPr>
        <p:spPr>
          <a:xfrm>
            <a:off x="4486842" y="2173986"/>
            <a:ext cx="1463548" cy="20836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80" dirty="0">
                <a:solidFill>
                  <a:srgbClr val="1932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venue_id</a:t>
            </a:r>
            <a:endParaRPr lang="en-US" sz="780" dirty="0"/>
          </a:p>
        </p:txBody>
      </p:sp>
      <p:sp>
        <p:nvSpPr>
          <p:cNvPr id="50" name="Shape 48"/>
          <p:cNvSpPr/>
          <p:nvPr/>
        </p:nvSpPr>
        <p:spPr>
          <a:xfrm>
            <a:off x="4102794" y="2590715"/>
            <a:ext cx="1902460" cy="0"/>
          </a:xfrm>
          <a:prstGeom prst="line">
            <a:avLst/>
          </a:prstGeom>
          <a:noFill/>
          <a:ln w="5715">
            <a:solidFill>
              <a:srgbClr val="D7E3ED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4157658" y="2382351"/>
            <a:ext cx="256032" cy="20836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endParaRPr lang="en-US" sz="720" dirty="0"/>
          </a:p>
        </p:txBody>
      </p:sp>
      <p:sp>
        <p:nvSpPr>
          <p:cNvPr id="52" name="Text 50"/>
          <p:cNvSpPr/>
          <p:nvPr/>
        </p:nvSpPr>
        <p:spPr>
          <a:xfrm>
            <a:off x="4486842" y="2382351"/>
            <a:ext cx="1463548" cy="20836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80" dirty="0">
                <a:solidFill>
                  <a:srgbClr val="1932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show_time</a:t>
            </a:r>
            <a:endParaRPr lang="en-US" sz="780" dirty="0"/>
          </a:p>
        </p:txBody>
      </p:sp>
      <p:sp>
        <p:nvSpPr>
          <p:cNvPr id="53" name="Shape 51"/>
          <p:cNvSpPr/>
          <p:nvPr/>
        </p:nvSpPr>
        <p:spPr>
          <a:xfrm>
            <a:off x="4102794" y="2799080"/>
            <a:ext cx="1902460" cy="0"/>
          </a:xfrm>
          <a:prstGeom prst="line">
            <a:avLst/>
          </a:prstGeom>
          <a:noFill/>
          <a:ln w="5715">
            <a:solidFill>
              <a:srgbClr val="D7E3ED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4157658" y="2590715"/>
            <a:ext cx="256032" cy="20836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endParaRPr lang="en-US" sz="720" dirty="0"/>
          </a:p>
        </p:txBody>
      </p:sp>
      <p:sp>
        <p:nvSpPr>
          <p:cNvPr id="55" name="Text 53"/>
          <p:cNvSpPr/>
          <p:nvPr/>
        </p:nvSpPr>
        <p:spPr>
          <a:xfrm>
            <a:off x="4486842" y="2590715"/>
            <a:ext cx="1463548" cy="20836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80" dirty="0">
                <a:solidFill>
                  <a:srgbClr val="1932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sale_status</a:t>
            </a:r>
            <a:endParaRPr lang="en-US" sz="780" dirty="0"/>
          </a:p>
        </p:txBody>
      </p:sp>
      <p:sp>
        <p:nvSpPr>
          <p:cNvPr id="56" name="Shape 54"/>
          <p:cNvSpPr/>
          <p:nvPr/>
        </p:nvSpPr>
        <p:spPr>
          <a:xfrm>
            <a:off x="6548814" y="1403943"/>
            <a:ext cx="1902460" cy="1386078"/>
          </a:xfrm>
          <a:prstGeom prst="rect">
            <a:avLst/>
          </a:prstGeom>
          <a:solidFill>
            <a:srgbClr val="FFFFFF"/>
          </a:solidFill>
          <a:ln w="12700">
            <a:solidFill>
              <a:srgbClr val="76A7D1"/>
            </a:solidFill>
            <a:prstDash val="solid"/>
          </a:ln>
        </p:spPr>
      </p:sp>
      <p:sp>
        <p:nvSpPr>
          <p:cNvPr id="57" name="Shape 55"/>
          <p:cNvSpPr/>
          <p:nvPr/>
        </p:nvSpPr>
        <p:spPr>
          <a:xfrm>
            <a:off x="6548814" y="1403943"/>
            <a:ext cx="1902460" cy="271780"/>
          </a:xfrm>
          <a:prstGeom prst="rect">
            <a:avLst/>
          </a:prstGeom>
          <a:solidFill>
            <a:srgbClr val="5C9BD5"/>
          </a:solidFill>
          <a:ln w="6350">
            <a:solidFill>
              <a:srgbClr val="5C9BD5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6603678" y="1403943"/>
            <a:ext cx="1792732" cy="2717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TICKET_TIER 票档</a:t>
            </a:r>
            <a:endParaRPr lang="en-US" sz="850" dirty="0"/>
          </a:p>
        </p:txBody>
      </p:sp>
      <p:sp>
        <p:nvSpPr>
          <p:cNvPr id="59" name="Shape 57"/>
          <p:cNvSpPr/>
          <p:nvPr/>
        </p:nvSpPr>
        <p:spPr>
          <a:xfrm>
            <a:off x="6548814" y="1965621"/>
            <a:ext cx="1902460" cy="0"/>
          </a:xfrm>
          <a:prstGeom prst="line">
            <a:avLst/>
          </a:prstGeom>
          <a:noFill/>
          <a:ln w="5715">
            <a:solidFill>
              <a:srgbClr val="D7E3ED"/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6603678" y="1757257"/>
            <a:ext cx="256032" cy="20836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20" b="1" dirty="0">
                <a:solidFill>
                  <a:srgbClr val="A768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PK</a:t>
            </a:r>
            <a:endParaRPr lang="en-US" sz="720" dirty="0"/>
          </a:p>
        </p:txBody>
      </p:sp>
      <p:sp>
        <p:nvSpPr>
          <p:cNvPr id="61" name="Text 59"/>
          <p:cNvSpPr/>
          <p:nvPr/>
        </p:nvSpPr>
        <p:spPr>
          <a:xfrm>
            <a:off x="6932862" y="1757257"/>
            <a:ext cx="1463548" cy="20836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80" dirty="0">
                <a:solidFill>
                  <a:srgbClr val="1932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tier_id</a:t>
            </a:r>
            <a:endParaRPr lang="en-US" sz="780" dirty="0"/>
          </a:p>
        </p:txBody>
      </p:sp>
      <p:sp>
        <p:nvSpPr>
          <p:cNvPr id="62" name="Shape 60"/>
          <p:cNvSpPr/>
          <p:nvPr/>
        </p:nvSpPr>
        <p:spPr>
          <a:xfrm>
            <a:off x="6548814" y="2173986"/>
            <a:ext cx="1902460" cy="0"/>
          </a:xfrm>
          <a:prstGeom prst="line">
            <a:avLst/>
          </a:prstGeom>
          <a:noFill/>
          <a:ln w="5715">
            <a:solidFill>
              <a:srgbClr val="D7E3ED"/>
            </a:solidFill>
            <a:prstDash val="solid"/>
          </a:ln>
        </p:spPr>
      </p:sp>
      <p:sp>
        <p:nvSpPr>
          <p:cNvPr id="63" name="Text 61"/>
          <p:cNvSpPr/>
          <p:nvPr/>
        </p:nvSpPr>
        <p:spPr>
          <a:xfrm>
            <a:off x="6603678" y="1965621"/>
            <a:ext cx="256032" cy="20836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20" b="1" dirty="0">
                <a:solidFill>
                  <a:srgbClr val="2F75B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FK</a:t>
            </a:r>
            <a:endParaRPr lang="en-US" sz="720" dirty="0"/>
          </a:p>
        </p:txBody>
      </p:sp>
      <p:sp>
        <p:nvSpPr>
          <p:cNvPr id="64" name="Text 62"/>
          <p:cNvSpPr/>
          <p:nvPr/>
        </p:nvSpPr>
        <p:spPr>
          <a:xfrm>
            <a:off x="6932862" y="1965621"/>
            <a:ext cx="1463548" cy="20836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80" dirty="0">
                <a:solidFill>
                  <a:srgbClr val="1932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session_id</a:t>
            </a:r>
            <a:endParaRPr lang="en-US" sz="780" dirty="0"/>
          </a:p>
        </p:txBody>
      </p:sp>
      <p:sp>
        <p:nvSpPr>
          <p:cNvPr id="65" name="Shape 63"/>
          <p:cNvSpPr/>
          <p:nvPr/>
        </p:nvSpPr>
        <p:spPr>
          <a:xfrm>
            <a:off x="6548814" y="2382351"/>
            <a:ext cx="1902460" cy="0"/>
          </a:xfrm>
          <a:prstGeom prst="line">
            <a:avLst/>
          </a:prstGeom>
          <a:noFill/>
          <a:ln w="5715">
            <a:solidFill>
              <a:srgbClr val="D7E3ED"/>
            </a:solidFill>
            <a:prstDash val="solid"/>
          </a:ln>
        </p:spPr>
      </p:sp>
      <p:sp>
        <p:nvSpPr>
          <p:cNvPr id="66" name="Text 64"/>
          <p:cNvSpPr/>
          <p:nvPr/>
        </p:nvSpPr>
        <p:spPr>
          <a:xfrm>
            <a:off x="6603678" y="2173986"/>
            <a:ext cx="256032" cy="20836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endParaRPr lang="en-US" sz="720" dirty="0"/>
          </a:p>
        </p:txBody>
      </p:sp>
      <p:sp>
        <p:nvSpPr>
          <p:cNvPr id="67" name="Text 65"/>
          <p:cNvSpPr/>
          <p:nvPr/>
        </p:nvSpPr>
        <p:spPr>
          <a:xfrm>
            <a:off x="6932862" y="2173986"/>
            <a:ext cx="1463548" cy="20836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80" dirty="0">
                <a:solidFill>
                  <a:srgbClr val="1932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tier_name</a:t>
            </a:r>
            <a:endParaRPr lang="en-US" sz="780" dirty="0"/>
          </a:p>
        </p:txBody>
      </p:sp>
      <p:sp>
        <p:nvSpPr>
          <p:cNvPr id="68" name="Shape 66"/>
          <p:cNvSpPr/>
          <p:nvPr/>
        </p:nvSpPr>
        <p:spPr>
          <a:xfrm>
            <a:off x="6548814" y="2590715"/>
            <a:ext cx="1902460" cy="0"/>
          </a:xfrm>
          <a:prstGeom prst="line">
            <a:avLst/>
          </a:prstGeom>
          <a:noFill/>
          <a:ln w="5715">
            <a:solidFill>
              <a:srgbClr val="D7E3ED"/>
            </a:solidFill>
            <a:prstDash val="solid"/>
          </a:ln>
        </p:spPr>
      </p:sp>
      <p:sp>
        <p:nvSpPr>
          <p:cNvPr id="69" name="Text 67"/>
          <p:cNvSpPr/>
          <p:nvPr/>
        </p:nvSpPr>
        <p:spPr>
          <a:xfrm>
            <a:off x="6603678" y="2382351"/>
            <a:ext cx="256032" cy="20836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endParaRPr lang="en-US" sz="720" dirty="0"/>
          </a:p>
        </p:txBody>
      </p:sp>
      <p:sp>
        <p:nvSpPr>
          <p:cNvPr id="70" name="Text 68"/>
          <p:cNvSpPr/>
          <p:nvPr/>
        </p:nvSpPr>
        <p:spPr>
          <a:xfrm>
            <a:off x="6932862" y="2382351"/>
            <a:ext cx="1463548" cy="20836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80" dirty="0">
                <a:solidFill>
                  <a:srgbClr val="1932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price</a:t>
            </a:r>
            <a:endParaRPr lang="en-US" sz="780" dirty="0"/>
          </a:p>
        </p:txBody>
      </p:sp>
      <p:sp>
        <p:nvSpPr>
          <p:cNvPr id="71" name="Shape 69"/>
          <p:cNvSpPr/>
          <p:nvPr/>
        </p:nvSpPr>
        <p:spPr>
          <a:xfrm>
            <a:off x="6548814" y="2799080"/>
            <a:ext cx="1902460" cy="0"/>
          </a:xfrm>
          <a:prstGeom prst="line">
            <a:avLst/>
          </a:prstGeom>
          <a:noFill/>
          <a:ln w="5715">
            <a:solidFill>
              <a:srgbClr val="D7E3ED"/>
            </a:solidFill>
            <a:prstDash val="solid"/>
          </a:ln>
        </p:spPr>
      </p:sp>
      <p:sp>
        <p:nvSpPr>
          <p:cNvPr id="72" name="Text 70"/>
          <p:cNvSpPr/>
          <p:nvPr/>
        </p:nvSpPr>
        <p:spPr>
          <a:xfrm>
            <a:off x="6603678" y="2590715"/>
            <a:ext cx="256032" cy="20836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endParaRPr lang="en-US" sz="720" dirty="0"/>
          </a:p>
        </p:txBody>
      </p:sp>
      <p:sp>
        <p:nvSpPr>
          <p:cNvPr id="73" name="Text 71"/>
          <p:cNvSpPr/>
          <p:nvPr/>
        </p:nvSpPr>
        <p:spPr>
          <a:xfrm>
            <a:off x="6932862" y="2590715"/>
            <a:ext cx="1463548" cy="20836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80" dirty="0">
                <a:solidFill>
                  <a:srgbClr val="1932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total_seats</a:t>
            </a:r>
            <a:endParaRPr lang="en-US" sz="780" dirty="0"/>
          </a:p>
        </p:txBody>
      </p:sp>
      <p:sp>
        <p:nvSpPr>
          <p:cNvPr id="74" name="Shape 72"/>
          <p:cNvSpPr/>
          <p:nvPr/>
        </p:nvSpPr>
        <p:spPr>
          <a:xfrm>
            <a:off x="4102794" y="3668776"/>
            <a:ext cx="1902460" cy="2011172"/>
          </a:xfrm>
          <a:prstGeom prst="rect">
            <a:avLst/>
          </a:prstGeom>
          <a:solidFill>
            <a:srgbClr val="FFFFFF"/>
          </a:solidFill>
          <a:ln w="12700">
            <a:solidFill>
              <a:srgbClr val="76A7D1"/>
            </a:solidFill>
            <a:prstDash val="solid"/>
          </a:ln>
        </p:spPr>
      </p:sp>
      <p:sp>
        <p:nvSpPr>
          <p:cNvPr id="75" name="Shape 73"/>
          <p:cNvSpPr/>
          <p:nvPr/>
        </p:nvSpPr>
        <p:spPr>
          <a:xfrm>
            <a:off x="4102794" y="3668776"/>
            <a:ext cx="1902460" cy="271780"/>
          </a:xfrm>
          <a:prstGeom prst="rect">
            <a:avLst/>
          </a:prstGeom>
          <a:solidFill>
            <a:srgbClr val="5C9BD5"/>
          </a:solidFill>
          <a:ln w="6350">
            <a:solidFill>
              <a:srgbClr val="5C9BD5"/>
            </a:solidFill>
            <a:prstDash val="solid"/>
          </a:ln>
        </p:spPr>
      </p:sp>
      <p:sp>
        <p:nvSpPr>
          <p:cNvPr id="76" name="Text 74"/>
          <p:cNvSpPr/>
          <p:nvPr/>
        </p:nvSpPr>
        <p:spPr>
          <a:xfrm>
            <a:off x="4157658" y="3668776"/>
            <a:ext cx="1792732" cy="2717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TICKET_ORDER 订单</a:t>
            </a:r>
            <a:endParaRPr lang="en-US" sz="850" dirty="0"/>
          </a:p>
        </p:txBody>
      </p:sp>
      <p:sp>
        <p:nvSpPr>
          <p:cNvPr id="77" name="Shape 75"/>
          <p:cNvSpPr/>
          <p:nvPr/>
        </p:nvSpPr>
        <p:spPr>
          <a:xfrm>
            <a:off x="4102794" y="4230455"/>
            <a:ext cx="1902460" cy="0"/>
          </a:xfrm>
          <a:prstGeom prst="line">
            <a:avLst/>
          </a:prstGeom>
          <a:noFill/>
          <a:ln w="5715">
            <a:solidFill>
              <a:srgbClr val="D7E3ED"/>
            </a:solidFill>
            <a:prstDash val="solid"/>
          </a:ln>
        </p:spPr>
      </p:sp>
      <p:sp>
        <p:nvSpPr>
          <p:cNvPr id="78" name="Text 76"/>
          <p:cNvSpPr/>
          <p:nvPr/>
        </p:nvSpPr>
        <p:spPr>
          <a:xfrm>
            <a:off x="4157658" y="4022090"/>
            <a:ext cx="256032" cy="20836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20" b="1" dirty="0">
                <a:solidFill>
                  <a:srgbClr val="A768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PK</a:t>
            </a:r>
            <a:endParaRPr lang="en-US" sz="720" dirty="0"/>
          </a:p>
        </p:txBody>
      </p:sp>
      <p:sp>
        <p:nvSpPr>
          <p:cNvPr id="79" name="Text 77"/>
          <p:cNvSpPr/>
          <p:nvPr/>
        </p:nvSpPr>
        <p:spPr>
          <a:xfrm>
            <a:off x="4486842" y="4022090"/>
            <a:ext cx="1463548" cy="20836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80" dirty="0">
                <a:solidFill>
                  <a:srgbClr val="1932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order_id</a:t>
            </a:r>
            <a:endParaRPr lang="en-US" sz="780" dirty="0"/>
          </a:p>
        </p:txBody>
      </p:sp>
      <p:sp>
        <p:nvSpPr>
          <p:cNvPr id="80" name="Shape 78"/>
          <p:cNvSpPr/>
          <p:nvPr/>
        </p:nvSpPr>
        <p:spPr>
          <a:xfrm>
            <a:off x="4102794" y="4438819"/>
            <a:ext cx="1902460" cy="0"/>
          </a:xfrm>
          <a:prstGeom prst="line">
            <a:avLst/>
          </a:prstGeom>
          <a:noFill/>
          <a:ln w="5715">
            <a:solidFill>
              <a:srgbClr val="D7E3ED"/>
            </a:solidFill>
            <a:prstDash val="solid"/>
          </a:ln>
        </p:spPr>
      </p:sp>
      <p:sp>
        <p:nvSpPr>
          <p:cNvPr id="81" name="Text 79"/>
          <p:cNvSpPr/>
          <p:nvPr/>
        </p:nvSpPr>
        <p:spPr>
          <a:xfrm>
            <a:off x="4157658" y="4230455"/>
            <a:ext cx="256032" cy="20836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20" b="1" dirty="0">
                <a:solidFill>
                  <a:srgbClr val="2F75B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FK</a:t>
            </a:r>
            <a:endParaRPr lang="en-US" sz="720" dirty="0"/>
          </a:p>
        </p:txBody>
      </p:sp>
      <p:sp>
        <p:nvSpPr>
          <p:cNvPr id="82" name="Text 80"/>
          <p:cNvSpPr/>
          <p:nvPr/>
        </p:nvSpPr>
        <p:spPr>
          <a:xfrm>
            <a:off x="4486842" y="4230455"/>
            <a:ext cx="1463548" cy="20836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80" dirty="0">
                <a:solidFill>
                  <a:srgbClr val="1932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user_id</a:t>
            </a:r>
            <a:endParaRPr lang="en-US" sz="780" dirty="0"/>
          </a:p>
        </p:txBody>
      </p:sp>
      <p:sp>
        <p:nvSpPr>
          <p:cNvPr id="83" name="Shape 81"/>
          <p:cNvSpPr/>
          <p:nvPr/>
        </p:nvSpPr>
        <p:spPr>
          <a:xfrm>
            <a:off x="4102794" y="4647184"/>
            <a:ext cx="1902460" cy="0"/>
          </a:xfrm>
          <a:prstGeom prst="line">
            <a:avLst/>
          </a:prstGeom>
          <a:noFill/>
          <a:ln w="5715">
            <a:solidFill>
              <a:srgbClr val="D7E3ED"/>
            </a:solidFill>
            <a:prstDash val="solid"/>
          </a:ln>
        </p:spPr>
      </p:sp>
      <p:sp>
        <p:nvSpPr>
          <p:cNvPr id="84" name="Text 82"/>
          <p:cNvSpPr/>
          <p:nvPr/>
        </p:nvSpPr>
        <p:spPr>
          <a:xfrm>
            <a:off x="4157658" y="4438819"/>
            <a:ext cx="256032" cy="20836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20" b="1" dirty="0">
                <a:solidFill>
                  <a:srgbClr val="2F75B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FK</a:t>
            </a:r>
            <a:endParaRPr lang="en-US" sz="720" dirty="0"/>
          </a:p>
        </p:txBody>
      </p:sp>
      <p:sp>
        <p:nvSpPr>
          <p:cNvPr id="85" name="Text 83"/>
          <p:cNvSpPr/>
          <p:nvPr/>
        </p:nvSpPr>
        <p:spPr>
          <a:xfrm>
            <a:off x="4486842" y="4438819"/>
            <a:ext cx="1463548" cy="20836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80" dirty="0">
                <a:solidFill>
                  <a:srgbClr val="1932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session_id</a:t>
            </a:r>
            <a:endParaRPr lang="en-US" sz="780" dirty="0"/>
          </a:p>
        </p:txBody>
      </p:sp>
      <p:sp>
        <p:nvSpPr>
          <p:cNvPr id="86" name="Shape 84"/>
          <p:cNvSpPr/>
          <p:nvPr/>
        </p:nvSpPr>
        <p:spPr>
          <a:xfrm>
            <a:off x="4102794" y="4855549"/>
            <a:ext cx="1902460" cy="0"/>
          </a:xfrm>
          <a:prstGeom prst="line">
            <a:avLst/>
          </a:prstGeom>
          <a:noFill/>
          <a:ln w="5715">
            <a:solidFill>
              <a:srgbClr val="D7E3ED"/>
            </a:solidFill>
            <a:prstDash val="solid"/>
          </a:ln>
        </p:spPr>
      </p:sp>
      <p:sp>
        <p:nvSpPr>
          <p:cNvPr id="87" name="Text 85"/>
          <p:cNvSpPr/>
          <p:nvPr/>
        </p:nvSpPr>
        <p:spPr>
          <a:xfrm>
            <a:off x="4157658" y="4647184"/>
            <a:ext cx="256032" cy="20836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20" b="1" dirty="0">
                <a:solidFill>
                  <a:srgbClr val="2F75B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FK</a:t>
            </a:r>
            <a:endParaRPr lang="en-US" sz="720" dirty="0"/>
          </a:p>
        </p:txBody>
      </p:sp>
      <p:sp>
        <p:nvSpPr>
          <p:cNvPr id="88" name="Text 86"/>
          <p:cNvSpPr/>
          <p:nvPr/>
        </p:nvSpPr>
        <p:spPr>
          <a:xfrm>
            <a:off x="4486842" y="4647184"/>
            <a:ext cx="1463548" cy="20836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80" dirty="0">
                <a:solidFill>
                  <a:srgbClr val="1932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tier_id</a:t>
            </a:r>
            <a:endParaRPr lang="en-US" sz="780" dirty="0"/>
          </a:p>
        </p:txBody>
      </p:sp>
      <p:sp>
        <p:nvSpPr>
          <p:cNvPr id="89" name="Shape 87"/>
          <p:cNvSpPr/>
          <p:nvPr/>
        </p:nvSpPr>
        <p:spPr>
          <a:xfrm>
            <a:off x="4102794" y="5063913"/>
            <a:ext cx="1902460" cy="0"/>
          </a:xfrm>
          <a:prstGeom prst="line">
            <a:avLst/>
          </a:prstGeom>
          <a:noFill/>
          <a:ln w="5715">
            <a:solidFill>
              <a:srgbClr val="D7E3ED"/>
            </a:solidFill>
            <a:prstDash val="solid"/>
          </a:ln>
        </p:spPr>
      </p:sp>
      <p:sp>
        <p:nvSpPr>
          <p:cNvPr id="90" name="Text 88"/>
          <p:cNvSpPr/>
          <p:nvPr/>
        </p:nvSpPr>
        <p:spPr>
          <a:xfrm>
            <a:off x="4157658" y="4855549"/>
            <a:ext cx="256032" cy="20836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20" b="1" dirty="0">
                <a:solidFill>
                  <a:srgbClr val="2F75B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FK</a:t>
            </a:r>
            <a:endParaRPr lang="en-US" sz="720" dirty="0"/>
          </a:p>
        </p:txBody>
      </p:sp>
      <p:sp>
        <p:nvSpPr>
          <p:cNvPr id="91" name="Text 89"/>
          <p:cNvSpPr/>
          <p:nvPr/>
        </p:nvSpPr>
        <p:spPr>
          <a:xfrm>
            <a:off x="4486842" y="4855549"/>
            <a:ext cx="1463548" cy="20836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80" dirty="0">
                <a:solidFill>
                  <a:srgbClr val="1932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address_id</a:t>
            </a:r>
            <a:endParaRPr lang="en-US" sz="780" dirty="0"/>
          </a:p>
        </p:txBody>
      </p:sp>
      <p:sp>
        <p:nvSpPr>
          <p:cNvPr id="92" name="Shape 90"/>
          <p:cNvSpPr/>
          <p:nvPr/>
        </p:nvSpPr>
        <p:spPr>
          <a:xfrm>
            <a:off x="4102794" y="5272278"/>
            <a:ext cx="1902460" cy="0"/>
          </a:xfrm>
          <a:prstGeom prst="line">
            <a:avLst/>
          </a:prstGeom>
          <a:noFill/>
          <a:ln w="5715">
            <a:solidFill>
              <a:srgbClr val="D7E3ED"/>
            </a:solidFill>
            <a:prstDash val="solid"/>
          </a:ln>
        </p:spPr>
      </p:sp>
      <p:sp>
        <p:nvSpPr>
          <p:cNvPr id="93" name="Text 91"/>
          <p:cNvSpPr/>
          <p:nvPr/>
        </p:nvSpPr>
        <p:spPr>
          <a:xfrm>
            <a:off x="4157658" y="5063913"/>
            <a:ext cx="256032" cy="20836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endParaRPr lang="en-US" sz="720" dirty="0"/>
          </a:p>
        </p:txBody>
      </p:sp>
      <p:sp>
        <p:nvSpPr>
          <p:cNvPr id="94" name="Text 92"/>
          <p:cNvSpPr/>
          <p:nvPr/>
        </p:nvSpPr>
        <p:spPr>
          <a:xfrm>
            <a:off x="4486842" y="5063913"/>
            <a:ext cx="1463548" cy="20836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80" dirty="0">
                <a:solidFill>
                  <a:srgbClr val="1932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ticket_count</a:t>
            </a:r>
            <a:endParaRPr lang="en-US" sz="780" dirty="0"/>
          </a:p>
        </p:txBody>
      </p:sp>
      <p:sp>
        <p:nvSpPr>
          <p:cNvPr id="95" name="Shape 93"/>
          <p:cNvSpPr/>
          <p:nvPr/>
        </p:nvSpPr>
        <p:spPr>
          <a:xfrm>
            <a:off x="4102794" y="5480643"/>
            <a:ext cx="1902460" cy="0"/>
          </a:xfrm>
          <a:prstGeom prst="line">
            <a:avLst/>
          </a:prstGeom>
          <a:noFill/>
          <a:ln w="5715">
            <a:solidFill>
              <a:srgbClr val="D7E3ED"/>
            </a:solidFill>
            <a:prstDash val="solid"/>
          </a:ln>
        </p:spPr>
      </p:sp>
      <p:sp>
        <p:nvSpPr>
          <p:cNvPr id="96" name="Text 94"/>
          <p:cNvSpPr/>
          <p:nvPr/>
        </p:nvSpPr>
        <p:spPr>
          <a:xfrm>
            <a:off x="4157658" y="5272278"/>
            <a:ext cx="256032" cy="20836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endParaRPr lang="en-US" sz="720" dirty="0"/>
          </a:p>
        </p:txBody>
      </p:sp>
      <p:sp>
        <p:nvSpPr>
          <p:cNvPr id="97" name="Text 95"/>
          <p:cNvSpPr/>
          <p:nvPr/>
        </p:nvSpPr>
        <p:spPr>
          <a:xfrm>
            <a:off x="4486842" y="5272278"/>
            <a:ext cx="1463548" cy="20836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80" dirty="0">
                <a:solidFill>
                  <a:srgbClr val="1932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total_amount</a:t>
            </a:r>
            <a:endParaRPr lang="en-US" sz="780" dirty="0"/>
          </a:p>
        </p:txBody>
      </p:sp>
      <p:sp>
        <p:nvSpPr>
          <p:cNvPr id="98" name="Shape 96"/>
          <p:cNvSpPr/>
          <p:nvPr/>
        </p:nvSpPr>
        <p:spPr>
          <a:xfrm>
            <a:off x="4102794" y="5689007"/>
            <a:ext cx="1902460" cy="0"/>
          </a:xfrm>
          <a:prstGeom prst="line">
            <a:avLst/>
          </a:prstGeom>
          <a:noFill/>
          <a:ln w="5715">
            <a:solidFill>
              <a:srgbClr val="D7E3ED"/>
            </a:solidFill>
            <a:prstDash val="solid"/>
          </a:ln>
        </p:spPr>
      </p:sp>
      <p:sp>
        <p:nvSpPr>
          <p:cNvPr id="99" name="Text 97"/>
          <p:cNvSpPr/>
          <p:nvPr/>
        </p:nvSpPr>
        <p:spPr>
          <a:xfrm>
            <a:off x="4157658" y="5480643"/>
            <a:ext cx="256032" cy="20836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endParaRPr lang="en-US" sz="720" dirty="0"/>
          </a:p>
        </p:txBody>
      </p:sp>
      <p:sp>
        <p:nvSpPr>
          <p:cNvPr id="100" name="Text 98"/>
          <p:cNvSpPr/>
          <p:nvPr/>
        </p:nvSpPr>
        <p:spPr>
          <a:xfrm>
            <a:off x="4486842" y="5480643"/>
            <a:ext cx="1463548" cy="20836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80" dirty="0">
                <a:solidFill>
                  <a:srgbClr val="1932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order_status</a:t>
            </a:r>
            <a:endParaRPr lang="en-US" sz="780" dirty="0"/>
          </a:p>
        </p:txBody>
      </p:sp>
      <p:sp>
        <p:nvSpPr>
          <p:cNvPr id="101" name="Shape 99"/>
          <p:cNvSpPr/>
          <p:nvPr/>
        </p:nvSpPr>
        <p:spPr>
          <a:xfrm>
            <a:off x="8632461" y="3668776"/>
            <a:ext cx="1902460" cy="1177713"/>
          </a:xfrm>
          <a:prstGeom prst="rect">
            <a:avLst/>
          </a:prstGeom>
          <a:solidFill>
            <a:srgbClr val="FFFFFF"/>
          </a:solidFill>
          <a:ln w="12700">
            <a:solidFill>
              <a:srgbClr val="76A7D1"/>
            </a:solidFill>
            <a:prstDash val="solid"/>
          </a:ln>
        </p:spPr>
      </p:sp>
      <p:sp>
        <p:nvSpPr>
          <p:cNvPr id="102" name="Shape 100"/>
          <p:cNvSpPr/>
          <p:nvPr/>
        </p:nvSpPr>
        <p:spPr>
          <a:xfrm>
            <a:off x="8632461" y="3668776"/>
            <a:ext cx="1902460" cy="271780"/>
          </a:xfrm>
          <a:prstGeom prst="rect">
            <a:avLst/>
          </a:prstGeom>
          <a:solidFill>
            <a:srgbClr val="5C9BD5"/>
          </a:solidFill>
          <a:ln w="6350">
            <a:solidFill>
              <a:srgbClr val="5C9BD5"/>
            </a:solidFill>
            <a:prstDash val="solid"/>
          </a:ln>
        </p:spPr>
      </p:sp>
      <p:sp>
        <p:nvSpPr>
          <p:cNvPr id="103" name="Text 101"/>
          <p:cNvSpPr/>
          <p:nvPr/>
        </p:nvSpPr>
        <p:spPr>
          <a:xfrm>
            <a:off x="8687325" y="3668776"/>
            <a:ext cx="1792732" cy="2717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ORDER_ITEM 订单明细</a:t>
            </a:r>
            <a:endParaRPr lang="en-US" sz="850" dirty="0"/>
          </a:p>
        </p:txBody>
      </p:sp>
      <p:sp>
        <p:nvSpPr>
          <p:cNvPr id="104" name="Shape 102"/>
          <p:cNvSpPr/>
          <p:nvPr/>
        </p:nvSpPr>
        <p:spPr>
          <a:xfrm>
            <a:off x="8632461" y="4230455"/>
            <a:ext cx="1902460" cy="0"/>
          </a:xfrm>
          <a:prstGeom prst="line">
            <a:avLst/>
          </a:prstGeom>
          <a:noFill/>
          <a:ln w="5715">
            <a:solidFill>
              <a:srgbClr val="D7E3ED"/>
            </a:solidFill>
            <a:prstDash val="solid"/>
          </a:ln>
        </p:spPr>
      </p:sp>
      <p:sp>
        <p:nvSpPr>
          <p:cNvPr id="105" name="Text 103"/>
          <p:cNvSpPr/>
          <p:nvPr/>
        </p:nvSpPr>
        <p:spPr>
          <a:xfrm>
            <a:off x="8687325" y="4022090"/>
            <a:ext cx="256032" cy="20836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20" b="1" dirty="0">
                <a:solidFill>
                  <a:srgbClr val="A768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PK</a:t>
            </a:r>
            <a:endParaRPr lang="en-US" sz="720" dirty="0"/>
          </a:p>
        </p:txBody>
      </p:sp>
      <p:sp>
        <p:nvSpPr>
          <p:cNvPr id="106" name="Text 104"/>
          <p:cNvSpPr/>
          <p:nvPr/>
        </p:nvSpPr>
        <p:spPr>
          <a:xfrm>
            <a:off x="9016509" y="4022090"/>
            <a:ext cx="1463548" cy="20836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80" dirty="0">
                <a:solidFill>
                  <a:srgbClr val="1932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item_id</a:t>
            </a:r>
            <a:endParaRPr lang="en-US" sz="780" dirty="0"/>
          </a:p>
        </p:txBody>
      </p:sp>
      <p:sp>
        <p:nvSpPr>
          <p:cNvPr id="107" name="Shape 105"/>
          <p:cNvSpPr/>
          <p:nvPr/>
        </p:nvSpPr>
        <p:spPr>
          <a:xfrm>
            <a:off x="8632461" y="4438819"/>
            <a:ext cx="1902460" cy="0"/>
          </a:xfrm>
          <a:prstGeom prst="line">
            <a:avLst/>
          </a:prstGeom>
          <a:noFill/>
          <a:ln w="5715">
            <a:solidFill>
              <a:srgbClr val="D7E3ED"/>
            </a:solidFill>
            <a:prstDash val="solid"/>
          </a:ln>
        </p:spPr>
      </p:sp>
      <p:sp>
        <p:nvSpPr>
          <p:cNvPr id="108" name="Text 106"/>
          <p:cNvSpPr/>
          <p:nvPr/>
        </p:nvSpPr>
        <p:spPr>
          <a:xfrm>
            <a:off x="8687325" y="4230455"/>
            <a:ext cx="256032" cy="20836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20" b="1" dirty="0">
                <a:solidFill>
                  <a:srgbClr val="2F75B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FK</a:t>
            </a:r>
            <a:endParaRPr lang="en-US" sz="720" dirty="0"/>
          </a:p>
        </p:txBody>
      </p:sp>
      <p:sp>
        <p:nvSpPr>
          <p:cNvPr id="109" name="Text 107"/>
          <p:cNvSpPr/>
          <p:nvPr/>
        </p:nvSpPr>
        <p:spPr>
          <a:xfrm>
            <a:off x="9016509" y="4230455"/>
            <a:ext cx="1463548" cy="20836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80" dirty="0">
                <a:solidFill>
                  <a:srgbClr val="1932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order_id</a:t>
            </a:r>
            <a:endParaRPr lang="en-US" sz="780" dirty="0"/>
          </a:p>
        </p:txBody>
      </p:sp>
      <p:sp>
        <p:nvSpPr>
          <p:cNvPr id="110" name="Shape 108"/>
          <p:cNvSpPr/>
          <p:nvPr/>
        </p:nvSpPr>
        <p:spPr>
          <a:xfrm>
            <a:off x="8632461" y="4647184"/>
            <a:ext cx="1902460" cy="0"/>
          </a:xfrm>
          <a:prstGeom prst="line">
            <a:avLst/>
          </a:prstGeom>
          <a:noFill/>
          <a:ln w="5715">
            <a:solidFill>
              <a:srgbClr val="D7E3ED"/>
            </a:solidFill>
            <a:prstDash val="solid"/>
          </a:ln>
        </p:spPr>
      </p:sp>
      <p:sp>
        <p:nvSpPr>
          <p:cNvPr id="111" name="Text 109"/>
          <p:cNvSpPr/>
          <p:nvPr/>
        </p:nvSpPr>
        <p:spPr>
          <a:xfrm>
            <a:off x="8687325" y="4438819"/>
            <a:ext cx="256032" cy="20836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20" b="1" dirty="0">
                <a:solidFill>
                  <a:srgbClr val="2F75B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FK</a:t>
            </a:r>
            <a:endParaRPr lang="en-US" sz="720" dirty="0"/>
          </a:p>
        </p:txBody>
      </p:sp>
      <p:sp>
        <p:nvSpPr>
          <p:cNvPr id="112" name="Text 110"/>
          <p:cNvSpPr/>
          <p:nvPr/>
        </p:nvSpPr>
        <p:spPr>
          <a:xfrm>
            <a:off x="9016509" y="4438819"/>
            <a:ext cx="1463548" cy="20836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80" dirty="0">
                <a:solidFill>
                  <a:srgbClr val="1932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attendee_id</a:t>
            </a:r>
            <a:endParaRPr lang="en-US" sz="780" dirty="0"/>
          </a:p>
        </p:txBody>
      </p:sp>
      <p:sp>
        <p:nvSpPr>
          <p:cNvPr id="113" name="Shape 111"/>
          <p:cNvSpPr/>
          <p:nvPr/>
        </p:nvSpPr>
        <p:spPr>
          <a:xfrm>
            <a:off x="8632461" y="4855549"/>
            <a:ext cx="1902460" cy="0"/>
          </a:xfrm>
          <a:prstGeom prst="line">
            <a:avLst/>
          </a:prstGeom>
          <a:noFill/>
          <a:ln w="5715">
            <a:solidFill>
              <a:srgbClr val="D7E3ED"/>
            </a:solidFill>
            <a:prstDash val="solid"/>
          </a:ln>
        </p:spPr>
      </p:sp>
      <p:sp>
        <p:nvSpPr>
          <p:cNvPr id="114" name="Text 112"/>
          <p:cNvSpPr/>
          <p:nvPr/>
        </p:nvSpPr>
        <p:spPr>
          <a:xfrm>
            <a:off x="8687325" y="4647184"/>
            <a:ext cx="256032" cy="20836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endParaRPr lang="en-US" sz="720" dirty="0"/>
          </a:p>
        </p:txBody>
      </p:sp>
      <p:sp>
        <p:nvSpPr>
          <p:cNvPr id="115" name="Text 113"/>
          <p:cNvSpPr/>
          <p:nvPr/>
        </p:nvSpPr>
        <p:spPr>
          <a:xfrm>
            <a:off x="9016509" y="4647184"/>
            <a:ext cx="1463548" cy="20836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80" dirty="0">
                <a:solidFill>
                  <a:srgbClr val="1932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unit_price</a:t>
            </a:r>
            <a:endParaRPr lang="en-US" sz="780" dirty="0"/>
          </a:p>
        </p:txBody>
      </p:sp>
      <p:sp>
        <p:nvSpPr>
          <p:cNvPr id="116" name="Shape 114"/>
          <p:cNvSpPr/>
          <p:nvPr/>
        </p:nvSpPr>
        <p:spPr>
          <a:xfrm>
            <a:off x="6458221" y="4212336"/>
            <a:ext cx="1902460" cy="1386078"/>
          </a:xfrm>
          <a:prstGeom prst="rect">
            <a:avLst/>
          </a:prstGeom>
          <a:solidFill>
            <a:srgbClr val="FFFFFF"/>
          </a:solidFill>
          <a:ln w="12700">
            <a:solidFill>
              <a:srgbClr val="76A7D1"/>
            </a:solidFill>
            <a:prstDash val="solid"/>
          </a:ln>
        </p:spPr>
      </p:sp>
      <p:sp>
        <p:nvSpPr>
          <p:cNvPr id="117" name="Shape 115"/>
          <p:cNvSpPr/>
          <p:nvPr/>
        </p:nvSpPr>
        <p:spPr>
          <a:xfrm>
            <a:off x="6458221" y="4212336"/>
            <a:ext cx="1902460" cy="271780"/>
          </a:xfrm>
          <a:prstGeom prst="rect">
            <a:avLst/>
          </a:prstGeom>
          <a:solidFill>
            <a:srgbClr val="5C9BD5"/>
          </a:solidFill>
          <a:ln w="6350">
            <a:solidFill>
              <a:srgbClr val="5C9BD5"/>
            </a:solidFill>
            <a:prstDash val="solid"/>
          </a:ln>
        </p:spPr>
      </p:sp>
      <p:sp>
        <p:nvSpPr>
          <p:cNvPr id="118" name="Text 116"/>
          <p:cNvSpPr/>
          <p:nvPr/>
        </p:nvSpPr>
        <p:spPr>
          <a:xfrm>
            <a:off x="6513085" y="4212336"/>
            <a:ext cx="1792732" cy="2717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ATTENDEE 常用购票人</a:t>
            </a:r>
            <a:endParaRPr lang="en-US" sz="850" dirty="0"/>
          </a:p>
        </p:txBody>
      </p:sp>
      <p:sp>
        <p:nvSpPr>
          <p:cNvPr id="119" name="Shape 117"/>
          <p:cNvSpPr/>
          <p:nvPr/>
        </p:nvSpPr>
        <p:spPr>
          <a:xfrm>
            <a:off x="6458221" y="4774015"/>
            <a:ext cx="1902460" cy="0"/>
          </a:xfrm>
          <a:prstGeom prst="line">
            <a:avLst/>
          </a:prstGeom>
          <a:noFill/>
          <a:ln w="5715">
            <a:solidFill>
              <a:srgbClr val="D7E3ED"/>
            </a:solidFill>
            <a:prstDash val="solid"/>
          </a:ln>
        </p:spPr>
      </p:sp>
      <p:sp>
        <p:nvSpPr>
          <p:cNvPr id="120" name="Text 118"/>
          <p:cNvSpPr/>
          <p:nvPr/>
        </p:nvSpPr>
        <p:spPr>
          <a:xfrm>
            <a:off x="6513085" y="4565650"/>
            <a:ext cx="256032" cy="20836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20" b="1" dirty="0">
                <a:solidFill>
                  <a:srgbClr val="A768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PK</a:t>
            </a:r>
            <a:endParaRPr lang="en-US" sz="720" dirty="0"/>
          </a:p>
        </p:txBody>
      </p:sp>
      <p:sp>
        <p:nvSpPr>
          <p:cNvPr id="121" name="Text 119"/>
          <p:cNvSpPr/>
          <p:nvPr/>
        </p:nvSpPr>
        <p:spPr>
          <a:xfrm>
            <a:off x="6842269" y="4565650"/>
            <a:ext cx="1463548" cy="20836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80" dirty="0">
                <a:solidFill>
                  <a:srgbClr val="1932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attendee_id</a:t>
            </a:r>
            <a:endParaRPr lang="en-US" sz="780" dirty="0"/>
          </a:p>
        </p:txBody>
      </p:sp>
      <p:sp>
        <p:nvSpPr>
          <p:cNvPr id="122" name="Shape 120"/>
          <p:cNvSpPr/>
          <p:nvPr/>
        </p:nvSpPr>
        <p:spPr>
          <a:xfrm>
            <a:off x="6458221" y="4982379"/>
            <a:ext cx="1902460" cy="0"/>
          </a:xfrm>
          <a:prstGeom prst="line">
            <a:avLst/>
          </a:prstGeom>
          <a:noFill/>
          <a:ln w="5715">
            <a:solidFill>
              <a:srgbClr val="D7E3ED"/>
            </a:solidFill>
            <a:prstDash val="solid"/>
          </a:ln>
        </p:spPr>
      </p:sp>
      <p:sp>
        <p:nvSpPr>
          <p:cNvPr id="123" name="Text 121"/>
          <p:cNvSpPr/>
          <p:nvPr/>
        </p:nvSpPr>
        <p:spPr>
          <a:xfrm>
            <a:off x="6513085" y="4774015"/>
            <a:ext cx="256032" cy="20836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20" b="1" dirty="0">
                <a:solidFill>
                  <a:srgbClr val="2F75B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FK</a:t>
            </a:r>
            <a:endParaRPr lang="en-US" sz="720" dirty="0"/>
          </a:p>
        </p:txBody>
      </p:sp>
      <p:sp>
        <p:nvSpPr>
          <p:cNvPr id="124" name="Text 122"/>
          <p:cNvSpPr/>
          <p:nvPr/>
        </p:nvSpPr>
        <p:spPr>
          <a:xfrm>
            <a:off x="6842269" y="4774015"/>
            <a:ext cx="1463548" cy="20836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80" dirty="0">
                <a:solidFill>
                  <a:srgbClr val="1932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user_id</a:t>
            </a:r>
            <a:endParaRPr lang="en-US" sz="780" dirty="0"/>
          </a:p>
        </p:txBody>
      </p:sp>
      <p:sp>
        <p:nvSpPr>
          <p:cNvPr id="125" name="Shape 123"/>
          <p:cNvSpPr/>
          <p:nvPr/>
        </p:nvSpPr>
        <p:spPr>
          <a:xfrm>
            <a:off x="6458221" y="5190744"/>
            <a:ext cx="1902460" cy="0"/>
          </a:xfrm>
          <a:prstGeom prst="line">
            <a:avLst/>
          </a:prstGeom>
          <a:noFill/>
          <a:ln w="5715">
            <a:solidFill>
              <a:srgbClr val="D7E3ED"/>
            </a:solidFill>
            <a:prstDash val="solid"/>
          </a:ln>
        </p:spPr>
      </p:sp>
      <p:sp>
        <p:nvSpPr>
          <p:cNvPr id="126" name="Text 124"/>
          <p:cNvSpPr/>
          <p:nvPr/>
        </p:nvSpPr>
        <p:spPr>
          <a:xfrm>
            <a:off x="6513085" y="4982379"/>
            <a:ext cx="256032" cy="20836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endParaRPr lang="en-US" sz="720" dirty="0"/>
          </a:p>
        </p:txBody>
      </p:sp>
      <p:sp>
        <p:nvSpPr>
          <p:cNvPr id="127" name="Text 125"/>
          <p:cNvSpPr/>
          <p:nvPr/>
        </p:nvSpPr>
        <p:spPr>
          <a:xfrm>
            <a:off x="6842269" y="4982379"/>
            <a:ext cx="1463548" cy="20836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80" dirty="0">
                <a:solidFill>
                  <a:srgbClr val="1932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attendee_name</a:t>
            </a:r>
            <a:endParaRPr lang="en-US" sz="780" dirty="0"/>
          </a:p>
        </p:txBody>
      </p:sp>
      <p:sp>
        <p:nvSpPr>
          <p:cNvPr id="128" name="Shape 126"/>
          <p:cNvSpPr/>
          <p:nvPr/>
        </p:nvSpPr>
        <p:spPr>
          <a:xfrm>
            <a:off x="6458221" y="5399109"/>
            <a:ext cx="1902460" cy="0"/>
          </a:xfrm>
          <a:prstGeom prst="line">
            <a:avLst/>
          </a:prstGeom>
          <a:noFill/>
          <a:ln w="5715">
            <a:solidFill>
              <a:srgbClr val="D7E3ED"/>
            </a:solidFill>
            <a:prstDash val="solid"/>
          </a:ln>
        </p:spPr>
      </p:sp>
      <p:sp>
        <p:nvSpPr>
          <p:cNvPr id="129" name="Text 127"/>
          <p:cNvSpPr/>
          <p:nvPr/>
        </p:nvSpPr>
        <p:spPr>
          <a:xfrm>
            <a:off x="6513085" y="5190744"/>
            <a:ext cx="256032" cy="20836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endParaRPr lang="en-US" sz="720" dirty="0"/>
          </a:p>
        </p:txBody>
      </p:sp>
      <p:sp>
        <p:nvSpPr>
          <p:cNvPr id="130" name="Text 128"/>
          <p:cNvSpPr/>
          <p:nvPr/>
        </p:nvSpPr>
        <p:spPr>
          <a:xfrm>
            <a:off x="6842269" y="5190744"/>
            <a:ext cx="1463548" cy="20836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80" dirty="0">
                <a:solidFill>
                  <a:srgbClr val="1932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id_type</a:t>
            </a:r>
            <a:endParaRPr lang="en-US" sz="780" dirty="0"/>
          </a:p>
        </p:txBody>
      </p:sp>
      <p:sp>
        <p:nvSpPr>
          <p:cNvPr id="131" name="Shape 129"/>
          <p:cNvSpPr/>
          <p:nvPr/>
        </p:nvSpPr>
        <p:spPr>
          <a:xfrm>
            <a:off x="6458221" y="5607473"/>
            <a:ext cx="1902460" cy="0"/>
          </a:xfrm>
          <a:prstGeom prst="line">
            <a:avLst/>
          </a:prstGeom>
          <a:noFill/>
          <a:ln w="5715">
            <a:solidFill>
              <a:srgbClr val="D7E3ED"/>
            </a:solidFill>
            <a:prstDash val="solid"/>
          </a:ln>
        </p:spPr>
      </p:sp>
      <p:sp>
        <p:nvSpPr>
          <p:cNvPr id="132" name="Text 130"/>
          <p:cNvSpPr/>
          <p:nvPr/>
        </p:nvSpPr>
        <p:spPr>
          <a:xfrm>
            <a:off x="6513085" y="5399109"/>
            <a:ext cx="256032" cy="20836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endParaRPr lang="en-US" sz="720" dirty="0"/>
          </a:p>
        </p:txBody>
      </p:sp>
      <p:sp>
        <p:nvSpPr>
          <p:cNvPr id="133" name="Text 131"/>
          <p:cNvSpPr/>
          <p:nvPr/>
        </p:nvSpPr>
        <p:spPr>
          <a:xfrm>
            <a:off x="6842269" y="5399109"/>
            <a:ext cx="1463548" cy="20836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80" dirty="0">
                <a:solidFill>
                  <a:srgbClr val="1932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id_no</a:t>
            </a:r>
            <a:endParaRPr lang="en-US" sz="780" dirty="0"/>
          </a:p>
        </p:txBody>
      </p:sp>
      <p:sp>
        <p:nvSpPr>
          <p:cNvPr id="134" name="Shape 132"/>
          <p:cNvSpPr/>
          <p:nvPr/>
        </p:nvSpPr>
        <p:spPr>
          <a:xfrm>
            <a:off x="3831014" y="4339167"/>
            <a:ext cx="271780" cy="914"/>
          </a:xfrm>
          <a:prstGeom prst="line">
            <a:avLst/>
          </a:prstGeom>
          <a:noFill/>
          <a:ln w="14605">
            <a:solidFill>
              <a:srgbClr val="C27B2B"/>
            </a:solidFill>
            <a:prstDash val="solid"/>
          </a:ln>
        </p:spPr>
      </p:sp>
      <p:sp>
        <p:nvSpPr>
          <p:cNvPr id="135" name="Shape 133"/>
          <p:cNvSpPr/>
          <p:nvPr/>
        </p:nvSpPr>
        <p:spPr>
          <a:xfrm>
            <a:off x="3831014" y="2074333"/>
            <a:ext cx="914" cy="2264833"/>
          </a:xfrm>
          <a:prstGeom prst="line">
            <a:avLst/>
          </a:prstGeom>
          <a:noFill/>
          <a:ln w="14605">
            <a:solidFill>
              <a:srgbClr val="C27B2B"/>
            </a:solidFill>
            <a:prstDash val="solid"/>
          </a:ln>
        </p:spPr>
      </p:sp>
      <p:sp>
        <p:nvSpPr>
          <p:cNvPr id="136" name="Shape 134"/>
          <p:cNvSpPr/>
          <p:nvPr/>
        </p:nvSpPr>
        <p:spPr>
          <a:xfrm>
            <a:off x="3559234" y="2074333"/>
            <a:ext cx="271780" cy="914"/>
          </a:xfrm>
          <a:prstGeom prst="line">
            <a:avLst/>
          </a:prstGeom>
          <a:noFill/>
          <a:ln w="14605">
            <a:solidFill>
              <a:srgbClr val="C27B2B"/>
            </a:solidFill>
            <a:prstDash val="solid"/>
          </a:ln>
        </p:spPr>
      </p:sp>
      <p:sp>
        <p:nvSpPr>
          <p:cNvPr id="137" name="Shape 135"/>
          <p:cNvSpPr/>
          <p:nvPr/>
        </p:nvSpPr>
        <p:spPr>
          <a:xfrm>
            <a:off x="4070790" y="4307163"/>
            <a:ext cx="64008" cy="64008"/>
          </a:xfrm>
          <a:prstGeom prst="ellipse">
            <a:avLst/>
          </a:prstGeom>
          <a:solidFill>
            <a:srgbClr val="FFFFFF"/>
          </a:solidFill>
          <a:ln w="13970">
            <a:solidFill>
              <a:srgbClr val="C27B2B"/>
            </a:solidFill>
            <a:prstDash val="solid"/>
          </a:ln>
        </p:spPr>
      </p:sp>
      <p:sp>
        <p:nvSpPr>
          <p:cNvPr id="138" name="Shape 136"/>
          <p:cNvSpPr/>
          <p:nvPr/>
        </p:nvSpPr>
        <p:spPr>
          <a:xfrm>
            <a:off x="3527230" y="2042329"/>
            <a:ext cx="64008" cy="64008"/>
          </a:xfrm>
          <a:prstGeom prst="ellipse">
            <a:avLst/>
          </a:prstGeom>
          <a:solidFill>
            <a:srgbClr val="FFFFFF"/>
          </a:solidFill>
          <a:ln w="13970">
            <a:solidFill>
              <a:srgbClr val="C27B2B"/>
            </a:solidFill>
            <a:prstDash val="solid"/>
          </a:ln>
        </p:spPr>
      </p:sp>
      <p:sp>
        <p:nvSpPr>
          <p:cNvPr id="139" name="Shape 137"/>
          <p:cNvSpPr/>
          <p:nvPr/>
        </p:nvSpPr>
        <p:spPr>
          <a:xfrm>
            <a:off x="3921608" y="4547531"/>
            <a:ext cx="181187" cy="914"/>
          </a:xfrm>
          <a:prstGeom prst="line">
            <a:avLst/>
          </a:prstGeom>
          <a:noFill/>
          <a:ln w="14605">
            <a:solidFill>
              <a:srgbClr val="C27B2B"/>
            </a:solidFill>
            <a:prstDash val="solid"/>
          </a:ln>
        </p:spPr>
      </p:sp>
      <p:sp>
        <p:nvSpPr>
          <p:cNvPr id="140" name="Shape 138"/>
          <p:cNvSpPr/>
          <p:nvPr/>
        </p:nvSpPr>
        <p:spPr>
          <a:xfrm>
            <a:off x="3921608" y="1865969"/>
            <a:ext cx="914" cy="2681563"/>
          </a:xfrm>
          <a:prstGeom prst="line">
            <a:avLst/>
          </a:prstGeom>
          <a:noFill/>
          <a:ln w="14605">
            <a:solidFill>
              <a:srgbClr val="C27B2B"/>
            </a:solidFill>
            <a:prstDash val="solid"/>
          </a:ln>
        </p:spPr>
      </p:sp>
      <p:sp>
        <p:nvSpPr>
          <p:cNvPr id="141" name="Shape 139"/>
          <p:cNvSpPr/>
          <p:nvPr/>
        </p:nvSpPr>
        <p:spPr>
          <a:xfrm>
            <a:off x="3921608" y="1865969"/>
            <a:ext cx="181187" cy="914"/>
          </a:xfrm>
          <a:prstGeom prst="line">
            <a:avLst/>
          </a:prstGeom>
          <a:noFill/>
          <a:ln w="14605">
            <a:solidFill>
              <a:srgbClr val="C27B2B"/>
            </a:solidFill>
            <a:prstDash val="solid"/>
          </a:ln>
        </p:spPr>
      </p:sp>
      <p:sp>
        <p:nvSpPr>
          <p:cNvPr id="142" name="Shape 140"/>
          <p:cNvSpPr/>
          <p:nvPr/>
        </p:nvSpPr>
        <p:spPr>
          <a:xfrm>
            <a:off x="4070790" y="4515527"/>
            <a:ext cx="64008" cy="64008"/>
          </a:xfrm>
          <a:prstGeom prst="ellipse">
            <a:avLst/>
          </a:prstGeom>
          <a:solidFill>
            <a:srgbClr val="FFFFFF"/>
          </a:solidFill>
          <a:ln w="13970">
            <a:solidFill>
              <a:srgbClr val="C27B2B"/>
            </a:solidFill>
            <a:prstDash val="solid"/>
          </a:ln>
        </p:spPr>
      </p:sp>
      <p:sp>
        <p:nvSpPr>
          <p:cNvPr id="143" name="Shape 141"/>
          <p:cNvSpPr/>
          <p:nvPr/>
        </p:nvSpPr>
        <p:spPr>
          <a:xfrm>
            <a:off x="4070790" y="1833965"/>
            <a:ext cx="64008" cy="64008"/>
          </a:xfrm>
          <a:prstGeom prst="ellipse">
            <a:avLst/>
          </a:prstGeom>
          <a:solidFill>
            <a:srgbClr val="FFFFFF"/>
          </a:solidFill>
          <a:ln w="13970">
            <a:solidFill>
              <a:srgbClr val="C27B2B"/>
            </a:solidFill>
            <a:prstDash val="solid"/>
          </a:ln>
        </p:spPr>
      </p:sp>
      <p:sp>
        <p:nvSpPr>
          <p:cNvPr id="144" name="Shape 142"/>
          <p:cNvSpPr/>
          <p:nvPr/>
        </p:nvSpPr>
        <p:spPr>
          <a:xfrm>
            <a:off x="6005254" y="4755896"/>
            <a:ext cx="181187" cy="914"/>
          </a:xfrm>
          <a:prstGeom prst="line">
            <a:avLst/>
          </a:prstGeom>
          <a:noFill/>
          <a:ln w="14605">
            <a:solidFill>
              <a:srgbClr val="C27B2B"/>
            </a:solidFill>
            <a:prstDash val="solid"/>
          </a:ln>
        </p:spPr>
      </p:sp>
      <p:sp>
        <p:nvSpPr>
          <p:cNvPr id="145" name="Shape 143"/>
          <p:cNvSpPr/>
          <p:nvPr/>
        </p:nvSpPr>
        <p:spPr>
          <a:xfrm>
            <a:off x="6186441" y="1865969"/>
            <a:ext cx="914" cy="2889927"/>
          </a:xfrm>
          <a:prstGeom prst="line">
            <a:avLst/>
          </a:prstGeom>
          <a:noFill/>
          <a:ln w="14605">
            <a:solidFill>
              <a:srgbClr val="C27B2B"/>
            </a:solidFill>
            <a:prstDash val="solid"/>
          </a:ln>
        </p:spPr>
      </p:sp>
      <p:sp>
        <p:nvSpPr>
          <p:cNvPr id="146" name="Shape 144"/>
          <p:cNvSpPr/>
          <p:nvPr/>
        </p:nvSpPr>
        <p:spPr>
          <a:xfrm>
            <a:off x="6186441" y="1865969"/>
            <a:ext cx="362373" cy="914"/>
          </a:xfrm>
          <a:prstGeom prst="line">
            <a:avLst/>
          </a:prstGeom>
          <a:noFill/>
          <a:ln w="14605">
            <a:solidFill>
              <a:srgbClr val="C27B2B"/>
            </a:solidFill>
            <a:prstDash val="solid"/>
          </a:ln>
        </p:spPr>
      </p:sp>
      <p:sp>
        <p:nvSpPr>
          <p:cNvPr id="147" name="Shape 145"/>
          <p:cNvSpPr/>
          <p:nvPr/>
        </p:nvSpPr>
        <p:spPr>
          <a:xfrm>
            <a:off x="5973250" y="4723892"/>
            <a:ext cx="64008" cy="64008"/>
          </a:xfrm>
          <a:prstGeom prst="ellipse">
            <a:avLst/>
          </a:prstGeom>
          <a:solidFill>
            <a:srgbClr val="FFFFFF"/>
          </a:solidFill>
          <a:ln w="13970">
            <a:solidFill>
              <a:srgbClr val="C27B2B"/>
            </a:solidFill>
            <a:prstDash val="solid"/>
          </a:ln>
        </p:spPr>
      </p:sp>
      <p:sp>
        <p:nvSpPr>
          <p:cNvPr id="148" name="Shape 146"/>
          <p:cNvSpPr/>
          <p:nvPr/>
        </p:nvSpPr>
        <p:spPr>
          <a:xfrm>
            <a:off x="6516810" y="1833965"/>
            <a:ext cx="64008" cy="64008"/>
          </a:xfrm>
          <a:prstGeom prst="ellipse">
            <a:avLst/>
          </a:prstGeom>
          <a:solidFill>
            <a:srgbClr val="FFFFFF"/>
          </a:solidFill>
          <a:ln w="13970">
            <a:solidFill>
              <a:srgbClr val="C27B2B"/>
            </a:solidFill>
            <a:prstDash val="solid"/>
          </a:ln>
        </p:spPr>
      </p:sp>
      <p:sp>
        <p:nvSpPr>
          <p:cNvPr id="149" name="Shape 147"/>
          <p:cNvSpPr/>
          <p:nvPr/>
        </p:nvSpPr>
        <p:spPr>
          <a:xfrm>
            <a:off x="3831014" y="4964261"/>
            <a:ext cx="271780" cy="914"/>
          </a:xfrm>
          <a:prstGeom prst="line">
            <a:avLst/>
          </a:prstGeom>
          <a:noFill/>
          <a:ln w="14605">
            <a:solidFill>
              <a:srgbClr val="C27B2B"/>
            </a:solidFill>
            <a:prstDash val="solid"/>
          </a:ln>
        </p:spPr>
      </p:sp>
      <p:sp>
        <p:nvSpPr>
          <p:cNvPr id="150" name="Shape 148"/>
          <p:cNvSpPr/>
          <p:nvPr/>
        </p:nvSpPr>
        <p:spPr>
          <a:xfrm>
            <a:off x="3831014" y="4130802"/>
            <a:ext cx="914" cy="833459"/>
          </a:xfrm>
          <a:prstGeom prst="line">
            <a:avLst/>
          </a:prstGeom>
          <a:noFill/>
          <a:ln w="14605">
            <a:solidFill>
              <a:srgbClr val="C27B2B"/>
            </a:solidFill>
            <a:prstDash val="solid"/>
          </a:ln>
        </p:spPr>
      </p:sp>
      <p:sp>
        <p:nvSpPr>
          <p:cNvPr id="151" name="Shape 149"/>
          <p:cNvSpPr/>
          <p:nvPr/>
        </p:nvSpPr>
        <p:spPr>
          <a:xfrm>
            <a:off x="3559234" y="4130802"/>
            <a:ext cx="271780" cy="914"/>
          </a:xfrm>
          <a:prstGeom prst="line">
            <a:avLst/>
          </a:prstGeom>
          <a:noFill/>
          <a:ln w="14605">
            <a:solidFill>
              <a:srgbClr val="C27B2B"/>
            </a:solidFill>
            <a:prstDash val="solid"/>
          </a:ln>
        </p:spPr>
      </p:sp>
      <p:sp>
        <p:nvSpPr>
          <p:cNvPr id="152" name="Shape 150"/>
          <p:cNvSpPr/>
          <p:nvPr/>
        </p:nvSpPr>
        <p:spPr>
          <a:xfrm>
            <a:off x="4070790" y="4932257"/>
            <a:ext cx="64008" cy="64008"/>
          </a:xfrm>
          <a:prstGeom prst="ellipse">
            <a:avLst/>
          </a:prstGeom>
          <a:solidFill>
            <a:srgbClr val="FFFFFF"/>
          </a:solidFill>
          <a:ln w="13970">
            <a:solidFill>
              <a:srgbClr val="C27B2B"/>
            </a:solidFill>
            <a:prstDash val="solid"/>
          </a:ln>
        </p:spPr>
      </p:sp>
      <p:sp>
        <p:nvSpPr>
          <p:cNvPr id="153" name="Shape 151"/>
          <p:cNvSpPr/>
          <p:nvPr/>
        </p:nvSpPr>
        <p:spPr>
          <a:xfrm>
            <a:off x="3527230" y="4098798"/>
            <a:ext cx="64008" cy="64008"/>
          </a:xfrm>
          <a:prstGeom prst="ellipse">
            <a:avLst/>
          </a:prstGeom>
          <a:solidFill>
            <a:srgbClr val="FFFFFF"/>
          </a:solidFill>
          <a:ln w="13970">
            <a:solidFill>
              <a:srgbClr val="C27B2B"/>
            </a:solidFill>
            <a:prstDash val="solid"/>
          </a:ln>
        </p:spPr>
      </p:sp>
      <p:sp>
        <p:nvSpPr>
          <p:cNvPr id="154" name="Shape 152"/>
          <p:cNvSpPr/>
          <p:nvPr/>
        </p:nvSpPr>
        <p:spPr>
          <a:xfrm>
            <a:off x="8541868" y="4339167"/>
            <a:ext cx="90593" cy="914"/>
          </a:xfrm>
          <a:prstGeom prst="line">
            <a:avLst/>
          </a:prstGeom>
          <a:noFill/>
          <a:ln w="14605">
            <a:solidFill>
              <a:srgbClr val="C27B2B"/>
            </a:solidFill>
            <a:prstDash val="solid"/>
          </a:ln>
        </p:spPr>
      </p:sp>
      <p:sp>
        <p:nvSpPr>
          <p:cNvPr id="155" name="Shape 153"/>
          <p:cNvSpPr/>
          <p:nvPr/>
        </p:nvSpPr>
        <p:spPr>
          <a:xfrm>
            <a:off x="8541868" y="3940556"/>
            <a:ext cx="914" cy="398611"/>
          </a:xfrm>
          <a:prstGeom prst="line">
            <a:avLst/>
          </a:prstGeom>
          <a:noFill/>
          <a:ln w="14605">
            <a:solidFill>
              <a:srgbClr val="C27B2B"/>
            </a:solidFill>
            <a:prstDash val="solid"/>
          </a:ln>
        </p:spPr>
      </p:sp>
      <p:sp>
        <p:nvSpPr>
          <p:cNvPr id="156" name="Shape 154"/>
          <p:cNvSpPr/>
          <p:nvPr/>
        </p:nvSpPr>
        <p:spPr>
          <a:xfrm>
            <a:off x="6005254" y="3940556"/>
            <a:ext cx="2536613" cy="914"/>
          </a:xfrm>
          <a:prstGeom prst="line">
            <a:avLst/>
          </a:prstGeom>
          <a:noFill/>
          <a:ln w="14605">
            <a:solidFill>
              <a:srgbClr val="C27B2B"/>
            </a:solidFill>
            <a:prstDash val="solid"/>
          </a:ln>
        </p:spPr>
      </p:sp>
      <p:sp>
        <p:nvSpPr>
          <p:cNvPr id="157" name="Shape 155"/>
          <p:cNvSpPr/>
          <p:nvPr/>
        </p:nvSpPr>
        <p:spPr>
          <a:xfrm>
            <a:off x="6005254" y="3940556"/>
            <a:ext cx="914" cy="190246"/>
          </a:xfrm>
          <a:prstGeom prst="line">
            <a:avLst/>
          </a:prstGeom>
          <a:noFill/>
          <a:ln w="14605">
            <a:solidFill>
              <a:srgbClr val="C27B2B"/>
            </a:solidFill>
            <a:prstDash val="solid"/>
          </a:ln>
        </p:spPr>
      </p:sp>
      <p:sp>
        <p:nvSpPr>
          <p:cNvPr id="158" name="Shape 156"/>
          <p:cNvSpPr/>
          <p:nvPr/>
        </p:nvSpPr>
        <p:spPr>
          <a:xfrm>
            <a:off x="8600457" y="4307163"/>
            <a:ext cx="64008" cy="64008"/>
          </a:xfrm>
          <a:prstGeom prst="ellipse">
            <a:avLst/>
          </a:prstGeom>
          <a:solidFill>
            <a:srgbClr val="FFFFFF"/>
          </a:solidFill>
          <a:ln w="13970">
            <a:solidFill>
              <a:srgbClr val="C27B2B"/>
            </a:solidFill>
            <a:prstDash val="solid"/>
          </a:ln>
        </p:spPr>
      </p:sp>
      <p:sp>
        <p:nvSpPr>
          <p:cNvPr id="159" name="Shape 157"/>
          <p:cNvSpPr/>
          <p:nvPr/>
        </p:nvSpPr>
        <p:spPr>
          <a:xfrm>
            <a:off x="5973250" y="4098798"/>
            <a:ext cx="64008" cy="64008"/>
          </a:xfrm>
          <a:prstGeom prst="ellipse">
            <a:avLst/>
          </a:prstGeom>
          <a:solidFill>
            <a:srgbClr val="FFFFFF"/>
          </a:solidFill>
          <a:ln w="13970">
            <a:solidFill>
              <a:srgbClr val="C27B2B"/>
            </a:solidFill>
            <a:prstDash val="solid"/>
          </a:ln>
        </p:spPr>
      </p:sp>
      <p:sp>
        <p:nvSpPr>
          <p:cNvPr id="160" name="Shape 158"/>
          <p:cNvSpPr/>
          <p:nvPr/>
        </p:nvSpPr>
        <p:spPr>
          <a:xfrm>
            <a:off x="8496571" y="4547531"/>
            <a:ext cx="135890" cy="914"/>
          </a:xfrm>
          <a:prstGeom prst="line">
            <a:avLst/>
          </a:prstGeom>
          <a:noFill/>
          <a:ln w="14605">
            <a:solidFill>
              <a:srgbClr val="C27B2B"/>
            </a:solidFill>
            <a:prstDash val="solid"/>
          </a:ln>
        </p:spPr>
      </p:sp>
      <p:sp>
        <p:nvSpPr>
          <p:cNvPr id="161" name="Shape 159"/>
          <p:cNvSpPr/>
          <p:nvPr/>
        </p:nvSpPr>
        <p:spPr>
          <a:xfrm>
            <a:off x="8496571" y="4547531"/>
            <a:ext cx="914" cy="126831"/>
          </a:xfrm>
          <a:prstGeom prst="line">
            <a:avLst/>
          </a:prstGeom>
          <a:noFill/>
          <a:ln w="14605">
            <a:solidFill>
              <a:srgbClr val="C27B2B"/>
            </a:solidFill>
            <a:prstDash val="solid"/>
          </a:ln>
        </p:spPr>
      </p:sp>
      <p:sp>
        <p:nvSpPr>
          <p:cNvPr id="162" name="Shape 160"/>
          <p:cNvSpPr/>
          <p:nvPr/>
        </p:nvSpPr>
        <p:spPr>
          <a:xfrm>
            <a:off x="8360681" y="4674362"/>
            <a:ext cx="135890" cy="914"/>
          </a:xfrm>
          <a:prstGeom prst="line">
            <a:avLst/>
          </a:prstGeom>
          <a:noFill/>
          <a:ln w="14605">
            <a:solidFill>
              <a:srgbClr val="C27B2B"/>
            </a:solidFill>
            <a:prstDash val="solid"/>
          </a:ln>
        </p:spPr>
      </p:sp>
      <p:sp>
        <p:nvSpPr>
          <p:cNvPr id="163" name="Shape 161"/>
          <p:cNvSpPr/>
          <p:nvPr/>
        </p:nvSpPr>
        <p:spPr>
          <a:xfrm>
            <a:off x="8600457" y="4515527"/>
            <a:ext cx="64008" cy="64008"/>
          </a:xfrm>
          <a:prstGeom prst="ellipse">
            <a:avLst/>
          </a:prstGeom>
          <a:solidFill>
            <a:srgbClr val="FFFFFF"/>
          </a:solidFill>
          <a:ln w="13970">
            <a:solidFill>
              <a:srgbClr val="C27B2B"/>
            </a:solidFill>
            <a:prstDash val="solid"/>
          </a:ln>
        </p:spPr>
      </p:sp>
      <p:sp>
        <p:nvSpPr>
          <p:cNvPr id="164" name="Shape 162"/>
          <p:cNvSpPr/>
          <p:nvPr/>
        </p:nvSpPr>
        <p:spPr>
          <a:xfrm>
            <a:off x="8328677" y="4642358"/>
            <a:ext cx="64008" cy="64008"/>
          </a:xfrm>
          <a:prstGeom prst="ellipse">
            <a:avLst/>
          </a:prstGeom>
          <a:solidFill>
            <a:srgbClr val="FFFFFF"/>
          </a:solidFill>
          <a:ln w="13970">
            <a:solidFill>
              <a:srgbClr val="C27B2B"/>
            </a:solidFill>
            <a:prstDash val="solid"/>
          </a:ln>
        </p:spPr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7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28600"/>
            <a:ext cx="11338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1932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4. 请求与统计表：逻辑模型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411480" y="640080"/>
            <a:ext cx="113385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63758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请求上下文与销售统计的来源关系。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10058400" y="283464"/>
            <a:ext cx="1691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000" dirty="0">
                <a:solidFill>
                  <a:srgbClr val="2F75B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逻辑模型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862666" y="1550611"/>
            <a:ext cx="2289517" cy="1417320"/>
          </a:xfrm>
          <a:prstGeom prst="rect">
            <a:avLst/>
          </a:prstGeom>
          <a:solidFill>
            <a:srgbClr val="FFFFFF"/>
          </a:solidFill>
          <a:ln w="12700">
            <a:solidFill>
              <a:srgbClr val="76A7D1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62666" y="1550611"/>
            <a:ext cx="2289517" cy="327074"/>
          </a:xfrm>
          <a:prstGeom prst="rect">
            <a:avLst/>
          </a:prstGeom>
          <a:solidFill>
            <a:srgbClr val="5C9BD5"/>
          </a:solidFill>
          <a:ln w="6350">
            <a:solidFill>
              <a:srgbClr val="5C9BD5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17530" y="1550611"/>
            <a:ext cx="2179789" cy="32707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APP_USER 用户</a:t>
            </a:r>
            <a:endParaRPr lang="en-US" sz="850" dirty="0"/>
          </a:p>
        </p:txBody>
      </p:sp>
      <p:sp>
        <p:nvSpPr>
          <p:cNvPr id="8" name="Shape 6"/>
          <p:cNvSpPr/>
          <p:nvPr/>
        </p:nvSpPr>
        <p:spPr>
          <a:xfrm>
            <a:off x="862666" y="2226564"/>
            <a:ext cx="2289517" cy="0"/>
          </a:xfrm>
          <a:prstGeom prst="line">
            <a:avLst/>
          </a:prstGeom>
          <a:noFill/>
          <a:ln w="5715">
            <a:solidFill>
              <a:srgbClr val="D7E3ED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17530" y="1975807"/>
            <a:ext cx="256032" cy="250757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20" b="1" dirty="0">
                <a:solidFill>
                  <a:srgbClr val="A768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PK</a:t>
            </a:r>
            <a:endParaRPr lang="en-US" sz="720" dirty="0"/>
          </a:p>
        </p:txBody>
      </p:sp>
      <p:sp>
        <p:nvSpPr>
          <p:cNvPr id="10" name="Text 8"/>
          <p:cNvSpPr/>
          <p:nvPr/>
        </p:nvSpPr>
        <p:spPr>
          <a:xfrm>
            <a:off x="1246714" y="1975807"/>
            <a:ext cx="1850605" cy="250757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80" dirty="0">
                <a:solidFill>
                  <a:srgbClr val="1932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user_id</a:t>
            </a:r>
            <a:endParaRPr lang="en-US" sz="780" dirty="0"/>
          </a:p>
        </p:txBody>
      </p:sp>
      <p:sp>
        <p:nvSpPr>
          <p:cNvPr id="11" name="Shape 9"/>
          <p:cNvSpPr/>
          <p:nvPr/>
        </p:nvSpPr>
        <p:spPr>
          <a:xfrm>
            <a:off x="862666" y="2477321"/>
            <a:ext cx="2289517" cy="0"/>
          </a:xfrm>
          <a:prstGeom prst="line">
            <a:avLst/>
          </a:prstGeom>
          <a:noFill/>
          <a:ln w="5715">
            <a:solidFill>
              <a:srgbClr val="D7E3ED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917530" y="2226564"/>
            <a:ext cx="256032" cy="250757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endParaRPr lang="en-US" sz="720" dirty="0"/>
          </a:p>
        </p:txBody>
      </p:sp>
      <p:sp>
        <p:nvSpPr>
          <p:cNvPr id="13" name="Text 11"/>
          <p:cNvSpPr/>
          <p:nvPr/>
        </p:nvSpPr>
        <p:spPr>
          <a:xfrm>
            <a:off x="1246714" y="2226564"/>
            <a:ext cx="1850605" cy="250757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80" dirty="0">
                <a:solidFill>
                  <a:srgbClr val="1932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username</a:t>
            </a:r>
            <a:endParaRPr lang="en-US" sz="780" dirty="0"/>
          </a:p>
        </p:txBody>
      </p:sp>
      <p:sp>
        <p:nvSpPr>
          <p:cNvPr id="14" name="Shape 12"/>
          <p:cNvSpPr/>
          <p:nvPr/>
        </p:nvSpPr>
        <p:spPr>
          <a:xfrm>
            <a:off x="862666" y="2728077"/>
            <a:ext cx="2289517" cy="0"/>
          </a:xfrm>
          <a:prstGeom prst="line">
            <a:avLst/>
          </a:prstGeom>
          <a:noFill/>
          <a:ln w="5715">
            <a:solidFill>
              <a:srgbClr val="D7E3ED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917530" y="2477321"/>
            <a:ext cx="256032" cy="250757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endParaRPr lang="en-US" sz="720" dirty="0"/>
          </a:p>
        </p:txBody>
      </p:sp>
      <p:sp>
        <p:nvSpPr>
          <p:cNvPr id="16" name="Text 14"/>
          <p:cNvSpPr/>
          <p:nvPr/>
        </p:nvSpPr>
        <p:spPr>
          <a:xfrm>
            <a:off x="1246714" y="2477321"/>
            <a:ext cx="1850605" cy="250757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80" dirty="0">
                <a:solidFill>
                  <a:srgbClr val="1932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password</a:t>
            </a:r>
            <a:endParaRPr lang="en-US" sz="780" dirty="0"/>
          </a:p>
        </p:txBody>
      </p:sp>
      <p:sp>
        <p:nvSpPr>
          <p:cNvPr id="17" name="Shape 15"/>
          <p:cNvSpPr/>
          <p:nvPr/>
        </p:nvSpPr>
        <p:spPr>
          <a:xfrm>
            <a:off x="862666" y="2978834"/>
            <a:ext cx="2289517" cy="0"/>
          </a:xfrm>
          <a:prstGeom prst="line">
            <a:avLst/>
          </a:prstGeom>
          <a:noFill/>
          <a:ln w="5715">
            <a:solidFill>
              <a:srgbClr val="D7E3ED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917530" y="2728077"/>
            <a:ext cx="256032" cy="250757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endParaRPr lang="en-US" sz="720" dirty="0"/>
          </a:p>
        </p:txBody>
      </p:sp>
      <p:sp>
        <p:nvSpPr>
          <p:cNvPr id="19" name="Text 17"/>
          <p:cNvSpPr/>
          <p:nvPr/>
        </p:nvSpPr>
        <p:spPr>
          <a:xfrm>
            <a:off x="1246714" y="2728077"/>
            <a:ext cx="1850605" cy="250757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80" dirty="0">
                <a:solidFill>
                  <a:srgbClr val="1932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phone</a:t>
            </a:r>
            <a:endParaRPr lang="en-US" sz="780" dirty="0"/>
          </a:p>
        </p:txBody>
      </p:sp>
      <p:sp>
        <p:nvSpPr>
          <p:cNvPr id="20" name="Shape 18"/>
          <p:cNvSpPr/>
          <p:nvPr/>
        </p:nvSpPr>
        <p:spPr>
          <a:xfrm>
            <a:off x="3697306" y="1550611"/>
            <a:ext cx="2289517" cy="1668077"/>
          </a:xfrm>
          <a:prstGeom prst="rect">
            <a:avLst/>
          </a:prstGeom>
          <a:solidFill>
            <a:srgbClr val="FFFFFF"/>
          </a:solidFill>
          <a:ln w="12700">
            <a:solidFill>
              <a:srgbClr val="76A7D1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3697306" y="1550611"/>
            <a:ext cx="2289517" cy="327074"/>
          </a:xfrm>
          <a:prstGeom prst="rect">
            <a:avLst/>
          </a:prstGeom>
          <a:solidFill>
            <a:srgbClr val="5C9BD5"/>
          </a:solidFill>
          <a:ln w="6350">
            <a:solidFill>
              <a:srgbClr val="5C9BD5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752170" y="1550611"/>
            <a:ext cx="2179789" cy="32707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SHOW_SESSION 演出场次</a:t>
            </a:r>
            <a:endParaRPr lang="en-US" sz="850" dirty="0"/>
          </a:p>
        </p:txBody>
      </p:sp>
      <p:sp>
        <p:nvSpPr>
          <p:cNvPr id="23" name="Shape 21"/>
          <p:cNvSpPr/>
          <p:nvPr/>
        </p:nvSpPr>
        <p:spPr>
          <a:xfrm>
            <a:off x="3697306" y="2226564"/>
            <a:ext cx="2289517" cy="0"/>
          </a:xfrm>
          <a:prstGeom prst="line">
            <a:avLst/>
          </a:prstGeom>
          <a:noFill/>
          <a:ln w="5715">
            <a:solidFill>
              <a:srgbClr val="D7E3ED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752170" y="1975807"/>
            <a:ext cx="256032" cy="250757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20" b="1" dirty="0">
                <a:solidFill>
                  <a:srgbClr val="A768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PK</a:t>
            </a:r>
            <a:endParaRPr lang="en-US" sz="720" dirty="0"/>
          </a:p>
        </p:txBody>
      </p:sp>
      <p:sp>
        <p:nvSpPr>
          <p:cNvPr id="25" name="Text 23"/>
          <p:cNvSpPr/>
          <p:nvPr/>
        </p:nvSpPr>
        <p:spPr>
          <a:xfrm>
            <a:off x="4081354" y="1975807"/>
            <a:ext cx="1850605" cy="250757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80" dirty="0">
                <a:solidFill>
                  <a:srgbClr val="1932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session_id</a:t>
            </a:r>
            <a:endParaRPr lang="en-US" sz="780" dirty="0"/>
          </a:p>
        </p:txBody>
      </p:sp>
      <p:sp>
        <p:nvSpPr>
          <p:cNvPr id="26" name="Shape 24"/>
          <p:cNvSpPr/>
          <p:nvPr/>
        </p:nvSpPr>
        <p:spPr>
          <a:xfrm>
            <a:off x="3697306" y="2477321"/>
            <a:ext cx="2289517" cy="0"/>
          </a:xfrm>
          <a:prstGeom prst="line">
            <a:avLst/>
          </a:prstGeom>
          <a:noFill/>
          <a:ln w="5715">
            <a:solidFill>
              <a:srgbClr val="D7E3ED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752170" y="2226564"/>
            <a:ext cx="256032" cy="250757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20" b="1" dirty="0">
                <a:solidFill>
                  <a:srgbClr val="2F75B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FK</a:t>
            </a:r>
            <a:endParaRPr lang="en-US" sz="720" dirty="0"/>
          </a:p>
        </p:txBody>
      </p:sp>
      <p:sp>
        <p:nvSpPr>
          <p:cNvPr id="28" name="Text 26"/>
          <p:cNvSpPr/>
          <p:nvPr/>
        </p:nvSpPr>
        <p:spPr>
          <a:xfrm>
            <a:off x="4081354" y="2226564"/>
            <a:ext cx="1850605" cy="250757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80" dirty="0">
                <a:solidFill>
                  <a:srgbClr val="1932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show_id</a:t>
            </a:r>
            <a:endParaRPr lang="en-US" sz="780" dirty="0"/>
          </a:p>
        </p:txBody>
      </p:sp>
      <p:sp>
        <p:nvSpPr>
          <p:cNvPr id="29" name="Shape 27"/>
          <p:cNvSpPr/>
          <p:nvPr/>
        </p:nvSpPr>
        <p:spPr>
          <a:xfrm>
            <a:off x="3697306" y="2728077"/>
            <a:ext cx="2289517" cy="0"/>
          </a:xfrm>
          <a:prstGeom prst="line">
            <a:avLst/>
          </a:prstGeom>
          <a:noFill/>
          <a:ln w="5715">
            <a:solidFill>
              <a:srgbClr val="D7E3ED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3752170" y="2477321"/>
            <a:ext cx="256032" cy="250757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20" b="1" dirty="0">
                <a:solidFill>
                  <a:srgbClr val="2F75B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FK</a:t>
            </a:r>
            <a:endParaRPr lang="en-US" sz="720" dirty="0"/>
          </a:p>
        </p:txBody>
      </p:sp>
      <p:sp>
        <p:nvSpPr>
          <p:cNvPr id="31" name="Text 29"/>
          <p:cNvSpPr/>
          <p:nvPr/>
        </p:nvSpPr>
        <p:spPr>
          <a:xfrm>
            <a:off x="4081354" y="2477321"/>
            <a:ext cx="1850605" cy="250757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80" dirty="0">
                <a:solidFill>
                  <a:srgbClr val="1932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venue_id</a:t>
            </a:r>
            <a:endParaRPr lang="en-US" sz="780" dirty="0"/>
          </a:p>
        </p:txBody>
      </p:sp>
      <p:sp>
        <p:nvSpPr>
          <p:cNvPr id="32" name="Shape 30"/>
          <p:cNvSpPr/>
          <p:nvPr/>
        </p:nvSpPr>
        <p:spPr>
          <a:xfrm>
            <a:off x="3697306" y="2978834"/>
            <a:ext cx="2289517" cy="0"/>
          </a:xfrm>
          <a:prstGeom prst="line">
            <a:avLst/>
          </a:prstGeom>
          <a:noFill/>
          <a:ln w="5715">
            <a:solidFill>
              <a:srgbClr val="D7E3ED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3752170" y="2728077"/>
            <a:ext cx="256032" cy="250757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endParaRPr lang="en-US" sz="720" dirty="0"/>
          </a:p>
        </p:txBody>
      </p:sp>
      <p:sp>
        <p:nvSpPr>
          <p:cNvPr id="34" name="Text 32"/>
          <p:cNvSpPr/>
          <p:nvPr/>
        </p:nvSpPr>
        <p:spPr>
          <a:xfrm>
            <a:off x="4081354" y="2728077"/>
            <a:ext cx="1850605" cy="250757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80" dirty="0">
                <a:solidFill>
                  <a:srgbClr val="1932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show_time</a:t>
            </a:r>
            <a:endParaRPr lang="en-US" sz="780" dirty="0"/>
          </a:p>
        </p:txBody>
      </p:sp>
      <p:sp>
        <p:nvSpPr>
          <p:cNvPr id="35" name="Shape 33"/>
          <p:cNvSpPr/>
          <p:nvPr/>
        </p:nvSpPr>
        <p:spPr>
          <a:xfrm>
            <a:off x="3697306" y="3229590"/>
            <a:ext cx="2289517" cy="0"/>
          </a:xfrm>
          <a:prstGeom prst="line">
            <a:avLst/>
          </a:prstGeom>
          <a:noFill/>
          <a:ln w="5715">
            <a:solidFill>
              <a:srgbClr val="D7E3ED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3752170" y="2978834"/>
            <a:ext cx="256032" cy="250757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endParaRPr lang="en-US" sz="720" dirty="0"/>
          </a:p>
        </p:txBody>
      </p:sp>
      <p:sp>
        <p:nvSpPr>
          <p:cNvPr id="37" name="Text 35"/>
          <p:cNvSpPr/>
          <p:nvPr/>
        </p:nvSpPr>
        <p:spPr>
          <a:xfrm>
            <a:off x="4081354" y="2978834"/>
            <a:ext cx="1850605" cy="250757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80" dirty="0">
                <a:solidFill>
                  <a:srgbClr val="1932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sale_status</a:t>
            </a:r>
            <a:endParaRPr lang="en-US" sz="780" dirty="0"/>
          </a:p>
        </p:txBody>
      </p:sp>
      <p:sp>
        <p:nvSpPr>
          <p:cNvPr id="38" name="Shape 36"/>
          <p:cNvSpPr/>
          <p:nvPr/>
        </p:nvSpPr>
        <p:spPr>
          <a:xfrm>
            <a:off x="6531946" y="1550611"/>
            <a:ext cx="2289517" cy="1668077"/>
          </a:xfrm>
          <a:prstGeom prst="rect">
            <a:avLst/>
          </a:prstGeom>
          <a:solidFill>
            <a:srgbClr val="FFFFFF"/>
          </a:solidFill>
          <a:ln w="12700">
            <a:solidFill>
              <a:srgbClr val="76A7D1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6531946" y="1550611"/>
            <a:ext cx="2289517" cy="327074"/>
          </a:xfrm>
          <a:prstGeom prst="rect">
            <a:avLst/>
          </a:prstGeom>
          <a:solidFill>
            <a:srgbClr val="5C9BD5"/>
          </a:solidFill>
          <a:ln w="6350">
            <a:solidFill>
              <a:srgbClr val="5C9BD5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6586810" y="1550611"/>
            <a:ext cx="2179789" cy="32707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TICKET_TIER 票档</a:t>
            </a:r>
            <a:endParaRPr lang="en-US" sz="850" dirty="0"/>
          </a:p>
        </p:txBody>
      </p:sp>
      <p:sp>
        <p:nvSpPr>
          <p:cNvPr id="41" name="Shape 39"/>
          <p:cNvSpPr/>
          <p:nvPr/>
        </p:nvSpPr>
        <p:spPr>
          <a:xfrm>
            <a:off x="6531946" y="2226564"/>
            <a:ext cx="2289517" cy="0"/>
          </a:xfrm>
          <a:prstGeom prst="line">
            <a:avLst/>
          </a:prstGeom>
          <a:noFill/>
          <a:ln w="5715">
            <a:solidFill>
              <a:srgbClr val="D7E3ED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6586810" y="1975807"/>
            <a:ext cx="256032" cy="250757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20" b="1" dirty="0">
                <a:solidFill>
                  <a:srgbClr val="A768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PK</a:t>
            </a:r>
            <a:endParaRPr lang="en-US" sz="720" dirty="0"/>
          </a:p>
        </p:txBody>
      </p:sp>
      <p:sp>
        <p:nvSpPr>
          <p:cNvPr id="43" name="Text 41"/>
          <p:cNvSpPr/>
          <p:nvPr/>
        </p:nvSpPr>
        <p:spPr>
          <a:xfrm>
            <a:off x="6915994" y="1975807"/>
            <a:ext cx="1850605" cy="250757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80" dirty="0">
                <a:solidFill>
                  <a:srgbClr val="1932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tier_id</a:t>
            </a:r>
            <a:endParaRPr lang="en-US" sz="780" dirty="0"/>
          </a:p>
        </p:txBody>
      </p:sp>
      <p:sp>
        <p:nvSpPr>
          <p:cNvPr id="44" name="Shape 42"/>
          <p:cNvSpPr/>
          <p:nvPr/>
        </p:nvSpPr>
        <p:spPr>
          <a:xfrm>
            <a:off x="6531946" y="2477321"/>
            <a:ext cx="2289517" cy="0"/>
          </a:xfrm>
          <a:prstGeom prst="line">
            <a:avLst/>
          </a:prstGeom>
          <a:noFill/>
          <a:ln w="5715">
            <a:solidFill>
              <a:srgbClr val="D7E3ED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6586810" y="2226564"/>
            <a:ext cx="256032" cy="250757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20" b="1" dirty="0">
                <a:solidFill>
                  <a:srgbClr val="2F75B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FK</a:t>
            </a:r>
            <a:endParaRPr lang="en-US" sz="720" dirty="0"/>
          </a:p>
        </p:txBody>
      </p:sp>
      <p:sp>
        <p:nvSpPr>
          <p:cNvPr id="46" name="Text 44"/>
          <p:cNvSpPr/>
          <p:nvPr/>
        </p:nvSpPr>
        <p:spPr>
          <a:xfrm>
            <a:off x="6915994" y="2226564"/>
            <a:ext cx="1850605" cy="250757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80" dirty="0">
                <a:solidFill>
                  <a:srgbClr val="1932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session_id</a:t>
            </a:r>
            <a:endParaRPr lang="en-US" sz="780" dirty="0"/>
          </a:p>
        </p:txBody>
      </p:sp>
      <p:sp>
        <p:nvSpPr>
          <p:cNvPr id="47" name="Shape 45"/>
          <p:cNvSpPr/>
          <p:nvPr/>
        </p:nvSpPr>
        <p:spPr>
          <a:xfrm>
            <a:off x="6531946" y="2728077"/>
            <a:ext cx="2289517" cy="0"/>
          </a:xfrm>
          <a:prstGeom prst="line">
            <a:avLst/>
          </a:prstGeom>
          <a:noFill/>
          <a:ln w="5715">
            <a:solidFill>
              <a:srgbClr val="D7E3ED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6586810" y="2477321"/>
            <a:ext cx="256032" cy="250757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endParaRPr lang="en-US" sz="720" dirty="0"/>
          </a:p>
        </p:txBody>
      </p:sp>
      <p:sp>
        <p:nvSpPr>
          <p:cNvPr id="49" name="Text 47"/>
          <p:cNvSpPr/>
          <p:nvPr/>
        </p:nvSpPr>
        <p:spPr>
          <a:xfrm>
            <a:off x="6915994" y="2477321"/>
            <a:ext cx="1850605" cy="250757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80" dirty="0">
                <a:solidFill>
                  <a:srgbClr val="1932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tier_name</a:t>
            </a:r>
            <a:endParaRPr lang="en-US" sz="780" dirty="0"/>
          </a:p>
        </p:txBody>
      </p:sp>
      <p:sp>
        <p:nvSpPr>
          <p:cNvPr id="50" name="Shape 48"/>
          <p:cNvSpPr/>
          <p:nvPr/>
        </p:nvSpPr>
        <p:spPr>
          <a:xfrm>
            <a:off x="6531946" y="2978834"/>
            <a:ext cx="2289517" cy="0"/>
          </a:xfrm>
          <a:prstGeom prst="line">
            <a:avLst/>
          </a:prstGeom>
          <a:noFill/>
          <a:ln w="5715">
            <a:solidFill>
              <a:srgbClr val="D7E3ED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6586810" y="2728077"/>
            <a:ext cx="256032" cy="250757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endParaRPr lang="en-US" sz="720" dirty="0"/>
          </a:p>
        </p:txBody>
      </p:sp>
      <p:sp>
        <p:nvSpPr>
          <p:cNvPr id="52" name="Text 50"/>
          <p:cNvSpPr/>
          <p:nvPr/>
        </p:nvSpPr>
        <p:spPr>
          <a:xfrm>
            <a:off x="6915994" y="2728077"/>
            <a:ext cx="1850605" cy="250757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80" dirty="0">
                <a:solidFill>
                  <a:srgbClr val="1932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price</a:t>
            </a:r>
            <a:endParaRPr lang="en-US" sz="780" dirty="0"/>
          </a:p>
        </p:txBody>
      </p:sp>
      <p:sp>
        <p:nvSpPr>
          <p:cNvPr id="53" name="Shape 51"/>
          <p:cNvSpPr/>
          <p:nvPr/>
        </p:nvSpPr>
        <p:spPr>
          <a:xfrm>
            <a:off x="6531946" y="3229590"/>
            <a:ext cx="2289517" cy="0"/>
          </a:xfrm>
          <a:prstGeom prst="line">
            <a:avLst/>
          </a:prstGeom>
          <a:noFill/>
          <a:ln w="5715">
            <a:solidFill>
              <a:srgbClr val="D7E3ED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6586810" y="2978834"/>
            <a:ext cx="256032" cy="250757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endParaRPr lang="en-US" sz="720" dirty="0"/>
          </a:p>
        </p:txBody>
      </p:sp>
      <p:sp>
        <p:nvSpPr>
          <p:cNvPr id="55" name="Text 53"/>
          <p:cNvSpPr/>
          <p:nvPr/>
        </p:nvSpPr>
        <p:spPr>
          <a:xfrm>
            <a:off x="6915994" y="2978834"/>
            <a:ext cx="1850605" cy="250757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80" dirty="0">
                <a:solidFill>
                  <a:srgbClr val="1932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total_seats</a:t>
            </a:r>
            <a:endParaRPr lang="en-US" sz="780" dirty="0"/>
          </a:p>
        </p:txBody>
      </p:sp>
      <p:sp>
        <p:nvSpPr>
          <p:cNvPr id="56" name="Shape 54"/>
          <p:cNvSpPr/>
          <p:nvPr/>
        </p:nvSpPr>
        <p:spPr>
          <a:xfrm>
            <a:off x="3697306" y="3458542"/>
            <a:ext cx="2289517" cy="1918833"/>
          </a:xfrm>
          <a:prstGeom prst="rect">
            <a:avLst/>
          </a:prstGeom>
          <a:solidFill>
            <a:srgbClr val="FFFFFF"/>
          </a:solidFill>
          <a:ln w="12700">
            <a:solidFill>
              <a:srgbClr val="76A7D1"/>
            </a:solidFill>
            <a:prstDash val="solid"/>
          </a:ln>
        </p:spPr>
      </p:sp>
      <p:sp>
        <p:nvSpPr>
          <p:cNvPr id="57" name="Shape 55"/>
          <p:cNvSpPr/>
          <p:nvPr/>
        </p:nvSpPr>
        <p:spPr>
          <a:xfrm>
            <a:off x="3697306" y="3458542"/>
            <a:ext cx="2289517" cy="327074"/>
          </a:xfrm>
          <a:prstGeom prst="rect">
            <a:avLst/>
          </a:prstGeom>
          <a:solidFill>
            <a:srgbClr val="5C9BD5"/>
          </a:solidFill>
          <a:ln w="6350">
            <a:solidFill>
              <a:srgbClr val="5C9BD5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3752170" y="3458542"/>
            <a:ext cx="2179789" cy="32707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PURCHASE_REQUEST 购票请求</a:t>
            </a:r>
            <a:endParaRPr lang="en-US" sz="850" dirty="0"/>
          </a:p>
        </p:txBody>
      </p:sp>
      <p:sp>
        <p:nvSpPr>
          <p:cNvPr id="59" name="Shape 57"/>
          <p:cNvSpPr/>
          <p:nvPr/>
        </p:nvSpPr>
        <p:spPr>
          <a:xfrm>
            <a:off x="3697306" y="4134495"/>
            <a:ext cx="2289517" cy="0"/>
          </a:xfrm>
          <a:prstGeom prst="line">
            <a:avLst/>
          </a:prstGeom>
          <a:noFill/>
          <a:ln w="5715">
            <a:solidFill>
              <a:srgbClr val="D7E3ED"/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3752170" y="3883738"/>
            <a:ext cx="256032" cy="250757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20" b="1" dirty="0">
                <a:solidFill>
                  <a:srgbClr val="A768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PK</a:t>
            </a:r>
            <a:endParaRPr lang="en-US" sz="720" dirty="0"/>
          </a:p>
        </p:txBody>
      </p:sp>
      <p:sp>
        <p:nvSpPr>
          <p:cNvPr id="61" name="Text 59"/>
          <p:cNvSpPr/>
          <p:nvPr/>
        </p:nvSpPr>
        <p:spPr>
          <a:xfrm>
            <a:off x="4081354" y="3883738"/>
            <a:ext cx="1850605" cy="250757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80" dirty="0">
                <a:solidFill>
                  <a:srgbClr val="1932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request_id</a:t>
            </a:r>
            <a:endParaRPr lang="en-US" sz="780" dirty="0"/>
          </a:p>
        </p:txBody>
      </p:sp>
      <p:sp>
        <p:nvSpPr>
          <p:cNvPr id="62" name="Shape 60"/>
          <p:cNvSpPr/>
          <p:nvPr/>
        </p:nvSpPr>
        <p:spPr>
          <a:xfrm>
            <a:off x="3697306" y="4385251"/>
            <a:ext cx="2289517" cy="0"/>
          </a:xfrm>
          <a:prstGeom prst="line">
            <a:avLst/>
          </a:prstGeom>
          <a:noFill/>
          <a:ln w="5715">
            <a:solidFill>
              <a:srgbClr val="D7E3ED"/>
            </a:solidFill>
            <a:prstDash val="solid"/>
          </a:ln>
        </p:spPr>
      </p:sp>
      <p:sp>
        <p:nvSpPr>
          <p:cNvPr id="63" name="Text 61"/>
          <p:cNvSpPr/>
          <p:nvPr/>
        </p:nvSpPr>
        <p:spPr>
          <a:xfrm>
            <a:off x="3752170" y="4134495"/>
            <a:ext cx="256032" cy="250757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endParaRPr lang="en-US" sz="720" dirty="0"/>
          </a:p>
        </p:txBody>
      </p:sp>
      <p:sp>
        <p:nvSpPr>
          <p:cNvPr id="64" name="Text 62"/>
          <p:cNvSpPr/>
          <p:nvPr/>
        </p:nvSpPr>
        <p:spPr>
          <a:xfrm>
            <a:off x="4081354" y="4134495"/>
            <a:ext cx="1850605" cy="250757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80" dirty="0">
                <a:solidFill>
                  <a:srgbClr val="1932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user_id</a:t>
            </a:r>
            <a:endParaRPr lang="en-US" sz="780" dirty="0"/>
          </a:p>
        </p:txBody>
      </p:sp>
      <p:sp>
        <p:nvSpPr>
          <p:cNvPr id="65" name="Shape 63"/>
          <p:cNvSpPr/>
          <p:nvPr/>
        </p:nvSpPr>
        <p:spPr>
          <a:xfrm>
            <a:off x="3697306" y="4636008"/>
            <a:ext cx="2289517" cy="0"/>
          </a:xfrm>
          <a:prstGeom prst="line">
            <a:avLst/>
          </a:prstGeom>
          <a:noFill/>
          <a:ln w="5715">
            <a:solidFill>
              <a:srgbClr val="D7E3ED"/>
            </a:solidFill>
            <a:prstDash val="solid"/>
          </a:ln>
        </p:spPr>
      </p:sp>
      <p:sp>
        <p:nvSpPr>
          <p:cNvPr id="66" name="Text 64"/>
          <p:cNvSpPr/>
          <p:nvPr/>
        </p:nvSpPr>
        <p:spPr>
          <a:xfrm>
            <a:off x="3752170" y="4385251"/>
            <a:ext cx="256032" cy="250757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endParaRPr lang="en-US" sz="720" dirty="0"/>
          </a:p>
        </p:txBody>
      </p:sp>
      <p:sp>
        <p:nvSpPr>
          <p:cNvPr id="67" name="Text 65"/>
          <p:cNvSpPr/>
          <p:nvPr/>
        </p:nvSpPr>
        <p:spPr>
          <a:xfrm>
            <a:off x="4081354" y="4385251"/>
            <a:ext cx="1850605" cy="250757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80" dirty="0">
                <a:solidFill>
                  <a:srgbClr val="1932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session_id</a:t>
            </a:r>
            <a:endParaRPr lang="en-US" sz="780" dirty="0"/>
          </a:p>
        </p:txBody>
      </p:sp>
      <p:sp>
        <p:nvSpPr>
          <p:cNvPr id="68" name="Shape 66"/>
          <p:cNvSpPr/>
          <p:nvPr/>
        </p:nvSpPr>
        <p:spPr>
          <a:xfrm>
            <a:off x="3697306" y="4886765"/>
            <a:ext cx="2289517" cy="0"/>
          </a:xfrm>
          <a:prstGeom prst="line">
            <a:avLst/>
          </a:prstGeom>
          <a:noFill/>
          <a:ln w="5715">
            <a:solidFill>
              <a:srgbClr val="D7E3ED"/>
            </a:solidFill>
            <a:prstDash val="solid"/>
          </a:ln>
        </p:spPr>
      </p:sp>
      <p:sp>
        <p:nvSpPr>
          <p:cNvPr id="69" name="Text 67"/>
          <p:cNvSpPr/>
          <p:nvPr/>
        </p:nvSpPr>
        <p:spPr>
          <a:xfrm>
            <a:off x="3752170" y="4636008"/>
            <a:ext cx="256032" cy="250757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endParaRPr lang="en-US" sz="720" dirty="0"/>
          </a:p>
        </p:txBody>
      </p:sp>
      <p:sp>
        <p:nvSpPr>
          <p:cNvPr id="70" name="Text 68"/>
          <p:cNvSpPr/>
          <p:nvPr/>
        </p:nvSpPr>
        <p:spPr>
          <a:xfrm>
            <a:off x="4081354" y="4636008"/>
            <a:ext cx="1850605" cy="250757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80" dirty="0">
                <a:solidFill>
                  <a:srgbClr val="1932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tier_id</a:t>
            </a:r>
            <a:endParaRPr lang="en-US" sz="780" dirty="0"/>
          </a:p>
        </p:txBody>
      </p:sp>
      <p:sp>
        <p:nvSpPr>
          <p:cNvPr id="71" name="Shape 69"/>
          <p:cNvSpPr/>
          <p:nvPr/>
        </p:nvSpPr>
        <p:spPr>
          <a:xfrm>
            <a:off x="3697306" y="5137521"/>
            <a:ext cx="2289517" cy="0"/>
          </a:xfrm>
          <a:prstGeom prst="line">
            <a:avLst/>
          </a:prstGeom>
          <a:noFill/>
          <a:ln w="5715">
            <a:solidFill>
              <a:srgbClr val="D7E3ED"/>
            </a:solidFill>
            <a:prstDash val="solid"/>
          </a:ln>
        </p:spPr>
      </p:sp>
      <p:sp>
        <p:nvSpPr>
          <p:cNvPr id="72" name="Text 70"/>
          <p:cNvSpPr/>
          <p:nvPr/>
        </p:nvSpPr>
        <p:spPr>
          <a:xfrm>
            <a:off x="3752170" y="4886765"/>
            <a:ext cx="256032" cy="250757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endParaRPr lang="en-US" sz="720" dirty="0"/>
          </a:p>
        </p:txBody>
      </p:sp>
      <p:sp>
        <p:nvSpPr>
          <p:cNvPr id="73" name="Text 71"/>
          <p:cNvSpPr/>
          <p:nvPr/>
        </p:nvSpPr>
        <p:spPr>
          <a:xfrm>
            <a:off x="4081354" y="4886765"/>
            <a:ext cx="1850605" cy="250757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80" dirty="0">
                <a:solidFill>
                  <a:srgbClr val="1932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ticket_count</a:t>
            </a:r>
            <a:endParaRPr lang="en-US" sz="780" dirty="0"/>
          </a:p>
        </p:txBody>
      </p:sp>
      <p:sp>
        <p:nvSpPr>
          <p:cNvPr id="74" name="Shape 72"/>
          <p:cNvSpPr/>
          <p:nvPr/>
        </p:nvSpPr>
        <p:spPr>
          <a:xfrm>
            <a:off x="3697306" y="5388278"/>
            <a:ext cx="2289517" cy="0"/>
          </a:xfrm>
          <a:prstGeom prst="line">
            <a:avLst/>
          </a:prstGeom>
          <a:noFill/>
          <a:ln w="5715">
            <a:solidFill>
              <a:srgbClr val="D7E3ED"/>
            </a:solidFill>
            <a:prstDash val="solid"/>
          </a:ln>
        </p:spPr>
      </p:sp>
      <p:sp>
        <p:nvSpPr>
          <p:cNvPr id="75" name="Text 73"/>
          <p:cNvSpPr/>
          <p:nvPr/>
        </p:nvSpPr>
        <p:spPr>
          <a:xfrm>
            <a:off x="3752170" y="5137521"/>
            <a:ext cx="256032" cy="250757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endParaRPr lang="en-US" sz="720" dirty="0"/>
          </a:p>
        </p:txBody>
      </p:sp>
      <p:sp>
        <p:nvSpPr>
          <p:cNvPr id="76" name="Text 74"/>
          <p:cNvSpPr/>
          <p:nvPr/>
        </p:nvSpPr>
        <p:spPr>
          <a:xfrm>
            <a:off x="4081354" y="5137521"/>
            <a:ext cx="1850605" cy="250757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80" dirty="0">
                <a:solidFill>
                  <a:srgbClr val="1932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result</a:t>
            </a:r>
            <a:endParaRPr lang="en-US" sz="780" dirty="0"/>
          </a:p>
        </p:txBody>
      </p:sp>
      <p:sp>
        <p:nvSpPr>
          <p:cNvPr id="77" name="Shape 75"/>
          <p:cNvSpPr/>
          <p:nvPr/>
        </p:nvSpPr>
        <p:spPr>
          <a:xfrm>
            <a:off x="6531946" y="3458542"/>
            <a:ext cx="2289517" cy="2420346"/>
          </a:xfrm>
          <a:prstGeom prst="rect">
            <a:avLst/>
          </a:prstGeom>
          <a:solidFill>
            <a:srgbClr val="FFFFFF"/>
          </a:solidFill>
          <a:ln w="12700">
            <a:solidFill>
              <a:srgbClr val="76A7D1"/>
            </a:solidFill>
            <a:prstDash val="solid"/>
          </a:ln>
        </p:spPr>
      </p:sp>
      <p:sp>
        <p:nvSpPr>
          <p:cNvPr id="78" name="Shape 76"/>
          <p:cNvSpPr/>
          <p:nvPr/>
        </p:nvSpPr>
        <p:spPr>
          <a:xfrm>
            <a:off x="6531946" y="3458542"/>
            <a:ext cx="2289517" cy="327074"/>
          </a:xfrm>
          <a:prstGeom prst="rect">
            <a:avLst/>
          </a:prstGeom>
          <a:solidFill>
            <a:srgbClr val="5C9BD5"/>
          </a:solidFill>
          <a:ln w="6350">
            <a:solidFill>
              <a:srgbClr val="5C9BD5"/>
            </a:solidFill>
            <a:prstDash val="solid"/>
          </a:ln>
        </p:spPr>
      </p:sp>
      <p:sp>
        <p:nvSpPr>
          <p:cNvPr id="79" name="Text 77"/>
          <p:cNvSpPr/>
          <p:nvPr/>
        </p:nvSpPr>
        <p:spPr>
          <a:xfrm>
            <a:off x="6586810" y="3458542"/>
            <a:ext cx="2179789" cy="32707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TICKET_ORDER 订单</a:t>
            </a:r>
            <a:endParaRPr lang="en-US" sz="850" dirty="0"/>
          </a:p>
        </p:txBody>
      </p:sp>
      <p:sp>
        <p:nvSpPr>
          <p:cNvPr id="80" name="Shape 78"/>
          <p:cNvSpPr/>
          <p:nvPr/>
        </p:nvSpPr>
        <p:spPr>
          <a:xfrm>
            <a:off x="6531946" y="4134495"/>
            <a:ext cx="2289517" cy="0"/>
          </a:xfrm>
          <a:prstGeom prst="line">
            <a:avLst/>
          </a:prstGeom>
          <a:noFill/>
          <a:ln w="5715">
            <a:solidFill>
              <a:srgbClr val="D7E3ED"/>
            </a:solidFill>
            <a:prstDash val="solid"/>
          </a:ln>
        </p:spPr>
      </p:sp>
      <p:sp>
        <p:nvSpPr>
          <p:cNvPr id="81" name="Text 79"/>
          <p:cNvSpPr/>
          <p:nvPr/>
        </p:nvSpPr>
        <p:spPr>
          <a:xfrm>
            <a:off x="6586810" y="3883738"/>
            <a:ext cx="256032" cy="250757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20" b="1" dirty="0">
                <a:solidFill>
                  <a:srgbClr val="A768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PK</a:t>
            </a:r>
            <a:endParaRPr lang="en-US" sz="720" dirty="0"/>
          </a:p>
        </p:txBody>
      </p:sp>
      <p:sp>
        <p:nvSpPr>
          <p:cNvPr id="82" name="Text 80"/>
          <p:cNvSpPr/>
          <p:nvPr/>
        </p:nvSpPr>
        <p:spPr>
          <a:xfrm>
            <a:off x="6915994" y="3883738"/>
            <a:ext cx="1850605" cy="250757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80" dirty="0">
                <a:solidFill>
                  <a:srgbClr val="1932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order_id</a:t>
            </a:r>
            <a:endParaRPr lang="en-US" sz="780" dirty="0"/>
          </a:p>
        </p:txBody>
      </p:sp>
      <p:sp>
        <p:nvSpPr>
          <p:cNvPr id="83" name="Shape 81"/>
          <p:cNvSpPr/>
          <p:nvPr/>
        </p:nvSpPr>
        <p:spPr>
          <a:xfrm>
            <a:off x="6531946" y="4385251"/>
            <a:ext cx="2289517" cy="0"/>
          </a:xfrm>
          <a:prstGeom prst="line">
            <a:avLst/>
          </a:prstGeom>
          <a:noFill/>
          <a:ln w="5715">
            <a:solidFill>
              <a:srgbClr val="D7E3ED"/>
            </a:solidFill>
            <a:prstDash val="solid"/>
          </a:ln>
        </p:spPr>
      </p:sp>
      <p:sp>
        <p:nvSpPr>
          <p:cNvPr id="84" name="Text 82"/>
          <p:cNvSpPr/>
          <p:nvPr/>
        </p:nvSpPr>
        <p:spPr>
          <a:xfrm>
            <a:off x="6586810" y="4134495"/>
            <a:ext cx="256032" cy="250757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20" b="1" dirty="0">
                <a:solidFill>
                  <a:srgbClr val="2F75B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FK</a:t>
            </a:r>
            <a:endParaRPr lang="en-US" sz="720" dirty="0"/>
          </a:p>
        </p:txBody>
      </p:sp>
      <p:sp>
        <p:nvSpPr>
          <p:cNvPr id="85" name="Text 83"/>
          <p:cNvSpPr/>
          <p:nvPr/>
        </p:nvSpPr>
        <p:spPr>
          <a:xfrm>
            <a:off x="6915994" y="4134495"/>
            <a:ext cx="1850605" cy="250757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80" dirty="0">
                <a:solidFill>
                  <a:srgbClr val="1932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user_id</a:t>
            </a:r>
            <a:endParaRPr lang="en-US" sz="780" dirty="0"/>
          </a:p>
        </p:txBody>
      </p:sp>
      <p:sp>
        <p:nvSpPr>
          <p:cNvPr id="86" name="Shape 84"/>
          <p:cNvSpPr/>
          <p:nvPr/>
        </p:nvSpPr>
        <p:spPr>
          <a:xfrm>
            <a:off x="6531946" y="4636008"/>
            <a:ext cx="2289517" cy="0"/>
          </a:xfrm>
          <a:prstGeom prst="line">
            <a:avLst/>
          </a:prstGeom>
          <a:noFill/>
          <a:ln w="5715">
            <a:solidFill>
              <a:srgbClr val="D7E3ED"/>
            </a:solidFill>
            <a:prstDash val="solid"/>
          </a:ln>
        </p:spPr>
      </p:sp>
      <p:sp>
        <p:nvSpPr>
          <p:cNvPr id="87" name="Text 85"/>
          <p:cNvSpPr/>
          <p:nvPr/>
        </p:nvSpPr>
        <p:spPr>
          <a:xfrm>
            <a:off x="6586810" y="4385251"/>
            <a:ext cx="256032" cy="250757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20" b="1" dirty="0">
                <a:solidFill>
                  <a:srgbClr val="2F75B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FK</a:t>
            </a:r>
            <a:endParaRPr lang="en-US" sz="720" dirty="0"/>
          </a:p>
        </p:txBody>
      </p:sp>
      <p:sp>
        <p:nvSpPr>
          <p:cNvPr id="88" name="Text 86"/>
          <p:cNvSpPr/>
          <p:nvPr/>
        </p:nvSpPr>
        <p:spPr>
          <a:xfrm>
            <a:off x="6915994" y="4385251"/>
            <a:ext cx="1850605" cy="250757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80" dirty="0">
                <a:solidFill>
                  <a:srgbClr val="1932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session_id</a:t>
            </a:r>
            <a:endParaRPr lang="en-US" sz="780" dirty="0"/>
          </a:p>
        </p:txBody>
      </p:sp>
      <p:sp>
        <p:nvSpPr>
          <p:cNvPr id="89" name="Shape 87"/>
          <p:cNvSpPr/>
          <p:nvPr/>
        </p:nvSpPr>
        <p:spPr>
          <a:xfrm>
            <a:off x="6531946" y="4886765"/>
            <a:ext cx="2289517" cy="0"/>
          </a:xfrm>
          <a:prstGeom prst="line">
            <a:avLst/>
          </a:prstGeom>
          <a:noFill/>
          <a:ln w="5715">
            <a:solidFill>
              <a:srgbClr val="D7E3ED"/>
            </a:solidFill>
            <a:prstDash val="solid"/>
          </a:ln>
        </p:spPr>
      </p:sp>
      <p:sp>
        <p:nvSpPr>
          <p:cNvPr id="90" name="Text 88"/>
          <p:cNvSpPr/>
          <p:nvPr/>
        </p:nvSpPr>
        <p:spPr>
          <a:xfrm>
            <a:off x="6586810" y="4636008"/>
            <a:ext cx="256032" cy="250757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20" b="1" dirty="0">
                <a:solidFill>
                  <a:srgbClr val="2F75B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FK</a:t>
            </a:r>
            <a:endParaRPr lang="en-US" sz="720" dirty="0"/>
          </a:p>
        </p:txBody>
      </p:sp>
      <p:sp>
        <p:nvSpPr>
          <p:cNvPr id="91" name="Text 89"/>
          <p:cNvSpPr/>
          <p:nvPr/>
        </p:nvSpPr>
        <p:spPr>
          <a:xfrm>
            <a:off x="6915994" y="4636008"/>
            <a:ext cx="1850605" cy="250757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80" dirty="0">
                <a:solidFill>
                  <a:srgbClr val="1932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tier_id</a:t>
            </a:r>
            <a:endParaRPr lang="en-US" sz="780" dirty="0"/>
          </a:p>
        </p:txBody>
      </p:sp>
      <p:sp>
        <p:nvSpPr>
          <p:cNvPr id="92" name="Shape 90"/>
          <p:cNvSpPr/>
          <p:nvPr/>
        </p:nvSpPr>
        <p:spPr>
          <a:xfrm>
            <a:off x="6531946" y="5137521"/>
            <a:ext cx="2289517" cy="0"/>
          </a:xfrm>
          <a:prstGeom prst="line">
            <a:avLst/>
          </a:prstGeom>
          <a:noFill/>
          <a:ln w="5715">
            <a:solidFill>
              <a:srgbClr val="D7E3ED"/>
            </a:solidFill>
            <a:prstDash val="solid"/>
          </a:ln>
        </p:spPr>
      </p:sp>
      <p:sp>
        <p:nvSpPr>
          <p:cNvPr id="93" name="Text 91"/>
          <p:cNvSpPr/>
          <p:nvPr/>
        </p:nvSpPr>
        <p:spPr>
          <a:xfrm>
            <a:off x="6586810" y="4886765"/>
            <a:ext cx="256032" cy="250757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20" b="1" dirty="0">
                <a:solidFill>
                  <a:srgbClr val="2F75B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FK</a:t>
            </a:r>
            <a:endParaRPr lang="en-US" sz="720" dirty="0"/>
          </a:p>
        </p:txBody>
      </p:sp>
      <p:sp>
        <p:nvSpPr>
          <p:cNvPr id="94" name="Text 92"/>
          <p:cNvSpPr/>
          <p:nvPr/>
        </p:nvSpPr>
        <p:spPr>
          <a:xfrm>
            <a:off x="6915994" y="4886765"/>
            <a:ext cx="1850605" cy="250757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80" dirty="0">
                <a:solidFill>
                  <a:srgbClr val="1932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address_id</a:t>
            </a:r>
            <a:endParaRPr lang="en-US" sz="780" dirty="0"/>
          </a:p>
        </p:txBody>
      </p:sp>
      <p:sp>
        <p:nvSpPr>
          <p:cNvPr id="95" name="Shape 93"/>
          <p:cNvSpPr/>
          <p:nvPr/>
        </p:nvSpPr>
        <p:spPr>
          <a:xfrm>
            <a:off x="6531946" y="5388278"/>
            <a:ext cx="2289517" cy="0"/>
          </a:xfrm>
          <a:prstGeom prst="line">
            <a:avLst/>
          </a:prstGeom>
          <a:noFill/>
          <a:ln w="5715">
            <a:solidFill>
              <a:srgbClr val="D7E3ED"/>
            </a:solidFill>
            <a:prstDash val="solid"/>
          </a:ln>
        </p:spPr>
      </p:sp>
      <p:sp>
        <p:nvSpPr>
          <p:cNvPr id="96" name="Text 94"/>
          <p:cNvSpPr/>
          <p:nvPr/>
        </p:nvSpPr>
        <p:spPr>
          <a:xfrm>
            <a:off x="6586810" y="5137521"/>
            <a:ext cx="256032" cy="250757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endParaRPr lang="en-US" sz="720" dirty="0"/>
          </a:p>
        </p:txBody>
      </p:sp>
      <p:sp>
        <p:nvSpPr>
          <p:cNvPr id="97" name="Text 95"/>
          <p:cNvSpPr/>
          <p:nvPr/>
        </p:nvSpPr>
        <p:spPr>
          <a:xfrm>
            <a:off x="6915994" y="5137521"/>
            <a:ext cx="1850605" cy="250757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80" dirty="0">
                <a:solidFill>
                  <a:srgbClr val="1932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ticket_count</a:t>
            </a:r>
            <a:endParaRPr lang="en-US" sz="780" dirty="0"/>
          </a:p>
        </p:txBody>
      </p:sp>
      <p:sp>
        <p:nvSpPr>
          <p:cNvPr id="98" name="Shape 96"/>
          <p:cNvSpPr/>
          <p:nvPr/>
        </p:nvSpPr>
        <p:spPr>
          <a:xfrm>
            <a:off x="6531946" y="5639034"/>
            <a:ext cx="2289517" cy="0"/>
          </a:xfrm>
          <a:prstGeom prst="line">
            <a:avLst/>
          </a:prstGeom>
          <a:noFill/>
          <a:ln w="5715">
            <a:solidFill>
              <a:srgbClr val="D7E3ED"/>
            </a:solidFill>
            <a:prstDash val="solid"/>
          </a:ln>
        </p:spPr>
      </p:sp>
      <p:sp>
        <p:nvSpPr>
          <p:cNvPr id="99" name="Text 97"/>
          <p:cNvSpPr/>
          <p:nvPr/>
        </p:nvSpPr>
        <p:spPr>
          <a:xfrm>
            <a:off x="6586810" y="5388278"/>
            <a:ext cx="256032" cy="250757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endParaRPr lang="en-US" sz="720" dirty="0"/>
          </a:p>
        </p:txBody>
      </p:sp>
      <p:sp>
        <p:nvSpPr>
          <p:cNvPr id="100" name="Text 98"/>
          <p:cNvSpPr/>
          <p:nvPr/>
        </p:nvSpPr>
        <p:spPr>
          <a:xfrm>
            <a:off x="6915994" y="5388278"/>
            <a:ext cx="1850605" cy="250757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80" dirty="0">
                <a:solidFill>
                  <a:srgbClr val="1932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total_amount</a:t>
            </a:r>
            <a:endParaRPr lang="en-US" sz="780" dirty="0"/>
          </a:p>
        </p:txBody>
      </p:sp>
      <p:sp>
        <p:nvSpPr>
          <p:cNvPr id="101" name="Shape 99"/>
          <p:cNvSpPr/>
          <p:nvPr/>
        </p:nvSpPr>
        <p:spPr>
          <a:xfrm>
            <a:off x="6531946" y="5889791"/>
            <a:ext cx="2289517" cy="0"/>
          </a:xfrm>
          <a:prstGeom prst="line">
            <a:avLst/>
          </a:prstGeom>
          <a:noFill/>
          <a:ln w="5715">
            <a:solidFill>
              <a:srgbClr val="D7E3ED"/>
            </a:solidFill>
            <a:prstDash val="solid"/>
          </a:ln>
        </p:spPr>
      </p:sp>
      <p:sp>
        <p:nvSpPr>
          <p:cNvPr id="102" name="Text 100"/>
          <p:cNvSpPr/>
          <p:nvPr/>
        </p:nvSpPr>
        <p:spPr>
          <a:xfrm>
            <a:off x="6586810" y="5639034"/>
            <a:ext cx="256032" cy="250757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endParaRPr lang="en-US" sz="720" dirty="0"/>
          </a:p>
        </p:txBody>
      </p:sp>
      <p:sp>
        <p:nvSpPr>
          <p:cNvPr id="103" name="Text 101"/>
          <p:cNvSpPr/>
          <p:nvPr/>
        </p:nvSpPr>
        <p:spPr>
          <a:xfrm>
            <a:off x="6915994" y="5639034"/>
            <a:ext cx="1850605" cy="250757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80" dirty="0">
                <a:solidFill>
                  <a:srgbClr val="1932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order_status</a:t>
            </a:r>
            <a:endParaRPr lang="en-US" sz="780" dirty="0"/>
          </a:p>
        </p:txBody>
      </p:sp>
      <p:sp>
        <p:nvSpPr>
          <p:cNvPr id="104" name="Shape 102"/>
          <p:cNvSpPr/>
          <p:nvPr/>
        </p:nvSpPr>
        <p:spPr>
          <a:xfrm>
            <a:off x="9366586" y="3458542"/>
            <a:ext cx="2289517" cy="1417320"/>
          </a:xfrm>
          <a:prstGeom prst="rect">
            <a:avLst/>
          </a:prstGeom>
          <a:solidFill>
            <a:srgbClr val="FFFFFF"/>
          </a:solidFill>
          <a:ln w="12700">
            <a:solidFill>
              <a:srgbClr val="76A7D1"/>
            </a:solidFill>
            <a:prstDash val="solid"/>
          </a:ln>
        </p:spPr>
      </p:sp>
      <p:sp>
        <p:nvSpPr>
          <p:cNvPr id="105" name="Shape 103"/>
          <p:cNvSpPr/>
          <p:nvPr/>
        </p:nvSpPr>
        <p:spPr>
          <a:xfrm>
            <a:off x="9366586" y="3458542"/>
            <a:ext cx="2289517" cy="327074"/>
          </a:xfrm>
          <a:prstGeom prst="rect">
            <a:avLst/>
          </a:prstGeom>
          <a:solidFill>
            <a:srgbClr val="5C9BD5"/>
          </a:solidFill>
          <a:ln w="6350">
            <a:solidFill>
              <a:srgbClr val="5C9BD5"/>
            </a:solidFill>
            <a:prstDash val="solid"/>
          </a:ln>
        </p:spPr>
      </p:sp>
      <p:sp>
        <p:nvSpPr>
          <p:cNvPr id="106" name="Text 104"/>
          <p:cNvSpPr/>
          <p:nvPr/>
        </p:nvSpPr>
        <p:spPr>
          <a:xfrm>
            <a:off x="9421450" y="3458542"/>
            <a:ext cx="2179789" cy="32707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SALES_DAILY 销售统计</a:t>
            </a:r>
            <a:endParaRPr lang="en-US" sz="850" dirty="0"/>
          </a:p>
        </p:txBody>
      </p:sp>
      <p:sp>
        <p:nvSpPr>
          <p:cNvPr id="107" name="Shape 105"/>
          <p:cNvSpPr/>
          <p:nvPr/>
        </p:nvSpPr>
        <p:spPr>
          <a:xfrm>
            <a:off x="9366586" y="4134495"/>
            <a:ext cx="2289517" cy="0"/>
          </a:xfrm>
          <a:prstGeom prst="line">
            <a:avLst/>
          </a:prstGeom>
          <a:noFill/>
          <a:ln w="5715">
            <a:solidFill>
              <a:srgbClr val="D7E3ED"/>
            </a:solidFill>
            <a:prstDash val="solid"/>
          </a:ln>
        </p:spPr>
      </p:sp>
      <p:sp>
        <p:nvSpPr>
          <p:cNvPr id="108" name="Text 106"/>
          <p:cNvSpPr/>
          <p:nvPr/>
        </p:nvSpPr>
        <p:spPr>
          <a:xfrm>
            <a:off x="9421450" y="3883738"/>
            <a:ext cx="256032" cy="250757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20" b="1" dirty="0">
                <a:solidFill>
                  <a:srgbClr val="A768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PK</a:t>
            </a:r>
            <a:endParaRPr lang="en-US" sz="720" dirty="0"/>
          </a:p>
        </p:txBody>
      </p:sp>
      <p:sp>
        <p:nvSpPr>
          <p:cNvPr id="109" name="Text 107"/>
          <p:cNvSpPr/>
          <p:nvPr/>
        </p:nvSpPr>
        <p:spPr>
          <a:xfrm>
            <a:off x="9750634" y="3883738"/>
            <a:ext cx="1850605" cy="250757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80" dirty="0">
                <a:solidFill>
                  <a:srgbClr val="1932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stat_date</a:t>
            </a:r>
            <a:endParaRPr lang="en-US" sz="780" dirty="0"/>
          </a:p>
        </p:txBody>
      </p:sp>
      <p:sp>
        <p:nvSpPr>
          <p:cNvPr id="110" name="Shape 108"/>
          <p:cNvSpPr/>
          <p:nvPr/>
        </p:nvSpPr>
        <p:spPr>
          <a:xfrm>
            <a:off x="9366586" y="4385251"/>
            <a:ext cx="2289517" cy="0"/>
          </a:xfrm>
          <a:prstGeom prst="line">
            <a:avLst/>
          </a:prstGeom>
          <a:noFill/>
          <a:ln w="5715">
            <a:solidFill>
              <a:srgbClr val="D7E3ED"/>
            </a:solidFill>
            <a:prstDash val="solid"/>
          </a:ln>
        </p:spPr>
      </p:sp>
      <p:sp>
        <p:nvSpPr>
          <p:cNvPr id="111" name="Text 109"/>
          <p:cNvSpPr/>
          <p:nvPr/>
        </p:nvSpPr>
        <p:spPr>
          <a:xfrm>
            <a:off x="9421450" y="4134495"/>
            <a:ext cx="256032" cy="250757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endParaRPr lang="en-US" sz="720" dirty="0"/>
          </a:p>
        </p:txBody>
      </p:sp>
      <p:sp>
        <p:nvSpPr>
          <p:cNvPr id="112" name="Text 110"/>
          <p:cNvSpPr/>
          <p:nvPr/>
        </p:nvSpPr>
        <p:spPr>
          <a:xfrm>
            <a:off x="9750634" y="4134495"/>
            <a:ext cx="1850605" cy="250757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80" dirty="0">
                <a:solidFill>
                  <a:srgbClr val="1932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order_count</a:t>
            </a:r>
            <a:endParaRPr lang="en-US" sz="780" dirty="0"/>
          </a:p>
        </p:txBody>
      </p:sp>
      <p:sp>
        <p:nvSpPr>
          <p:cNvPr id="113" name="Shape 111"/>
          <p:cNvSpPr/>
          <p:nvPr/>
        </p:nvSpPr>
        <p:spPr>
          <a:xfrm>
            <a:off x="9366586" y="4636008"/>
            <a:ext cx="2289517" cy="0"/>
          </a:xfrm>
          <a:prstGeom prst="line">
            <a:avLst/>
          </a:prstGeom>
          <a:noFill/>
          <a:ln w="5715">
            <a:solidFill>
              <a:srgbClr val="D7E3ED"/>
            </a:solidFill>
            <a:prstDash val="solid"/>
          </a:ln>
        </p:spPr>
      </p:sp>
      <p:sp>
        <p:nvSpPr>
          <p:cNvPr id="114" name="Text 112"/>
          <p:cNvSpPr/>
          <p:nvPr/>
        </p:nvSpPr>
        <p:spPr>
          <a:xfrm>
            <a:off x="9421450" y="4385251"/>
            <a:ext cx="256032" cy="250757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endParaRPr lang="en-US" sz="720" dirty="0"/>
          </a:p>
        </p:txBody>
      </p:sp>
      <p:sp>
        <p:nvSpPr>
          <p:cNvPr id="115" name="Text 113"/>
          <p:cNvSpPr/>
          <p:nvPr/>
        </p:nvSpPr>
        <p:spPr>
          <a:xfrm>
            <a:off x="9750634" y="4385251"/>
            <a:ext cx="1850605" cy="250757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80" dirty="0">
                <a:solidFill>
                  <a:srgbClr val="1932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ticket_count</a:t>
            </a:r>
            <a:endParaRPr lang="en-US" sz="780" dirty="0"/>
          </a:p>
        </p:txBody>
      </p:sp>
      <p:sp>
        <p:nvSpPr>
          <p:cNvPr id="116" name="Shape 114"/>
          <p:cNvSpPr/>
          <p:nvPr/>
        </p:nvSpPr>
        <p:spPr>
          <a:xfrm>
            <a:off x="9366586" y="4886765"/>
            <a:ext cx="2289517" cy="0"/>
          </a:xfrm>
          <a:prstGeom prst="line">
            <a:avLst/>
          </a:prstGeom>
          <a:noFill/>
          <a:ln w="5715">
            <a:solidFill>
              <a:srgbClr val="D7E3ED"/>
            </a:solidFill>
            <a:prstDash val="solid"/>
          </a:ln>
        </p:spPr>
      </p:sp>
      <p:sp>
        <p:nvSpPr>
          <p:cNvPr id="117" name="Text 115"/>
          <p:cNvSpPr/>
          <p:nvPr/>
        </p:nvSpPr>
        <p:spPr>
          <a:xfrm>
            <a:off x="9421450" y="4636008"/>
            <a:ext cx="256032" cy="250757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endParaRPr lang="en-US" sz="720" dirty="0"/>
          </a:p>
        </p:txBody>
      </p:sp>
      <p:sp>
        <p:nvSpPr>
          <p:cNvPr id="118" name="Text 116"/>
          <p:cNvSpPr/>
          <p:nvPr/>
        </p:nvSpPr>
        <p:spPr>
          <a:xfrm>
            <a:off x="9750634" y="4636008"/>
            <a:ext cx="1850605" cy="250757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80" dirty="0">
                <a:solidFill>
                  <a:srgbClr val="1932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total_amount</a:t>
            </a:r>
            <a:endParaRPr lang="en-US" sz="780" dirty="0"/>
          </a:p>
        </p:txBody>
      </p:sp>
      <p:sp>
        <p:nvSpPr>
          <p:cNvPr id="119" name="Shape 117"/>
          <p:cNvSpPr/>
          <p:nvPr/>
        </p:nvSpPr>
        <p:spPr>
          <a:xfrm>
            <a:off x="3424745" y="4265324"/>
            <a:ext cx="272562" cy="914"/>
          </a:xfrm>
          <a:prstGeom prst="line">
            <a:avLst/>
          </a:prstGeom>
          <a:noFill/>
          <a:ln w="14605">
            <a:solidFill>
              <a:srgbClr val="8A5AA8"/>
            </a:solidFill>
            <a:prstDash val="dash"/>
          </a:ln>
        </p:spPr>
      </p:sp>
      <p:sp>
        <p:nvSpPr>
          <p:cNvPr id="120" name="Shape 118"/>
          <p:cNvSpPr/>
          <p:nvPr/>
        </p:nvSpPr>
        <p:spPr>
          <a:xfrm>
            <a:off x="3424745" y="2106637"/>
            <a:ext cx="914" cy="2158687"/>
          </a:xfrm>
          <a:prstGeom prst="line">
            <a:avLst/>
          </a:prstGeom>
          <a:noFill/>
          <a:ln w="14605">
            <a:solidFill>
              <a:srgbClr val="8A5AA8"/>
            </a:solidFill>
            <a:prstDash val="dash"/>
          </a:ln>
        </p:spPr>
      </p:sp>
      <p:sp>
        <p:nvSpPr>
          <p:cNvPr id="121" name="Shape 119"/>
          <p:cNvSpPr/>
          <p:nvPr/>
        </p:nvSpPr>
        <p:spPr>
          <a:xfrm>
            <a:off x="3152183" y="2106637"/>
            <a:ext cx="272562" cy="914"/>
          </a:xfrm>
          <a:prstGeom prst="line">
            <a:avLst/>
          </a:prstGeom>
          <a:noFill/>
          <a:ln w="14605">
            <a:solidFill>
              <a:srgbClr val="8A5AA8"/>
            </a:solidFill>
            <a:prstDash val="dash"/>
          </a:ln>
        </p:spPr>
      </p:sp>
      <p:sp>
        <p:nvSpPr>
          <p:cNvPr id="122" name="Shape 120"/>
          <p:cNvSpPr/>
          <p:nvPr/>
        </p:nvSpPr>
        <p:spPr>
          <a:xfrm>
            <a:off x="3665302" y="4233320"/>
            <a:ext cx="64008" cy="64008"/>
          </a:xfrm>
          <a:prstGeom prst="ellipse">
            <a:avLst/>
          </a:prstGeom>
          <a:solidFill>
            <a:srgbClr val="FFFFFF"/>
          </a:solidFill>
          <a:ln w="13970">
            <a:solidFill>
              <a:srgbClr val="8A5AA8"/>
            </a:solidFill>
            <a:prstDash val="solid"/>
          </a:ln>
        </p:spPr>
      </p:sp>
      <p:sp>
        <p:nvSpPr>
          <p:cNvPr id="123" name="Shape 121"/>
          <p:cNvSpPr/>
          <p:nvPr/>
        </p:nvSpPr>
        <p:spPr>
          <a:xfrm>
            <a:off x="3120179" y="2074633"/>
            <a:ext cx="64008" cy="64008"/>
          </a:xfrm>
          <a:prstGeom prst="ellipse">
            <a:avLst/>
          </a:prstGeom>
          <a:solidFill>
            <a:srgbClr val="FFFFFF"/>
          </a:solidFill>
          <a:ln w="13970">
            <a:solidFill>
              <a:srgbClr val="8A5AA8"/>
            </a:solidFill>
            <a:prstDash val="solid"/>
          </a:ln>
        </p:spPr>
      </p:sp>
      <p:sp>
        <p:nvSpPr>
          <p:cNvPr id="124" name="Shape 122"/>
          <p:cNvSpPr/>
          <p:nvPr/>
        </p:nvSpPr>
        <p:spPr>
          <a:xfrm>
            <a:off x="3533769" y="4516081"/>
            <a:ext cx="163537" cy="914"/>
          </a:xfrm>
          <a:prstGeom prst="line">
            <a:avLst/>
          </a:prstGeom>
          <a:noFill/>
          <a:ln w="14605">
            <a:solidFill>
              <a:srgbClr val="8A5AA8"/>
            </a:solidFill>
            <a:prstDash val="dash"/>
          </a:ln>
        </p:spPr>
      </p:sp>
      <p:sp>
        <p:nvSpPr>
          <p:cNvPr id="125" name="Shape 123"/>
          <p:cNvSpPr/>
          <p:nvPr/>
        </p:nvSpPr>
        <p:spPr>
          <a:xfrm>
            <a:off x="3533769" y="2106637"/>
            <a:ext cx="914" cy="2409444"/>
          </a:xfrm>
          <a:prstGeom prst="line">
            <a:avLst/>
          </a:prstGeom>
          <a:noFill/>
          <a:ln w="14605">
            <a:solidFill>
              <a:srgbClr val="8A5AA8"/>
            </a:solidFill>
            <a:prstDash val="dash"/>
          </a:ln>
        </p:spPr>
      </p:sp>
      <p:sp>
        <p:nvSpPr>
          <p:cNvPr id="126" name="Shape 124"/>
          <p:cNvSpPr/>
          <p:nvPr/>
        </p:nvSpPr>
        <p:spPr>
          <a:xfrm>
            <a:off x="3533769" y="2106637"/>
            <a:ext cx="163537" cy="914"/>
          </a:xfrm>
          <a:prstGeom prst="line">
            <a:avLst/>
          </a:prstGeom>
          <a:noFill/>
          <a:ln w="14605">
            <a:solidFill>
              <a:srgbClr val="8A5AA8"/>
            </a:solidFill>
            <a:prstDash val="dash"/>
          </a:ln>
        </p:spPr>
      </p:sp>
      <p:sp>
        <p:nvSpPr>
          <p:cNvPr id="127" name="Shape 125"/>
          <p:cNvSpPr/>
          <p:nvPr/>
        </p:nvSpPr>
        <p:spPr>
          <a:xfrm>
            <a:off x="3665302" y="4484077"/>
            <a:ext cx="64008" cy="64008"/>
          </a:xfrm>
          <a:prstGeom prst="ellipse">
            <a:avLst/>
          </a:prstGeom>
          <a:solidFill>
            <a:srgbClr val="FFFFFF"/>
          </a:solidFill>
          <a:ln w="13970">
            <a:solidFill>
              <a:srgbClr val="8A5AA8"/>
            </a:solidFill>
            <a:prstDash val="solid"/>
          </a:ln>
        </p:spPr>
      </p:sp>
      <p:sp>
        <p:nvSpPr>
          <p:cNvPr id="128" name="Shape 126"/>
          <p:cNvSpPr/>
          <p:nvPr/>
        </p:nvSpPr>
        <p:spPr>
          <a:xfrm>
            <a:off x="3665302" y="2074633"/>
            <a:ext cx="64008" cy="64008"/>
          </a:xfrm>
          <a:prstGeom prst="ellipse">
            <a:avLst/>
          </a:prstGeom>
          <a:solidFill>
            <a:srgbClr val="FFFFFF"/>
          </a:solidFill>
          <a:ln w="13970">
            <a:solidFill>
              <a:srgbClr val="8A5AA8"/>
            </a:solidFill>
            <a:prstDash val="solid"/>
          </a:ln>
        </p:spPr>
      </p:sp>
      <p:sp>
        <p:nvSpPr>
          <p:cNvPr id="129" name="Shape 127"/>
          <p:cNvSpPr/>
          <p:nvPr/>
        </p:nvSpPr>
        <p:spPr>
          <a:xfrm>
            <a:off x="5986823" y="4766838"/>
            <a:ext cx="218049" cy="914"/>
          </a:xfrm>
          <a:prstGeom prst="line">
            <a:avLst/>
          </a:prstGeom>
          <a:noFill/>
          <a:ln w="14605">
            <a:solidFill>
              <a:srgbClr val="8A5AA8"/>
            </a:solidFill>
            <a:prstDash val="dash"/>
          </a:ln>
        </p:spPr>
      </p:sp>
      <p:sp>
        <p:nvSpPr>
          <p:cNvPr id="130" name="Shape 128"/>
          <p:cNvSpPr/>
          <p:nvPr/>
        </p:nvSpPr>
        <p:spPr>
          <a:xfrm>
            <a:off x="6204872" y="2106637"/>
            <a:ext cx="914" cy="2660201"/>
          </a:xfrm>
          <a:prstGeom prst="line">
            <a:avLst/>
          </a:prstGeom>
          <a:noFill/>
          <a:ln w="14605">
            <a:solidFill>
              <a:srgbClr val="8A5AA8"/>
            </a:solidFill>
            <a:prstDash val="dash"/>
          </a:ln>
        </p:spPr>
      </p:sp>
      <p:sp>
        <p:nvSpPr>
          <p:cNvPr id="131" name="Shape 129"/>
          <p:cNvSpPr/>
          <p:nvPr/>
        </p:nvSpPr>
        <p:spPr>
          <a:xfrm>
            <a:off x="6204872" y="2106637"/>
            <a:ext cx="327074" cy="914"/>
          </a:xfrm>
          <a:prstGeom prst="line">
            <a:avLst/>
          </a:prstGeom>
          <a:noFill/>
          <a:ln w="14605">
            <a:solidFill>
              <a:srgbClr val="8A5AA8"/>
            </a:solidFill>
            <a:prstDash val="dash"/>
          </a:ln>
        </p:spPr>
      </p:sp>
      <p:sp>
        <p:nvSpPr>
          <p:cNvPr id="132" name="Shape 130"/>
          <p:cNvSpPr/>
          <p:nvPr/>
        </p:nvSpPr>
        <p:spPr>
          <a:xfrm>
            <a:off x="5954819" y="4734834"/>
            <a:ext cx="64008" cy="64008"/>
          </a:xfrm>
          <a:prstGeom prst="ellipse">
            <a:avLst/>
          </a:prstGeom>
          <a:solidFill>
            <a:srgbClr val="FFFFFF"/>
          </a:solidFill>
          <a:ln w="13970">
            <a:solidFill>
              <a:srgbClr val="8A5AA8"/>
            </a:solidFill>
            <a:prstDash val="solid"/>
          </a:ln>
        </p:spPr>
      </p:sp>
      <p:sp>
        <p:nvSpPr>
          <p:cNvPr id="133" name="Shape 131"/>
          <p:cNvSpPr/>
          <p:nvPr/>
        </p:nvSpPr>
        <p:spPr>
          <a:xfrm>
            <a:off x="6499942" y="2074633"/>
            <a:ext cx="64008" cy="64008"/>
          </a:xfrm>
          <a:prstGeom prst="ellipse">
            <a:avLst/>
          </a:prstGeom>
          <a:solidFill>
            <a:srgbClr val="FFFFFF"/>
          </a:solidFill>
          <a:ln w="13970">
            <a:solidFill>
              <a:srgbClr val="8A5AA8"/>
            </a:solidFill>
            <a:prstDash val="solid"/>
          </a:ln>
        </p:spPr>
      </p:sp>
      <p:sp>
        <p:nvSpPr>
          <p:cNvPr id="134" name="Shape 132"/>
          <p:cNvSpPr/>
          <p:nvPr/>
        </p:nvSpPr>
        <p:spPr>
          <a:xfrm>
            <a:off x="8821463" y="3458542"/>
            <a:ext cx="272562" cy="914"/>
          </a:xfrm>
          <a:prstGeom prst="line">
            <a:avLst/>
          </a:prstGeom>
          <a:noFill/>
          <a:ln w="14605">
            <a:solidFill>
              <a:srgbClr val="A05A5A"/>
            </a:solidFill>
            <a:prstDash val="dash"/>
          </a:ln>
        </p:spPr>
      </p:sp>
      <p:sp>
        <p:nvSpPr>
          <p:cNvPr id="135" name="Shape 133"/>
          <p:cNvSpPr/>
          <p:nvPr/>
        </p:nvSpPr>
        <p:spPr>
          <a:xfrm>
            <a:off x="9094025" y="3458542"/>
            <a:ext cx="272562" cy="914"/>
          </a:xfrm>
          <a:prstGeom prst="line">
            <a:avLst/>
          </a:prstGeom>
          <a:noFill/>
          <a:ln w="14605">
            <a:solidFill>
              <a:srgbClr val="A05A5A"/>
            </a:solidFill>
            <a:prstDash val="dash"/>
          </a:ln>
        </p:spPr>
      </p:sp>
      <p:sp>
        <p:nvSpPr>
          <p:cNvPr id="136" name="Shape 134"/>
          <p:cNvSpPr/>
          <p:nvPr/>
        </p:nvSpPr>
        <p:spPr>
          <a:xfrm>
            <a:off x="8789459" y="3426538"/>
            <a:ext cx="64008" cy="64008"/>
          </a:xfrm>
          <a:prstGeom prst="ellipse">
            <a:avLst/>
          </a:prstGeom>
          <a:solidFill>
            <a:srgbClr val="FFFFFF"/>
          </a:solidFill>
          <a:ln w="13970">
            <a:solidFill>
              <a:srgbClr val="A05A5A"/>
            </a:solidFill>
            <a:prstDash val="solid"/>
          </a:ln>
        </p:spPr>
      </p:sp>
      <p:sp>
        <p:nvSpPr>
          <p:cNvPr id="137" name="Shape 135"/>
          <p:cNvSpPr/>
          <p:nvPr/>
        </p:nvSpPr>
        <p:spPr>
          <a:xfrm>
            <a:off x="9334582" y="3426538"/>
            <a:ext cx="64008" cy="64008"/>
          </a:xfrm>
          <a:prstGeom prst="ellipse">
            <a:avLst/>
          </a:prstGeom>
          <a:solidFill>
            <a:srgbClr val="FFFFFF"/>
          </a:solidFill>
          <a:ln w="13970">
            <a:solidFill>
              <a:srgbClr val="A05A5A"/>
            </a:solidFill>
            <a:prstDash val="solid"/>
          </a:ln>
        </p:spPr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7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28600"/>
            <a:ext cx="11338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1932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主外键映射总表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411480" y="640080"/>
            <a:ext cx="113385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63758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可作为提交或答辩时的字段关系对照页。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10058400" y="283464"/>
            <a:ext cx="1691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000" dirty="0">
                <a:solidFill>
                  <a:srgbClr val="2F75B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字段参考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502920" y="1097280"/>
            <a:ext cx="5486400" cy="201168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12700">
            <a:solidFill>
              <a:srgbClr val="D7E3ED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67512" y="1243584"/>
            <a:ext cx="515721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2F75B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演出基础表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667512" y="1600200"/>
            <a:ext cx="5157216" cy="13898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020" dirty="0">
                <a:solidFill>
                  <a:srgbClr val="1932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VENUE.city_id → CITY.city_id</a:t>
            </a:r>
            <a:endParaRPr lang="en-US" sz="1020" dirty="0"/>
          </a:p>
          <a:p>
            <a:pPr indent="0" marL="0">
              <a:buNone/>
            </a:pPr>
            <a:r>
              <a:rPr lang="en-US" sz="1020" dirty="0">
                <a:solidFill>
                  <a:srgbClr val="1932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SHOW.category_id → CATEGORY.category_id</a:t>
            </a:r>
            <a:endParaRPr lang="en-US" sz="1020" dirty="0"/>
          </a:p>
          <a:p>
            <a:pPr indent="0" marL="0">
              <a:buNone/>
            </a:pPr>
            <a:r>
              <a:rPr lang="en-US" sz="1020" dirty="0">
                <a:solidFill>
                  <a:srgbClr val="1932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SHOW.city_id → CITY.city_id</a:t>
            </a:r>
            <a:endParaRPr lang="en-US" sz="1020" dirty="0"/>
          </a:p>
          <a:p>
            <a:pPr indent="0" marL="0">
              <a:buNone/>
            </a:pPr>
            <a:r>
              <a:rPr lang="en-US" sz="1020" dirty="0">
                <a:solidFill>
                  <a:srgbClr val="1932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SHOW.admin_id → ADMIN.admin_id</a:t>
            </a:r>
            <a:endParaRPr lang="en-US" sz="1020" dirty="0"/>
          </a:p>
          <a:p>
            <a:pPr indent="0" marL="0">
              <a:buNone/>
            </a:pPr>
            <a:r>
              <a:rPr lang="en-US" sz="1020" dirty="0">
                <a:solidFill>
                  <a:srgbClr val="1932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SHOW_SESSION.show_id → SHOW.show_id</a:t>
            </a:r>
            <a:endParaRPr lang="en-US" sz="1020" dirty="0"/>
          </a:p>
          <a:p>
            <a:pPr indent="0" marL="0">
              <a:buNone/>
            </a:pPr>
            <a:r>
              <a:rPr lang="en-US" sz="1020" dirty="0">
                <a:solidFill>
                  <a:srgbClr val="1932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SHOW_SESSION.venue_id → VENUE.venue_id</a:t>
            </a:r>
            <a:endParaRPr lang="en-US" sz="1020" dirty="0"/>
          </a:p>
          <a:p>
            <a:pPr indent="0" marL="0">
              <a:buNone/>
            </a:pPr>
            <a:r>
              <a:rPr lang="en-US" sz="1020" dirty="0">
                <a:solidFill>
                  <a:srgbClr val="1932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TICKET_TIER.session_id → SHOW_SESSION.session_id</a:t>
            </a:r>
            <a:endParaRPr lang="en-US" sz="1020" dirty="0"/>
          </a:p>
        </p:txBody>
      </p:sp>
      <p:sp>
        <p:nvSpPr>
          <p:cNvPr id="8" name="Shape 6"/>
          <p:cNvSpPr/>
          <p:nvPr/>
        </p:nvSpPr>
        <p:spPr>
          <a:xfrm>
            <a:off x="6199632" y="1097280"/>
            <a:ext cx="5486400" cy="201168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12700">
            <a:solidFill>
              <a:srgbClr val="D7E3ED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364224" y="1243584"/>
            <a:ext cx="515721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2F75B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用户资料表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6364224" y="1600200"/>
            <a:ext cx="5157216" cy="13898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020" dirty="0">
                <a:solidFill>
                  <a:srgbClr val="1932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SHIPPING_ADDRESS.user_id → APP_USER.user_id</a:t>
            </a:r>
            <a:endParaRPr lang="en-US" sz="1020" dirty="0"/>
          </a:p>
          <a:p>
            <a:pPr indent="0" marL="0">
              <a:buNone/>
            </a:pPr>
            <a:r>
              <a:rPr lang="en-US" sz="1020" dirty="0">
                <a:solidFill>
                  <a:srgbClr val="1932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ATTENDEE.user_id → APP_USER.user_id</a:t>
            </a:r>
            <a:endParaRPr lang="en-US" sz="1020" dirty="0"/>
          </a:p>
        </p:txBody>
      </p:sp>
      <p:sp>
        <p:nvSpPr>
          <p:cNvPr id="11" name="Shape 9"/>
          <p:cNvSpPr/>
          <p:nvPr/>
        </p:nvSpPr>
        <p:spPr>
          <a:xfrm>
            <a:off x="502920" y="3429000"/>
            <a:ext cx="5486400" cy="2148840"/>
          </a:xfrm>
          <a:prstGeom prst="roundRect">
            <a:avLst>
              <a:gd name="adj" fmla="val 3404"/>
            </a:avLst>
          </a:prstGeom>
          <a:solidFill>
            <a:srgbClr val="FFFFFF"/>
          </a:solidFill>
          <a:ln w="12700">
            <a:solidFill>
              <a:srgbClr val="D7E3ED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67512" y="3575304"/>
            <a:ext cx="515721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2F75B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订单交易表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667512" y="3931920"/>
            <a:ext cx="5157216" cy="15270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020" dirty="0">
                <a:solidFill>
                  <a:srgbClr val="1932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TICKET_ORDER.user_id → APP_USER.user_id</a:t>
            </a:r>
            <a:endParaRPr lang="en-US" sz="1020" dirty="0"/>
          </a:p>
          <a:p>
            <a:pPr indent="0" marL="0">
              <a:buNone/>
            </a:pPr>
            <a:r>
              <a:rPr lang="en-US" sz="1020" dirty="0">
                <a:solidFill>
                  <a:srgbClr val="1932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TICKET_ORDER.session_id → SHOW_SESSION.session_id</a:t>
            </a:r>
            <a:endParaRPr lang="en-US" sz="1020" dirty="0"/>
          </a:p>
          <a:p>
            <a:pPr indent="0" marL="0">
              <a:buNone/>
            </a:pPr>
            <a:r>
              <a:rPr lang="en-US" sz="1020" dirty="0">
                <a:solidFill>
                  <a:srgbClr val="1932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TICKET_ORDER.tier_id → TICKET_TIER.tier_id</a:t>
            </a:r>
            <a:endParaRPr lang="en-US" sz="1020" dirty="0"/>
          </a:p>
          <a:p>
            <a:pPr indent="0" marL="0">
              <a:buNone/>
            </a:pPr>
            <a:r>
              <a:rPr lang="en-US" sz="1020" dirty="0">
                <a:solidFill>
                  <a:srgbClr val="1932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TICKET_ORDER.address_id → SHIPPING_ADDRESS.address_id</a:t>
            </a:r>
            <a:endParaRPr lang="en-US" sz="1020" dirty="0"/>
          </a:p>
          <a:p>
            <a:pPr indent="0" marL="0">
              <a:buNone/>
            </a:pPr>
            <a:r>
              <a:rPr lang="en-US" sz="1020" dirty="0">
                <a:solidFill>
                  <a:srgbClr val="1932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ORDER_ITEM.order_id → TICKET_ORDER.order_id</a:t>
            </a:r>
            <a:endParaRPr lang="en-US" sz="1020" dirty="0"/>
          </a:p>
          <a:p>
            <a:pPr indent="0" marL="0">
              <a:buNone/>
            </a:pPr>
            <a:r>
              <a:rPr lang="en-US" sz="1020" dirty="0">
                <a:solidFill>
                  <a:srgbClr val="1932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ORDER_ITEM.attendee_id → ATTENDEE.attendee_id</a:t>
            </a:r>
            <a:endParaRPr lang="en-US" sz="1020" dirty="0"/>
          </a:p>
        </p:txBody>
      </p:sp>
      <p:sp>
        <p:nvSpPr>
          <p:cNvPr id="14" name="Shape 12"/>
          <p:cNvSpPr/>
          <p:nvPr/>
        </p:nvSpPr>
        <p:spPr>
          <a:xfrm>
            <a:off x="6199632" y="3429000"/>
            <a:ext cx="5486400" cy="2148840"/>
          </a:xfrm>
          <a:prstGeom prst="roundRect">
            <a:avLst>
              <a:gd name="adj" fmla="val 3404"/>
            </a:avLst>
          </a:prstGeom>
          <a:solidFill>
            <a:srgbClr val="FFFFFF"/>
          </a:solidFill>
          <a:ln w="12700">
            <a:solidFill>
              <a:srgbClr val="D7E3ED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364224" y="3575304"/>
            <a:ext cx="515721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2F75B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请求与统计表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6364224" y="3931920"/>
            <a:ext cx="5157216" cy="15270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020" dirty="0">
                <a:solidFill>
                  <a:srgbClr val="1932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PURCHASE_REQUEST 的 user_id、session_id、tier_id 为上下文字段，当前基础 DDL 未声明为外键。</a:t>
            </a:r>
            <a:endParaRPr lang="en-US" sz="1020" dirty="0"/>
          </a:p>
          <a:p>
            <a:pPr indent="0" marL="0">
              <a:buNone/>
            </a:pPr>
            <a:r>
              <a:rPr lang="en-US" sz="1020" dirty="0">
                <a:solidFill>
                  <a:srgbClr val="1932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SALES_DAILY 为订单汇总得到的派生表。</a:t>
            </a:r>
            <a:endParaRPr lang="en-US" sz="102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演出门票销售系统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演出门票销售系统数据库模型</dc:title>
  <dc:subject>演出门票销售系统数据库概念模型与逻辑模型</dc:subject>
  <dc:creator>Codex</dc:creator>
  <cp:lastModifiedBy>Codex</cp:lastModifiedBy>
  <cp:revision>1</cp:revision>
  <dcterms:created xsi:type="dcterms:W3CDTF">2026-10-05T15:06:02Z</dcterms:created>
  <dcterms:modified xsi:type="dcterms:W3CDTF">2026-10-05T15:06:02Z</dcterms:modified>
</cp:coreProperties>
</file>